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7" r:id="rId3"/>
    <p:sldId id="317" r:id="rId4"/>
    <p:sldId id="336" r:id="rId5"/>
    <p:sldId id="340" r:id="rId6"/>
    <p:sldId id="347" r:id="rId7"/>
    <p:sldId id="352" r:id="rId8"/>
    <p:sldId id="349" r:id="rId9"/>
    <p:sldId id="354" r:id="rId10"/>
    <p:sldId id="355" r:id="rId11"/>
  </p:sldIdLst>
  <p:sldSz cx="9144000" cy="5143500" type="screen16x9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Oswald" panose="00000500000000000000" pitchFamily="2" charset="0"/>
      <p:regular r:id="rId17"/>
      <p:bold r:id="rId18"/>
    </p:embeddedFont>
    <p:embeddedFont>
      <p:font typeface="Roboto Condensed Light" panose="02000000000000000000" pitchFamily="2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4D5C0F-1A84-42F2-801B-3AE2B2B06C94}">
  <a:tblStyle styleId="{754D5C0F-1A84-42F2-801B-3AE2B2B06C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44" y="96"/>
      </p:cViewPr>
      <p:guideLst>
        <p:guide orient="horz" pos="601"/>
        <p:guide orient="horz" pos="7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EC15481-3480-DB05-5925-5336A61C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15A8F4A3-DB04-6E4E-C76E-B6D2B375C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EC617EF3-1555-072E-FC59-1A34F7D74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6074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5FB39C4-3CF2-1E98-E09A-01E5347A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269ED790-F082-CDEE-3230-24F2F1F0A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6AFCF3C3-93D3-E9F1-F1E4-0BB9CF3FF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358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509E99A-4626-3797-3FCE-BF50E6A2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DAC2F8CC-EDE6-B69F-47DC-4ADA04A7AB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19BEE8E0-1C59-0410-0BC4-8F2C5B5B1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6454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CB1E8FC-F0E9-1504-75C5-64F79A02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C5BEDDCB-F9B6-C778-2389-CF2175E8F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ECB88159-DA1F-114F-D2CC-599EB1403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102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F874CAD-1E9E-8D4E-6467-85E37F3F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C8F8EE33-8EDE-5DCF-8366-6E0CAC593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0CDD3592-EE7B-B65E-32EB-AC15F2BD1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4230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C14AABF-99D4-C1E0-2AA7-1C3B11B1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54B0D1CC-9459-E799-94C9-0E2490395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CCA5637F-127E-827A-7C7E-53C8C0FD3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2935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A880B16-A702-4B08-BF8D-61B9F031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F9CF71B3-B987-F19B-5123-5AB8BB7BC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BB4A81D1-4623-BF6C-7109-E2048E7C4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7207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1310E37-9E6C-D130-79ED-39621D2D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9C04F437-780C-E27C-2401-4D13F9F4A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3CFB17A5-6367-7021-574C-B63A37584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915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cardsim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licel/jcardsim" TargetMode="External"/><Relationship Id="rId4" Type="http://schemas.openxmlformats.org/officeDocument/2006/relationships/hyperlink" Target="https://www.oracle.com/java/java-car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accent1"/>
                </a:solidFill>
              </a:rPr>
              <a:t>IoT SAFE Simulator</a:t>
            </a:r>
            <a:endParaRPr sz="4400" dirty="0"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Researcher:  Mohammad Hossein Shafiee</a:t>
            </a:r>
            <a:br>
              <a:rPr lang="en-US" sz="1400" dirty="0"/>
            </a:br>
            <a:endParaRPr dirty="0"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625" y="0"/>
            <a:ext cx="43923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918120" y="66904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/>
          <p:cNvSpPr txBox="1">
            <a:spLocks noGrp="1"/>
          </p:cNvSpPr>
          <p:nvPr>
            <p:ph type="body" idx="1"/>
          </p:nvPr>
        </p:nvSpPr>
        <p:spPr>
          <a:xfrm>
            <a:off x="918120" y="15694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600" dirty="0"/>
              <a:t>The goal of this project was to develop a simulator for IoT SAFE, a security framework designed to enhance the security of IoT devices through SIM card authentication and cryptographic operations. Given the growing need for secure IoT communications, having a reliable simulator for testing and development is essential. Initially, I searched for an existing IoT SAFE simulator but found no viable options. This led me to the decision to develop my own simulator to fulfill this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542F4B9-F781-B727-B465-A0048C1E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2A6C678A-A1F8-38A1-DA85-4D8284E384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Initial Research</a:t>
            </a: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C7EE62A3-351E-C6AF-8D2E-1F7AE0302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57406"/>
            <a:ext cx="7704000" cy="360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Conducted extensive research to determine if a suitable IoT SAFE simulator already existed.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Found no open-source or commercial simulators that met the requirements for IoT SAFE development.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Decided to create a custom simulator from scratch to support testing and development of IoT SAFE applications.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Identified key functionalities needed for an IoT SAFE simulator, including secure key storage, cryptographic operations, and support for secure messaging.</a:t>
            </a: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46E54906-2B58-9B2C-EBFB-B57ED96F0340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FC5173A9-1F29-9448-C24C-8D8A09B9E089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C718FA00-8E04-E085-3471-88BDE526BA27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0F9A90AC-944A-FCF0-67D2-E776C637E598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9CAD0407-9724-BF9D-371F-04915AEDC704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434A74EA-7BAC-4E17-0BBD-75F959E30791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8743377E-A45E-806D-668A-7DC76BFAD7DB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FC349479-5664-7588-74C8-B6443735E5CE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63BC54BE-0C35-FA87-2B23-29036326CAD6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228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39B6834-8BF1-DD66-EFED-72E4DF17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31245891-7A83-1631-E821-20F528494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Choosing a Development Platform</a:t>
            </a: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2471BB27-17D7-D6AC-4F6D-CFC394411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97339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Evaluated various Java Card simulation platforms to find the best fit.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Discovered </a:t>
            </a:r>
            <a:r>
              <a:rPr lang="en-US" sz="1400" dirty="0" err="1"/>
              <a:t>jcardsim</a:t>
            </a:r>
            <a:r>
              <a:rPr lang="en-US" sz="1400" dirty="0"/>
              <a:t> on GitHub, an open-source Java Card simulator that allows running Java Card applets in a simulated environment.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Selected </a:t>
            </a:r>
            <a:r>
              <a:rPr lang="en-US" sz="1400" dirty="0" err="1"/>
              <a:t>jcardsim</a:t>
            </a:r>
            <a:r>
              <a:rPr lang="en-US" sz="1400" dirty="0"/>
              <a:t> due to its: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Open-source nature, allowing customization and extension.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Strong support for Java Card technology.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Active community and existing documentation.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Compatibility with Java-based security applications.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Determined that </a:t>
            </a:r>
            <a:r>
              <a:rPr lang="en-US" sz="1400" dirty="0" err="1"/>
              <a:t>jcardsim</a:t>
            </a:r>
            <a:r>
              <a:rPr lang="en-US" sz="1400" dirty="0"/>
              <a:t> would provide a suitable foundation for building an IoT SAFE simulator.</a:t>
            </a:r>
          </a:p>
          <a:p>
            <a:pPr marL="139700" indent="0">
              <a:lnSpc>
                <a:spcPct val="150000"/>
              </a:lnSpc>
              <a:buSzPts val="1400"/>
              <a:buNone/>
            </a:pP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778D7A43-A053-08AE-741B-A3E148779E8A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7DFB2801-F1D5-B64E-9E83-0F16E6809F6A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C56C0D41-93D6-D1ED-7211-C1278FF90CB3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6E04950B-5D4F-3D88-4658-0F0966B2E4AA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DB420A6E-454D-1385-6F06-2EE50A384D1B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CD0262F5-B3FF-5CA3-5132-0D44130A7E47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1ACDA128-EBC7-57CC-C4F0-CFDF4B312239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F9CD5782-CBE8-9D2F-0E76-A11040ACBC20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20B01376-10E3-79FE-5673-17666FE1A698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849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8841684-46BC-2055-E0E3-9CD6BFB1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49233899-4BF7-AA11-0C90-C25E2531D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Understanding </a:t>
            </a:r>
            <a:r>
              <a:rPr lang="en-US" dirty="0" err="1"/>
              <a:t>jcardsim</a:t>
            </a:r>
            <a:endParaRPr lang="en-US" dirty="0"/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B7E846A8-1D62-01D9-4EEC-106C33AED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Carefully studied the </a:t>
            </a:r>
            <a:r>
              <a:rPr lang="en-US" sz="1400" dirty="0" err="1"/>
              <a:t>jcardsim</a:t>
            </a:r>
            <a:r>
              <a:rPr lang="en-US" sz="1400" dirty="0"/>
              <a:t> source code to understand its architecture and core functionalities.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Explored how </a:t>
            </a:r>
            <a:r>
              <a:rPr lang="en-US" sz="1400" dirty="0" err="1"/>
              <a:t>jcardsim</a:t>
            </a:r>
            <a:r>
              <a:rPr lang="en-US" sz="1400" dirty="0"/>
              <a:t> simulates Java Card environments, including APDU command handling and secure key storage.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Reviewed relevant Java Card specifications and API documentation to gain a deeper understanding of applet development.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Experimented with running and modifying existing applets in </a:t>
            </a:r>
            <a:r>
              <a:rPr lang="en-US" sz="1400" dirty="0" err="1"/>
              <a:t>jcardsim</a:t>
            </a:r>
            <a:r>
              <a:rPr lang="en-US" sz="1400" dirty="0"/>
              <a:t> to gain hands-on experience.</a:t>
            </a:r>
          </a:p>
          <a:p>
            <a:pPr marL="139700" indent="0">
              <a:lnSpc>
                <a:spcPct val="150000"/>
              </a:lnSpc>
              <a:buSzPts val="1400"/>
              <a:buNone/>
            </a:pP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7116402F-87FA-1F6B-DC53-62A77FD5AA24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5161D2CB-7910-6413-60E9-4236FF8D32C0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771B50A3-670D-AE31-6D4A-382B715EE1AA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175EE7D3-7F24-A199-BC86-DA4A2911527F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31D4E5E4-6E71-E9CB-BBCB-D3D4A10F5B1A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D78BF78A-A81C-12A5-CD6E-FABEEC126DD0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AEB9541B-DFE5-7B54-F19F-97FD0B2F2A6B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8E142A33-65EE-22FF-F64C-D8C9A4D0C96D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53258E77-DC20-5589-1BCB-A47494E347FC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8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55EDF96-CE32-6BF8-54A2-33D77965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11C6ACA4-16EB-4704-F663-4F211EF06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Implementing New Applets</a:t>
            </a: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CA35AC72-3939-AB08-035E-561C03051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709853"/>
            <a:ext cx="7704000" cy="2006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 err="1"/>
              <a:t>HKDFManagerApplet</a:t>
            </a:r>
            <a:r>
              <a:rPr lang="en-US" sz="14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Implements HMAC-based Key Derivation Function (HKDF), a crucial cryptographic operation for secure key management in IoT SAFE.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secure derivation of cryptographic keys from a master key.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Ensures strong security by following established cryptographic standards.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 err="1"/>
              <a:t>KeyManagerApplet</a:t>
            </a:r>
            <a:r>
              <a:rPr lang="en-US" sz="14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secure storage and management of cryptographic keys.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key generation, import, and export functionalities.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cryptographic operations required by IoT SAFE applications.</a:t>
            </a:r>
          </a:p>
          <a:p>
            <a:pPr marL="139700" indent="0">
              <a:lnSpc>
                <a:spcPct val="150000"/>
              </a:lnSpc>
              <a:buSzPts val="1400"/>
              <a:buNone/>
            </a:pPr>
            <a:br>
              <a:rPr lang="en-US" sz="1400" dirty="0">
                <a:latin typeface="DM Sans" pitchFamily="2" charset="0"/>
              </a:rPr>
            </a:br>
            <a:endParaRPr lang="en-US" sz="14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E4228C4C-3F2B-933C-B0A8-64FC45E550AB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41041608-37BE-5E12-7F6A-30EFA032E58A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F3694DAD-A042-AB41-9EFC-3045FDA1D0FE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B3E16663-2ACD-CD9F-8362-49BBD034174B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F1F0B47C-2453-3888-A9CD-DF4DA8070721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E0036AB2-8BC8-638B-50B4-4D223E0676E2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0E2E43CF-212D-BD30-A2D0-09B58BE7A6BA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2AB83DA2-604C-E3BC-9EA6-4F21C92E7BF5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B8F6A837-B0BE-8A69-1250-97F28B550841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561A62-F1D5-0A8C-D36B-A892153FB381}"/>
              </a:ext>
            </a:extLst>
          </p:cNvPr>
          <p:cNvSpPr txBox="1"/>
          <p:nvPr/>
        </p:nvSpPr>
        <p:spPr>
          <a:xfrm>
            <a:off x="792651" y="1260122"/>
            <a:ext cx="70178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To extend the functionality of </a:t>
            </a:r>
            <a:r>
              <a:rPr lang="en-US" dirty="0" err="1">
                <a:solidFill>
                  <a:schemeClr val="tx1"/>
                </a:solidFill>
                <a:latin typeface="DM Sans" pitchFamily="2" charset="0"/>
              </a:rPr>
              <a:t>jcardsim</a:t>
            </a:r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 and support IoT SAFE operations, I developed and integrated two key applets:</a:t>
            </a:r>
          </a:p>
          <a:p>
            <a:endParaRPr lang="en-US" dirty="0">
              <a:solidFill>
                <a:schemeClr val="tx1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30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F844501-7FEF-A6FB-9D01-776E559A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0148816A-647B-76FB-6F2B-B657023F3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Testing Applets</a:t>
            </a: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CBD5DC4C-62AE-A8EA-A2F4-12725D426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2650" y="1709853"/>
            <a:ext cx="7631349" cy="2006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 err="1"/>
              <a:t>HKDFManagerApplet</a:t>
            </a:r>
            <a:r>
              <a:rPr lang="en-US" sz="1400" b="1" dirty="0"/>
              <a:t> Testing: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Implemented tests to validate the correctness of the HKDF algorithm.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Compared derived keys against standard test vectors (RFC 5869).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Ensured correct handling of various input lengths and edge cases.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 err="1"/>
              <a:t>KeyManagerApplet</a:t>
            </a:r>
            <a:r>
              <a:rPr lang="en-US" sz="1400" b="1" dirty="0"/>
              <a:t> Testing: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Verified full CRUD operations on cryptographic keys (Create, Read, Update, Delete).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Ensured secure key storage, proper access control, and consistent behavior across operations.</a:t>
            </a:r>
            <a:endParaRPr lang="en-US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99841C5C-876C-6ED8-B1F9-135F9A13ADAE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69A09BB0-55DA-C88E-4F59-B1ACA62ECEC2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FB3B8B37-A675-9E50-BF77-14AE1C03F48F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55B4245D-5543-6451-9E0D-D051262EEFD3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CD075B69-6228-C939-86DE-6B4C50CCB44B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325FF38B-6393-2FBC-B0BD-C3D92D41B495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50646A2D-DAA1-AE50-3803-AF48470B54D5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2B4483D4-F9BC-3345-2FE9-F20DCDF84C78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CBCFF4EB-9771-257A-9C0C-4D1DB27C67B9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48CCC4F-6F17-AD3F-7830-F2B1DE8677E5}"/>
              </a:ext>
            </a:extLst>
          </p:cNvPr>
          <p:cNvSpPr txBox="1"/>
          <p:nvPr/>
        </p:nvSpPr>
        <p:spPr>
          <a:xfrm>
            <a:off x="792651" y="1260122"/>
            <a:ext cx="7017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itchFamily="2" charset="0"/>
              </a:rPr>
              <a:t>To ensure functionality and correctness, I developed dedicated test cases for both applets:</a:t>
            </a:r>
          </a:p>
        </p:txBody>
      </p:sp>
    </p:spTree>
    <p:extLst>
      <p:ext uri="{BB962C8B-B14F-4D97-AF65-F5344CB8AC3E}">
        <p14:creationId xmlns:p14="http://schemas.microsoft.com/office/powerpoint/2010/main" val="268319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7A6CCCA-C92B-0204-D653-93559F528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552D77C1-835F-2D42-9364-96AA842C0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Achievements</a:t>
            </a: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D5D0FAD3-F8B0-DECD-4D97-A06E2CF74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DM Sans" pitchFamily="2" charset="0"/>
            </a:endParaRP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Successfully extended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jcardsim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to support IoT SAFE operations</a:t>
            </a:r>
            <a:endParaRPr lang="en-US" sz="1400" dirty="0"/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Implemented and tested HKDF based on standard test vectors (RFC 5869)</a:t>
            </a:r>
            <a:endParaRPr lang="en-US" sz="1400" dirty="0"/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Developed a secure Key Manager applet with full CRUD functionality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Built a simulated environment to test IoT SAFE scenarios end-to-end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Ensured compatibility with IoT SAFE specifications and APDU workflows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58957F90-E4AA-CB24-A3E6-4552BF7716B1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AAF39B5D-4AA7-8A3A-1CDB-0FFF626BF71B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888DBE7C-951A-6D92-9653-10EAA152585A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E7F62A00-8E19-4E89-5EA7-B040EA134CE6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478600E9-0534-6F2E-25B9-C44DB3BFE804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C877E266-0EC2-6ADB-A86B-B150D08CC339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EC7FE5C1-7E48-656B-3E25-6E977A3B7E21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17817C52-A2A7-C48C-CCD2-CAB1C0436B0C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218D826F-9107-5A05-2DEB-EE5A8D3CD873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904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25C1D3E-EA2A-A704-23DD-2A852D13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49FBC2F2-2082-DD74-BC55-2320462C9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Challenges</a:t>
            </a:r>
            <a:br>
              <a:rPr lang="en-US" dirty="0"/>
            </a:br>
            <a:endParaRPr lang="en-US" dirty="0"/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46D271DA-C629-45E0-0CC8-D066BC7AD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DM Sans" pitchFamily="2" charset="0"/>
            </a:endParaRP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Limited functionality and memory constraints of the Java Card platform.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Lack of native HKDF support required implementing it from scratch.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Understanding and accurately simulating IoT SAFE communication flows.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Validating applet behavior without access to a physical secure element.</a:t>
            </a: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Managing secure key operations within the limitations of </a:t>
            </a:r>
            <a:r>
              <a:rPr lang="en-US" sz="1400" dirty="0" err="1"/>
              <a:t>jcardsim</a:t>
            </a:r>
            <a:r>
              <a:rPr lang="en-US" sz="1400" dirty="0"/>
              <a:t>.</a:t>
            </a: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7025C370-9886-3081-62AF-59E2C6FEE908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13F3778E-1B81-37D7-1B30-D4A34DABF4DA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49D36DB9-C428-FC37-11FC-E64942B6A53B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69430E99-4842-400A-C3B7-F52FAF40F4D7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6BBA2B5F-0061-F802-C544-0665D70CCD64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9D73AD1B-32DF-4D48-B386-EE4481ACD52C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6AC8F66F-17D8-78CC-E5A6-5BD3D112B9F8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5308CC5A-E8F9-B239-DF82-74D800A0CD16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0C88D3CF-400D-DDF5-C5AF-001AD4A85947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681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56AB558-37C9-7CD4-5350-1579BAF0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BA1E384E-3701-99D7-4E09-1FE6BFD22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F5CF1787-BAD9-2059-4C53-150759CDF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987976"/>
            <a:ext cx="7704000" cy="33828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DM Sans" pitchFamily="2" charset="0"/>
            </a:endParaRPr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3"/>
              </a:rPr>
              <a:t>https://jcardsim.org/</a:t>
            </a:r>
            <a:endParaRPr lang="en-US" sz="1400" dirty="0"/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4"/>
              </a:rPr>
              <a:t>https://www.oracle.com/java/java-card/</a:t>
            </a:r>
            <a:endParaRPr lang="en-US" sz="1400" dirty="0"/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5"/>
              </a:rPr>
              <a:t>https://github.com/licel/jcardsim</a:t>
            </a:r>
            <a:endParaRPr lang="en-US" sz="1400" dirty="0"/>
          </a:p>
          <a:p>
            <a:pPr marL="4953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Here is my repository for this </a:t>
            </a:r>
            <a:r>
              <a:rPr lang="en-US" sz="1400"/>
              <a:t>project.</a:t>
            </a:r>
            <a:endParaRPr lang="en-US" sz="1400" dirty="0"/>
          </a:p>
          <a:p>
            <a:pPr marL="9525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https://github.com/MHMDHSiN83/JCardSim</a:t>
            </a: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070E1248-8D39-E052-36AE-E29537D5BC14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079B1294-B595-4B9B-3050-4396F1DC4E98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9705381F-4BCC-15BF-89EE-DECD0A9E0D5B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09D7C8DC-A3C4-F03E-A9FF-2CD0042F4291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96FDC57C-FE73-D816-2006-716F6BB568D6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0DA4664F-41A4-ED2E-1AD9-7347DAF1E64D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51698CF6-A830-821A-7149-09B1DFD164C1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0ADE253F-69E7-370F-49E7-8AB013EEC287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81CE98AE-048C-0042-893A-A279E6B413A8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87557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4075</TotalTime>
  <Words>652</Words>
  <Application>Microsoft Office PowerPoint</Application>
  <PresentationFormat>On-screen Show (16:9)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DM Sans</vt:lpstr>
      <vt:lpstr>Wingdings</vt:lpstr>
      <vt:lpstr>Oswald</vt:lpstr>
      <vt:lpstr>Calibri</vt:lpstr>
      <vt:lpstr>Arial</vt:lpstr>
      <vt:lpstr>Roboto Condensed Light</vt:lpstr>
      <vt:lpstr>Technology Project Proposal Minitheme by Slidesgo</vt:lpstr>
      <vt:lpstr>IoT SAFE Simulator</vt:lpstr>
      <vt:lpstr>Introduction</vt:lpstr>
      <vt:lpstr>Initial Research</vt:lpstr>
      <vt:lpstr>Choosing a Development Platform</vt:lpstr>
      <vt:lpstr>Understanding jcardsim</vt:lpstr>
      <vt:lpstr>Implementing New Applets</vt:lpstr>
      <vt:lpstr>Testing Applets</vt:lpstr>
      <vt:lpstr>Achievements</vt:lpstr>
      <vt:lpstr>Challenges 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MohammadHosein Shafiee</cp:lastModifiedBy>
  <cp:revision>193</cp:revision>
  <dcterms:modified xsi:type="dcterms:W3CDTF">2025-11-30T12:11:10Z</dcterms:modified>
</cp:coreProperties>
</file>