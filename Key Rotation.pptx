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5"/>
  </p:notesMasterIdLst>
  <p:sldIdLst>
    <p:sldId id="256" r:id="rId2"/>
    <p:sldId id="257" r:id="rId3"/>
    <p:sldId id="317" r:id="rId4"/>
    <p:sldId id="336" r:id="rId5"/>
    <p:sldId id="340" r:id="rId6"/>
    <p:sldId id="342" r:id="rId7"/>
    <p:sldId id="320" r:id="rId8"/>
    <p:sldId id="343" r:id="rId9"/>
    <p:sldId id="337" r:id="rId10"/>
    <p:sldId id="339" r:id="rId11"/>
    <p:sldId id="344" r:id="rId12"/>
    <p:sldId id="345" r:id="rId13"/>
    <p:sldId id="346" r:id="rId14"/>
  </p:sldIdLst>
  <p:sldSz cx="9144000" cy="5143500" type="screen16x9"/>
  <p:notesSz cx="6858000" cy="9144000"/>
  <p:embeddedFontLst>
    <p:embeddedFont>
      <p:font typeface="DM Sans" pitchFamily="2" charset="0"/>
      <p:regular r:id="rId16"/>
      <p:bold r:id="rId17"/>
      <p:italic r:id="rId18"/>
      <p:boldItalic r:id="rId19"/>
    </p:embeddedFont>
    <p:embeddedFont>
      <p:font typeface="Oswald" panose="00000500000000000000" pitchFamily="2" charset="0"/>
      <p:regular r:id="rId20"/>
      <p:bold r:id="rId21"/>
    </p:embeddedFont>
    <p:embeddedFont>
      <p:font typeface="Roboto Condensed Light" panose="02000000000000000000" pitchFamily="2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01">
          <p15:clr>
            <a:srgbClr val="9AA0A6"/>
          </p15:clr>
        </p15:guide>
        <p15:guide id="2" orient="horz" pos="733">
          <p15:clr>
            <a:srgbClr val="9AA0A6"/>
          </p15:clr>
        </p15:guide>
        <p15:guide id="3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54D5C0F-1A84-42F2-801B-3AE2B2B06C94}">
  <a:tblStyle styleId="{754D5C0F-1A84-42F2-801B-3AE2B2B06C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74" y="96"/>
      </p:cViewPr>
      <p:guideLst>
        <p:guide orient="horz" pos="601"/>
        <p:guide orient="horz" pos="73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2EC15481-3480-DB05-5925-5336A61C4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>
            <a:extLst>
              <a:ext uri="{FF2B5EF4-FFF2-40B4-BE49-F238E27FC236}">
                <a16:creationId xmlns:a16="http://schemas.microsoft.com/office/drawing/2014/main" id="{15A8F4A3-DB04-6E4E-C76E-B6D2B375C8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>
            <a:extLst>
              <a:ext uri="{FF2B5EF4-FFF2-40B4-BE49-F238E27FC236}">
                <a16:creationId xmlns:a16="http://schemas.microsoft.com/office/drawing/2014/main" id="{EC617EF3-1555-072E-FC59-1A34F7D744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6074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B5FB39C4-3CF2-1E98-E09A-01E5347A4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>
            <a:extLst>
              <a:ext uri="{FF2B5EF4-FFF2-40B4-BE49-F238E27FC236}">
                <a16:creationId xmlns:a16="http://schemas.microsoft.com/office/drawing/2014/main" id="{269ED790-F082-CDEE-3230-24F2F1F0A6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>
            <a:extLst>
              <a:ext uri="{FF2B5EF4-FFF2-40B4-BE49-F238E27FC236}">
                <a16:creationId xmlns:a16="http://schemas.microsoft.com/office/drawing/2014/main" id="{6AFCF3C3-93D3-E9F1-F1E4-0BB9CF3FF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3584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0509E99A-4626-3797-3FCE-BF50E6A20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>
            <a:extLst>
              <a:ext uri="{FF2B5EF4-FFF2-40B4-BE49-F238E27FC236}">
                <a16:creationId xmlns:a16="http://schemas.microsoft.com/office/drawing/2014/main" id="{DAC2F8CC-EDE6-B69F-47DC-4ADA04A7AB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>
            <a:extLst>
              <a:ext uri="{FF2B5EF4-FFF2-40B4-BE49-F238E27FC236}">
                <a16:creationId xmlns:a16="http://schemas.microsoft.com/office/drawing/2014/main" id="{19BEE8E0-1C59-0410-0BC4-8F2C5B5B1A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6454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ED937E22-2805-0CE8-587D-E452DA33C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>
            <a:extLst>
              <a:ext uri="{FF2B5EF4-FFF2-40B4-BE49-F238E27FC236}">
                <a16:creationId xmlns:a16="http://schemas.microsoft.com/office/drawing/2014/main" id="{3BD66B36-73D4-40F1-56C5-A4398B622E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>
            <a:extLst>
              <a:ext uri="{FF2B5EF4-FFF2-40B4-BE49-F238E27FC236}">
                <a16:creationId xmlns:a16="http://schemas.microsoft.com/office/drawing/2014/main" id="{FB1A4ED4-A70C-8F70-5224-CD34FFF46D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505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394335AA-876F-62E5-21F2-5514A5537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>
            <a:extLst>
              <a:ext uri="{FF2B5EF4-FFF2-40B4-BE49-F238E27FC236}">
                <a16:creationId xmlns:a16="http://schemas.microsoft.com/office/drawing/2014/main" id="{C7F14AF4-AD58-12D5-8EBD-A8AB85C780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>
            <a:extLst>
              <a:ext uri="{FF2B5EF4-FFF2-40B4-BE49-F238E27FC236}">
                <a16:creationId xmlns:a16="http://schemas.microsoft.com/office/drawing/2014/main" id="{5470F474-864F-9DFF-0452-12615EE707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6410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DCA88F09-E1CF-6DAC-614B-7A08E7174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>
            <a:extLst>
              <a:ext uri="{FF2B5EF4-FFF2-40B4-BE49-F238E27FC236}">
                <a16:creationId xmlns:a16="http://schemas.microsoft.com/office/drawing/2014/main" id="{07555F21-442A-3582-2481-C882C3D2F8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>
            <a:extLst>
              <a:ext uri="{FF2B5EF4-FFF2-40B4-BE49-F238E27FC236}">
                <a16:creationId xmlns:a16="http://schemas.microsoft.com/office/drawing/2014/main" id="{E8D80015-289F-164D-00A3-FBCD3F43E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3181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0A8F7A07-AA7A-A516-4FAA-64A1C9B0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>
            <a:extLst>
              <a:ext uri="{FF2B5EF4-FFF2-40B4-BE49-F238E27FC236}">
                <a16:creationId xmlns:a16="http://schemas.microsoft.com/office/drawing/2014/main" id="{CAF304F0-3362-595F-5D7B-ABF06CEE71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>
            <a:extLst>
              <a:ext uri="{FF2B5EF4-FFF2-40B4-BE49-F238E27FC236}">
                <a16:creationId xmlns:a16="http://schemas.microsoft.com/office/drawing/2014/main" id="{AB32C080-9C62-4B77-4755-612C492B5D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4864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CDF5D505-F1E6-CC76-CD83-36F33A630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>
            <a:extLst>
              <a:ext uri="{FF2B5EF4-FFF2-40B4-BE49-F238E27FC236}">
                <a16:creationId xmlns:a16="http://schemas.microsoft.com/office/drawing/2014/main" id="{8F147FCA-1320-DAEE-12E6-C6B1941EE4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>
            <a:extLst>
              <a:ext uri="{FF2B5EF4-FFF2-40B4-BE49-F238E27FC236}">
                <a16:creationId xmlns:a16="http://schemas.microsoft.com/office/drawing/2014/main" id="{180A7E7A-1D93-CD20-4ACD-DD5E8F99DF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12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1D4D6826-5C17-B025-AD29-2BB644EF5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>
            <a:extLst>
              <a:ext uri="{FF2B5EF4-FFF2-40B4-BE49-F238E27FC236}">
                <a16:creationId xmlns:a16="http://schemas.microsoft.com/office/drawing/2014/main" id="{33CD059F-19B4-C5F0-99C0-476EAF6C82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>
            <a:extLst>
              <a:ext uri="{FF2B5EF4-FFF2-40B4-BE49-F238E27FC236}">
                <a16:creationId xmlns:a16="http://schemas.microsoft.com/office/drawing/2014/main" id="{86CBB414-2587-C89A-72E9-885B154507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7856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CBDC2C53-BACF-7CC4-A182-A1E2E07D8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>
            <a:extLst>
              <a:ext uri="{FF2B5EF4-FFF2-40B4-BE49-F238E27FC236}">
                <a16:creationId xmlns:a16="http://schemas.microsoft.com/office/drawing/2014/main" id="{35282AA8-BC48-7199-2ACC-880BA831BC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>
            <a:extLst>
              <a:ext uri="{FF2B5EF4-FFF2-40B4-BE49-F238E27FC236}">
                <a16:creationId xmlns:a16="http://schemas.microsoft.com/office/drawing/2014/main" id="{CC5C9212-2937-9457-A7FA-AAB191556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9111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accent5"/>
            </a:gs>
            <a:gs pos="48000">
              <a:schemeClr val="accent4"/>
            </a:gs>
            <a:gs pos="100000">
              <a:schemeClr val="accent2"/>
            </a:gs>
          </a:gsLst>
          <a:lin ang="2698631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967650"/>
            <a:ext cx="3972000" cy="302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5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995250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5400000">
            <a:off x="7002555" y="-662466"/>
            <a:ext cx="1673084" cy="3614193"/>
            <a:chOff x="7350442" y="2608992"/>
            <a:chExt cx="777239" cy="1673160"/>
          </a:xfrm>
        </p:grpSpPr>
        <p:sp>
          <p:nvSpPr>
            <p:cNvPr id="12" name="Google Shape;12;p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112200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_1_1_1_1">
    <p:bg>
      <p:bgPr>
        <a:gradFill>
          <a:gsLst>
            <a:gs pos="0">
              <a:schemeClr val="accent3"/>
            </a:gs>
            <a:gs pos="44000">
              <a:schemeClr val="accent4"/>
            </a:gs>
            <a:gs pos="100000">
              <a:schemeClr val="accent5"/>
            </a:gs>
          </a:gsLst>
          <a:lin ang="2698631" scaled="0"/>
        </a:gra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_1_1_2">
    <p:bg>
      <p:bgPr>
        <a:gradFill>
          <a:gsLst>
            <a:gs pos="0">
              <a:schemeClr val="accent2"/>
            </a:gs>
            <a:gs pos="36000">
              <a:schemeClr val="accent4"/>
            </a:gs>
            <a:gs pos="100000">
              <a:schemeClr val="accent4"/>
            </a:gs>
          </a:gsLst>
          <a:lin ang="2698631" scaled="0"/>
        </a:gra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5"/>
            </a:gs>
            <a:gs pos="48000">
              <a:schemeClr val="accent4"/>
            </a:gs>
            <a:gs pos="100000">
              <a:schemeClr val="accent2"/>
            </a:gs>
          </a:gsLst>
          <a:lin ang="2698631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496"/>
            <a:ext cx="77085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swald"/>
              <a:buNone/>
              <a:defRPr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1" r:id="rId4"/>
    <p:sldLayoutId id="214748367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>
            <a:spLocks noGrp="1"/>
          </p:cNvSpPr>
          <p:nvPr>
            <p:ph type="ctrTitle"/>
          </p:nvPr>
        </p:nvSpPr>
        <p:spPr>
          <a:xfrm>
            <a:off x="713225" y="967650"/>
            <a:ext cx="3972000" cy="302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IoT SAFE</a:t>
            </a:r>
            <a:endParaRPr dirty="0"/>
          </a:p>
        </p:txBody>
      </p:sp>
      <p:sp>
        <p:nvSpPr>
          <p:cNvPr id="230" name="Google Shape;230;p30"/>
          <p:cNvSpPr txBox="1">
            <a:spLocks noGrp="1"/>
          </p:cNvSpPr>
          <p:nvPr>
            <p:ph type="subTitle" idx="1"/>
          </p:nvPr>
        </p:nvSpPr>
        <p:spPr>
          <a:xfrm>
            <a:off x="713225" y="3995250"/>
            <a:ext cx="4359000" cy="4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Researcher:  Mohammad Hossein Shafiee</a:t>
            </a:r>
            <a:br>
              <a:rPr lang="en-US" sz="1400" dirty="0"/>
            </a:br>
            <a:endParaRPr dirty="0"/>
          </a:p>
        </p:txBody>
      </p:sp>
      <p:pic>
        <p:nvPicPr>
          <p:cNvPr id="231" name="Google Shape;23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3625" y="0"/>
            <a:ext cx="439239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>
            <a:spLocks noGrp="1"/>
          </p:cNvSpPr>
          <p:nvPr>
            <p:ph type="title"/>
          </p:nvPr>
        </p:nvSpPr>
        <p:spPr>
          <a:xfrm>
            <a:off x="918120" y="66904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37" name="Google Shape;237;p31"/>
          <p:cNvSpPr txBox="1">
            <a:spLocks noGrp="1"/>
          </p:cNvSpPr>
          <p:nvPr>
            <p:ph type="body" idx="1"/>
          </p:nvPr>
        </p:nvSpPr>
        <p:spPr>
          <a:xfrm>
            <a:off x="918120" y="1569400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sz="1400" dirty="0"/>
              <a:t>Key rotation is a vital process in ensuring the security of IoT devices and communications. In IoT SAFE, it plays a crucial role in protecting data by regularly updating cryptographic keys. This presentation covers how </a:t>
            </a:r>
            <a:r>
              <a:rPr lang="en-US" sz="1400" b="1" dirty="0"/>
              <a:t>HKDF</a:t>
            </a:r>
            <a:r>
              <a:rPr lang="en-US" sz="1400" dirty="0"/>
              <a:t> (HMAC-based Key Derivation Function) and </a:t>
            </a:r>
            <a:r>
              <a:rPr lang="en-US" sz="1400" b="1" dirty="0"/>
              <a:t>AES</a:t>
            </a:r>
            <a:r>
              <a:rPr lang="en-US" sz="1400" dirty="0"/>
              <a:t> (Advanced Encryption Standard) are used for secure key management. HKDF helps derive new keys from a master key, ensuring continued security, while AES is used for encrypting sensitive data. Together, these methods enhance the overall security and scalability of IoT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6542F4B9-F781-B727-B465-A0048C1EB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>
            <a:extLst>
              <a:ext uri="{FF2B5EF4-FFF2-40B4-BE49-F238E27FC236}">
                <a16:creationId xmlns:a16="http://schemas.microsoft.com/office/drawing/2014/main" id="{2A6C678A-A1F8-38A1-DA85-4D8284E384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Rotation</a:t>
            </a:r>
            <a:endParaRPr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237" name="Google Shape;237;p31">
            <a:extLst>
              <a:ext uri="{FF2B5EF4-FFF2-40B4-BE49-F238E27FC236}">
                <a16:creationId xmlns:a16="http://schemas.microsoft.com/office/drawing/2014/main" id="{C7EE62A3-351E-C6AF-8D2E-1F7AE03028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874324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600" dirty="0">
              <a:latin typeface="DM Sans" pitchFamily="2" charset="0"/>
            </a:endParaRPr>
          </a:p>
          <a:p>
            <a:pPr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400" dirty="0"/>
              <a:t>Over-the-Air (OTA) Updates</a:t>
            </a:r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200" dirty="0"/>
              <a:t>GSMA specifications ensure secure channels (e.g., HTTPS or dedicated SIM OTA protocols like SCP80) for sending key updates.</a:t>
            </a:r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200" dirty="0"/>
              <a:t>Keys stored in the SIM are updated via secure OTA mechanisms.</a:t>
            </a:r>
            <a:endParaRPr lang="fa-IR" sz="1200" dirty="0"/>
          </a:p>
          <a:p>
            <a:pPr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400" dirty="0"/>
              <a:t>Key Derivation Mechanism</a:t>
            </a:r>
            <a:endParaRPr lang="fa-IR" sz="1400" dirty="0"/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200" dirty="0"/>
              <a:t>IoT SAFE supports key derivation using a master key stored in the SIM. Instead of transmitting new keys over the air, new keys are derived from the master key and additional parameters (e.g., device ID, timestamp).</a:t>
            </a:r>
            <a:endParaRPr lang="fa-IR" sz="1200" dirty="0"/>
          </a:p>
          <a:p>
            <a:pPr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400" dirty="0"/>
              <a:t>Pre-Provisioned Keys with Validity Periods</a:t>
            </a:r>
            <a:endParaRPr lang="fa-IR" sz="1400" dirty="0"/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200" dirty="0"/>
              <a:t>Some SIM cards are pre-provisioned with multiple keys that are valid for specific periods. When one key expires, the SIM switches to the next key automatically.</a:t>
            </a:r>
            <a:br>
              <a:rPr lang="en-US" sz="1800" dirty="0">
                <a:latin typeface="DM Sans" pitchFamily="2" charset="0"/>
              </a:rPr>
            </a:br>
            <a:endParaRPr lang="en-US" sz="1800" dirty="0">
              <a:latin typeface="DM Sans" pitchFamily="2" charset="0"/>
            </a:endParaRPr>
          </a:p>
        </p:txBody>
      </p:sp>
      <p:grpSp>
        <p:nvGrpSpPr>
          <p:cNvPr id="11" name="Google Shape;269;p32">
            <a:extLst>
              <a:ext uri="{FF2B5EF4-FFF2-40B4-BE49-F238E27FC236}">
                <a16:creationId xmlns:a16="http://schemas.microsoft.com/office/drawing/2014/main" id="{46E54906-2B58-9B2C-EBFB-B57ED96F0340}"/>
              </a:ext>
            </a:extLst>
          </p:cNvPr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12" name="Google Shape;270;p32">
              <a:extLst>
                <a:ext uri="{FF2B5EF4-FFF2-40B4-BE49-F238E27FC236}">
                  <a16:creationId xmlns:a16="http://schemas.microsoft.com/office/drawing/2014/main" id="{FC5173A9-1F29-9448-C24C-8D8A09B9E089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71;p32">
              <a:extLst>
                <a:ext uri="{FF2B5EF4-FFF2-40B4-BE49-F238E27FC236}">
                  <a16:creationId xmlns:a16="http://schemas.microsoft.com/office/drawing/2014/main" id="{C718FA00-8E04-E085-3471-88BDE526BA27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72;p32">
              <a:extLst>
                <a:ext uri="{FF2B5EF4-FFF2-40B4-BE49-F238E27FC236}">
                  <a16:creationId xmlns:a16="http://schemas.microsoft.com/office/drawing/2014/main" id="{0F9A90AC-944A-FCF0-67D2-E776C637E598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73;p32">
              <a:extLst>
                <a:ext uri="{FF2B5EF4-FFF2-40B4-BE49-F238E27FC236}">
                  <a16:creationId xmlns:a16="http://schemas.microsoft.com/office/drawing/2014/main" id="{9CAD0407-9724-BF9D-371F-04915AEDC704}"/>
                </a:ext>
              </a:extLst>
            </p:cNvPr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74;p32">
              <a:extLst>
                <a:ext uri="{FF2B5EF4-FFF2-40B4-BE49-F238E27FC236}">
                  <a16:creationId xmlns:a16="http://schemas.microsoft.com/office/drawing/2014/main" id="{434A74EA-7BAC-4E17-0BBD-75F959E30791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75;p32">
              <a:extLst>
                <a:ext uri="{FF2B5EF4-FFF2-40B4-BE49-F238E27FC236}">
                  <a16:creationId xmlns:a16="http://schemas.microsoft.com/office/drawing/2014/main" id="{8743377E-A45E-806D-668A-7DC76BFAD7DB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76;p32">
              <a:extLst>
                <a:ext uri="{FF2B5EF4-FFF2-40B4-BE49-F238E27FC236}">
                  <a16:creationId xmlns:a16="http://schemas.microsoft.com/office/drawing/2014/main" id="{FC349479-5664-7588-74C8-B6443735E5CE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77;p32">
              <a:extLst>
                <a:ext uri="{FF2B5EF4-FFF2-40B4-BE49-F238E27FC236}">
                  <a16:creationId xmlns:a16="http://schemas.microsoft.com/office/drawing/2014/main" id="{63BC54BE-0C35-FA87-2B23-29036326CAD6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2285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339B6834-8BF1-DD66-EFED-72E4DF177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>
            <a:extLst>
              <a:ext uri="{FF2B5EF4-FFF2-40B4-BE49-F238E27FC236}">
                <a16:creationId xmlns:a16="http://schemas.microsoft.com/office/drawing/2014/main" id="{31245891-7A83-1631-E821-20F5284940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3600" dirty="0"/>
              <a:t>Pre-Provisioned Keys</a:t>
            </a:r>
            <a:br>
              <a:rPr lang="fa-IR" sz="3600" dirty="0"/>
            </a:br>
            <a:endParaRPr lang="en-GB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237" name="Google Shape;237;p31">
            <a:extLst>
              <a:ext uri="{FF2B5EF4-FFF2-40B4-BE49-F238E27FC236}">
                <a16:creationId xmlns:a16="http://schemas.microsoft.com/office/drawing/2014/main" id="{2471BB27-17D7-D6AC-4F6D-CFC394411B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874324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600" dirty="0">
              <a:latin typeface="DM Sans" pitchFamily="2" charset="0"/>
            </a:endParaRPr>
          </a:p>
          <a:p>
            <a:pPr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400" dirty="0"/>
              <a:t>Number of Pre-Provisioned Keys.</a:t>
            </a:r>
          </a:p>
          <a:p>
            <a:pPr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400" dirty="0"/>
              <a:t>Key Validity Period.</a:t>
            </a:r>
          </a:p>
          <a:p>
            <a:pPr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400" dirty="0"/>
              <a:t>Generate Master Key.</a:t>
            </a:r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300" dirty="0"/>
              <a:t>It must be generated using a </a:t>
            </a:r>
            <a:r>
              <a:rPr lang="en-US" sz="1300" b="1" dirty="0"/>
              <a:t>cryptographically secure random number generator (CSPRNG)</a:t>
            </a:r>
            <a:r>
              <a:rPr lang="en-US" sz="1300" dirty="0"/>
              <a:t>.</a:t>
            </a:r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300" dirty="0"/>
              <a:t>Length: 128 bits to 256 bits.</a:t>
            </a:r>
          </a:p>
          <a:p>
            <a:pPr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400" dirty="0"/>
              <a:t>Derive Session and Authentication Keys.</a:t>
            </a:r>
          </a:p>
          <a:p>
            <a:pPr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400" dirty="0">
                <a:latin typeface="DM Sans" pitchFamily="2" charset="0"/>
              </a:rPr>
              <a:t>Write Generated Keys on SIM.</a:t>
            </a:r>
            <a:br>
              <a:rPr lang="en-US" sz="1800" dirty="0">
                <a:latin typeface="DM Sans" pitchFamily="2" charset="0"/>
              </a:rPr>
            </a:br>
            <a:endParaRPr lang="en-US" sz="1800" dirty="0">
              <a:latin typeface="DM Sans" pitchFamily="2" charset="0"/>
            </a:endParaRPr>
          </a:p>
        </p:txBody>
      </p:sp>
      <p:grpSp>
        <p:nvGrpSpPr>
          <p:cNvPr id="11" name="Google Shape;269;p32">
            <a:extLst>
              <a:ext uri="{FF2B5EF4-FFF2-40B4-BE49-F238E27FC236}">
                <a16:creationId xmlns:a16="http://schemas.microsoft.com/office/drawing/2014/main" id="{778D7A43-A053-08AE-741B-A3E148779E8A}"/>
              </a:ext>
            </a:extLst>
          </p:cNvPr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12" name="Google Shape;270;p32">
              <a:extLst>
                <a:ext uri="{FF2B5EF4-FFF2-40B4-BE49-F238E27FC236}">
                  <a16:creationId xmlns:a16="http://schemas.microsoft.com/office/drawing/2014/main" id="{7DFB2801-F1D5-B64E-9E83-0F16E6809F6A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71;p32">
              <a:extLst>
                <a:ext uri="{FF2B5EF4-FFF2-40B4-BE49-F238E27FC236}">
                  <a16:creationId xmlns:a16="http://schemas.microsoft.com/office/drawing/2014/main" id="{C56C0D41-93D6-D1ED-7211-C1278FF90CB3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72;p32">
              <a:extLst>
                <a:ext uri="{FF2B5EF4-FFF2-40B4-BE49-F238E27FC236}">
                  <a16:creationId xmlns:a16="http://schemas.microsoft.com/office/drawing/2014/main" id="{6E04950B-5D4F-3D88-4658-0F0966B2E4AA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73;p32">
              <a:extLst>
                <a:ext uri="{FF2B5EF4-FFF2-40B4-BE49-F238E27FC236}">
                  <a16:creationId xmlns:a16="http://schemas.microsoft.com/office/drawing/2014/main" id="{DB420A6E-454D-1385-6F06-2EE50A384D1B}"/>
                </a:ext>
              </a:extLst>
            </p:cNvPr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74;p32">
              <a:extLst>
                <a:ext uri="{FF2B5EF4-FFF2-40B4-BE49-F238E27FC236}">
                  <a16:creationId xmlns:a16="http://schemas.microsoft.com/office/drawing/2014/main" id="{CD0262F5-B3FF-5CA3-5132-0D44130A7E47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75;p32">
              <a:extLst>
                <a:ext uri="{FF2B5EF4-FFF2-40B4-BE49-F238E27FC236}">
                  <a16:creationId xmlns:a16="http://schemas.microsoft.com/office/drawing/2014/main" id="{1ACDA128-EBC7-57CC-C4F0-CFDF4B312239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76;p32">
              <a:extLst>
                <a:ext uri="{FF2B5EF4-FFF2-40B4-BE49-F238E27FC236}">
                  <a16:creationId xmlns:a16="http://schemas.microsoft.com/office/drawing/2014/main" id="{F9CD5782-CBE8-9D2F-0E76-A11040ACBC20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77;p32">
              <a:extLst>
                <a:ext uri="{FF2B5EF4-FFF2-40B4-BE49-F238E27FC236}">
                  <a16:creationId xmlns:a16="http://schemas.microsoft.com/office/drawing/2014/main" id="{20B01376-10E3-79FE-5673-17666FE1A698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2849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68841684-46BC-2055-E0E3-9CD6BFB1A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>
            <a:extLst>
              <a:ext uri="{FF2B5EF4-FFF2-40B4-BE49-F238E27FC236}">
                <a16:creationId xmlns:a16="http://schemas.microsoft.com/office/drawing/2014/main" id="{49233899-4BF7-AA11-0C90-C25E2531D3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3600" dirty="0"/>
              <a:t>Key Derivation Mechanism</a:t>
            </a:r>
            <a:br>
              <a:rPr lang="fa-IR" sz="3600" dirty="0"/>
            </a:br>
            <a:endParaRPr lang="en-GB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237" name="Google Shape;237;p31">
            <a:extLst>
              <a:ext uri="{FF2B5EF4-FFF2-40B4-BE49-F238E27FC236}">
                <a16:creationId xmlns:a16="http://schemas.microsoft.com/office/drawing/2014/main" id="{B7E846A8-1D62-01D9-4EEC-106C33AEDA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874324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600" dirty="0">
              <a:latin typeface="DM Sans" pitchFamily="2" charset="0"/>
            </a:endParaRPr>
          </a:p>
          <a:p>
            <a:pPr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400" dirty="0"/>
              <a:t>Key Validity Period.</a:t>
            </a:r>
          </a:p>
          <a:p>
            <a:pPr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400" dirty="0"/>
              <a:t>Master Key Storage.</a:t>
            </a:r>
          </a:p>
          <a:p>
            <a:pPr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400" dirty="0"/>
              <a:t>Session Key Generation Using HKDF.</a:t>
            </a:r>
          </a:p>
          <a:p>
            <a:pPr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400" dirty="0">
                <a:latin typeface="DM Sans" pitchFamily="2" charset="0"/>
              </a:rPr>
              <a:t>Use This Session Key to Encrypt Data.</a:t>
            </a:r>
            <a:br>
              <a:rPr lang="en-US" sz="1800" dirty="0">
                <a:latin typeface="DM Sans" pitchFamily="2" charset="0"/>
              </a:rPr>
            </a:br>
            <a:endParaRPr lang="en-US" sz="1800" dirty="0">
              <a:latin typeface="DM Sans" pitchFamily="2" charset="0"/>
            </a:endParaRPr>
          </a:p>
        </p:txBody>
      </p:sp>
      <p:grpSp>
        <p:nvGrpSpPr>
          <p:cNvPr id="11" name="Google Shape;269;p32">
            <a:extLst>
              <a:ext uri="{FF2B5EF4-FFF2-40B4-BE49-F238E27FC236}">
                <a16:creationId xmlns:a16="http://schemas.microsoft.com/office/drawing/2014/main" id="{7116402F-87FA-1F6B-DC53-62A77FD5AA24}"/>
              </a:ext>
            </a:extLst>
          </p:cNvPr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12" name="Google Shape;270;p32">
              <a:extLst>
                <a:ext uri="{FF2B5EF4-FFF2-40B4-BE49-F238E27FC236}">
                  <a16:creationId xmlns:a16="http://schemas.microsoft.com/office/drawing/2014/main" id="{5161D2CB-7910-6413-60E9-4236FF8D32C0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71;p32">
              <a:extLst>
                <a:ext uri="{FF2B5EF4-FFF2-40B4-BE49-F238E27FC236}">
                  <a16:creationId xmlns:a16="http://schemas.microsoft.com/office/drawing/2014/main" id="{771B50A3-670D-AE31-6D4A-382B715EE1AA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72;p32">
              <a:extLst>
                <a:ext uri="{FF2B5EF4-FFF2-40B4-BE49-F238E27FC236}">
                  <a16:creationId xmlns:a16="http://schemas.microsoft.com/office/drawing/2014/main" id="{175EE7D3-7F24-A199-BC86-DA4A2911527F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73;p32">
              <a:extLst>
                <a:ext uri="{FF2B5EF4-FFF2-40B4-BE49-F238E27FC236}">
                  <a16:creationId xmlns:a16="http://schemas.microsoft.com/office/drawing/2014/main" id="{31D4E5E4-6E71-E9CB-BBCB-D3D4A10F5B1A}"/>
                </a:ext>
              </a:extLst>
            </p:cNvPr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74;p32">
              <a:extLst>
                <a:ext uri="{FF2B5EF4-FFF2-40B4-BE49-F238E27FC236}">
                  <a16:creationId xmlns:a16="http://schemas.microsoft.com/office/drawing/2014/main" id="{D78BF78A-A81C-12A5-CD6E-FABEEC126DD0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75;p32">
              <a:extLst>
                <a:ext uri="{FF2B5EF4-FFF2-40B4-BE49-F238E27FC236}">
                  <a16:creationId xmlns:a16="http://schemas.microsoft.com/office/drawing/2014/main" id="{AEB9541B-DFE5-7B54-F19F-97FD0B2F2A6B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76;p32">
              <a:extLst>
                <a:ext uri="{FF2B5EF4-FFF2-40B4-BE49-F238E27FC236}">
                  <a16:creationId xmlns:a16="http://schemas.microsoft.com/office/drawing/2014/main" id="{8E142A33-65EE-22FF-F64C-D8C9A4D0C96D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77;p32">
              <a:extLst>
                <a:ext uri="{FF2B5EF4-FFF2-40B4-BE49-F238E27FC236}">
                  <a16:creationId xmlns:a16="http://schemas.microsoft.com/office/drawing/2014/main" id="{53258E77-DC20-5589-1BCB-A47494E347FC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686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A172B1A8-211B-F9FE-5400-1ABA2052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>
            <a:extLst>
              <a:ext uri="{FF2B5EF4-FFF2-40B4-BE49-F238E27FC236}">
                <a16:creationId xmlns:a16="http://schemas.microsoft.com/office/drawing/2014/main" id="{C1183205-98E4-125F-80E5-7EED881C50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8120" y="66904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dirty="0">
                <a:solidFill>
                  <a:schemeClr val="tx1"/>
                </a:solidFill>
                <a:effectLst/>
                <a:latin typeface="Oswald" panose="00000500000000000000" pitchFamily="2" charset="0"/>
              </a:rPr>
              <a:t>HKDF (</a:t>
            </a:r>
            <a:r>
              <a:rPr lang="en-US" sz="2200" dirty="0"/>
              <a:t>HMAC-based Extract-and-Expand Key Derivation Function)</a:t>
            </a:r>
            <a:endParaRPr sz="2200" dirty="0">
              <a:solidFill>
                <a:schemeClr val="accent1"/>
              </a:solidFill>
            </a:endParaRPr>
          </a:p>
        </p:txBody>
      </p:sp>
      <p:sp>
        <p:nvSpPr>
          <p:cNvPr id="237" name="Google Shape;237;p31">
            <a:extLst>
              <a:ext uri="{FF2B5EF4-FFF2-40B4-BE49-F238E27FC236}">
                <a16:creationId xmlns:a16="http://schemas.microsoft.com/office/drawing/2014/main" id="{39ECF53F-136A-0B23-E17D-31B5C3D30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8120" y="1241740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dirty="0"/>
              <a:t>HMAC-based Extract-and-Expand Key Derivation Function (HKDF) is a method used to derive keys from a source of initial key material. It is designed to split, expand, or transform a given key into several additional cryptographic keys, each suitable for specific cryptographic operations. HKDF is widely used in protocols like TLS and various other security systems.</a:t>
            </a:r>
            <a:endParaRPr lang="en-US" dirty="0">
              <a:solidFill>
                <a:schemeClr val="tx1"/>
              </a:solidFill>
              <a:latin typeface="DM Sans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DB2E8A-852C-FE79-FD9F-0AC6AC310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156" y="2299916"/>
            <a:ext cx="4503688" cy="234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043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838AC-3014-4A61-9E3B-8C5361B32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9EE0A-EBE5-C8BD-5704-A435384F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solidFill>
                  <a:schemeClr val="tx1"/>
                </a:solidFill>
                <a:effectLst/>
                <a:latin typeface="Oswald" panose="00000500000000000000" pitchFamily="2" charset="0"/>
              </a:rPr>
              <a:t>HKDF Phases</a:t>
            </a:r>
            <a:endParaRPr lang="en-US" dirty="0">
              <a:solidFill>
                <a:schemeClr val="tx1"/>
              </a:solidFill>
              <a:latin typeface="Oswald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2E2B95-3F79-EA0A-36BB-C146601B4A6F}"/>
              </a:ext>
            </a:extLst>
          </p:cNvPr>
          <p:cNvSpPr txBox="1"/>
          <p:nvPr/>
        </p:nvSpPr>
        <p:spPr>
          <a:xfrm>
            <a:off x="491490" y="1340480"/>
            <a:ext cx="81610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Extract Phase: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Purpose: This phase extracts randomness from the initial key material to produce a fixed-length pseudorandom key.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Method: Uses a Hash-based Message Authentication Code (HMAC) to process the initial keying material together with an optional salt (a non-secret random value).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Output: A pseudorandom key (PRK), which can then be used in the expand phase.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PRK is the pseudorandom key.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HMAC is the HMAC function using a chosen hash algorithm (e.g., SHA-256).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Salt is an optional but highly recommended random value.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IKM is the initial key material.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Expand Phase: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Purpose: Expands the pseudorandom key into multiple cryptographic keys.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Method: Uses the PRK and additional context information (info) to derive a series of output keys of desired length.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Output: The derived keys are used in cryptographic operations.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OKM is the output key material.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PRK is the pseudorandom key from the extract phase.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Info is optional context and application-specific information.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 is the length in bytes of the output key material.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E22D76-4C5C-E722-8C62-65180F302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801" y="2571750"/>
            <a:ext cx="2053700" cy="3846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426398-204C-D802-F104-16475692D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843" y="3881419"/>
            <a:ext cx="3227217" cy="3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363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D41F9810-3F83-5D74-2935-7E0C2196A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>
            <a:extLst>
              <a:ext uri="{FF2B5EF4-FFF2-40B4-BE49-F238E27FC236}">
                <a16:creationId xmlns:a16="http://schemas.microsoft.com/office/drawing/2014/main" id="{F2A1890D-72A7-BF8E-24DB-1C1F2FE856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3600" dirty="0"/>
              <a:t>HKDF Needs</a:t>
            </a:r>
            <a:endParaRPr lang="en-GB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237" name="Google Shape;237;p31">
            <a:extLst>
              <a:ext uri="{FF2B5EF4-FFF2-40B4-BE49-F238E27FC236}">
                <a16:creationId xmlns:a16="http://schemas.microsoft.com/office/drawing/2014/main" id="{94939A0D-186B-199F-5018-7B08F5815E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874324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600" dirty="0">
              <a:latin typeface="DM Sans" pitchFamily="2" charset="0"/>
            </a:endParaRPr>
          </a:p>
          <a:p>
            <a:pPr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400" dirty="0"/>
              <a:t>Relevant Standards:</a:t>
            </a:r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de-DE" sz="1200" dirty="0"/>
              <a:t>3GPP TS 33.501 (KDF </a:t>
            </a:r>
            <a:r>
              <a:rPr lang="de-DE" sz="1200" dirty="0" err="1"/>
              <a:t>usage</a:t>
            </a:r>
            <a:r>
              <a:rPr lang="de-DE" sz="1200" dirty="0"/>
              <a:t> in 5G)</a:t>
            </a:r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200" dirty="0"/>
              <a:t>ETSI TS 102 225 / 102 226 (Security standards for SIM Toolkit &amp; OTA)</a:t>
            </a:r>
            <a:endParaRPr lang="de-DE" sz="1200" dirty="0"/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200" dirty="0"/>
              <a:t>ISO/IEC 7816 (Smart card communication protocols)</a:t>
            </a:r>
          </a:p>
          <a:p>
            <a:pPr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400" dirty="0"/>
              <a:t>Execution Environment</a:t>
            </a:r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200" dirty="0"/>
              <a:t>Perform HKDF in HSM / Core Network.</a:t>
            </a:r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pt-BR" sz="1200" dirty="0"/>
              <a:t>Implement HKDF inside SIM Card (Java Card / UICC)</a:t>
            </a:r>
            <a:r>
              <a:rPr lang="en-US" sz="1200" dirty="0"/>
              <a:t>.</a:t>
            </a:r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200" dirty="0"/>
              <a:t>Use </a:t>
            </a:r>
            <a:r>
              <a:rPr lang="en-US" sz="1200" dirty="0" err="1"/>
              <a:t>eSIM</a:t>
            </a:r>
            <a:r>
              <a:rPr lang="en-US" sz="1200" dirty="0"/>
              <a:t> / Mobile for HKDF (Remote SIM Provisioning)</a:t>
            </a:r>
            <a:br>
              <a:rPr lang="en-US" sz="1800" dirty="0">
                <a:latin typeface="DM Sans" pitchFamily="2" charset="0"/>
              </a:rPr>
            </a:br>
            <a:endParaRPr lang="en-US" sz="1800" dirty="0">
              <a:latin typeface="DM Sans" pitchFamily="2" charset="0"/>
            </a:endParaRPr>
          </a:p>
        </p:txBody>
      </p:sp>
      <p:grpSp>
        <p:nvGrpSpPr>
          <p:cNvPr id="11" name="Google Shape;269;p32">
            <a:extLst>
              <a:ext uri="{FF2B5EF4-FFF2-40B4-BE49-F238E27FC236}">
                <a16:creationId xmlns:a16="http://schemas.microsoft.com/office/drawing/2014/main" id="{E7292BA7-1E25-01D2-64F8-2671DAFA6E11}"/>
              </a:ext>
            </a:extLst>
          </p:cNvPr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12" name="Google Shape;270;p32">
              <a:extLst>
                <a:ext uri="{FF2B5EF4-FFF2-40B4-BE49-F238E27FC236}">
                  <a16:creationId xmlns:a16="http://schemas.microsoft.com/office/drawing/2014/main" id="{37A967E0-D62D-7CBB-45DA-C3BE4AD06902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71;p32">
              <a:extLst>
                <a:ext uri="{FF2B5EF4-FFF2-40B4-BE49-F238E27FC236}">
                  <a16:creationId xmlns:a16="http://schemas.microsoft.com/office/drawing/2014/main" id="{D522BFD1-3CC4-3E05-BFED-B39EAA4A294D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72;p32">
              <a:extLst>
                <a:ext uri="{FF2B5EF4-FFF2-40B4-BE49-F238E27FC236}">
                  <a16:creationId xmlns:a16="http://schemas.microsoft.com/office/drawing/2014/main" id="{E75E5E49-AD84-EA3F-469B-0042837E41A7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73;p32">
              <a:extLst>
                <a:ext uri="{FF2B5EF4-FFF2-40B4-BE49-F238E27FC236}">
                  <a16:creationId xmlns:a16="http://schemas.microsoft.com/office/drawing/2014/main" id="{207E611E-85BA-AC3D-9333-2768F51D73A4}"/>
                </a:ext>
              </a:extLst>
            </p:cNvPr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74;p32">
              <a:extLst>
                <a:ext uri="{FF2B5EF4-FFF2-40B4-BE49-F238E27FC236}">
                  <a16:creationId xmlns:a16="http://schemas.microsoft.com/office/drawing/2014/main" id="{93B4229A-3DDF-95FA-DB64-1284F0FE85DE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75;p32">
              <a:extLst>
                <a:ext uri="{FF2B5EF4-FFF2-40B4-BE49-F238E27FC236}">
                  <a16:creationId xmlns:a16="http://schemas.microsoft.com/office/drawing/2014/main" id="{B7F9C492-C953-CBAC-674D-B0DFF3E75ACE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76;p32">
              <a:extLst>
                <a:ext uri="{FF2B5EF4-FFF2-40B4-BE49-F238E27FC236}">
                  <a16:creationId xmlns:a16="http://schemas.microsoft.com/office/drawing/2014/main" id="{7E153691-4B00-3185-EA06-A18B42AAC2D3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77;p32">
              <a:extLst>
                <a:ext uri="{FF2B5EF4-FFF2-40B4-BE49-F238E27FC236}">
                  <a16:creationId xmlns:a16="http://schemas.microsoft.com/office/drawing/2014/main" id="{5087EC91-B513-8EE8-413B-FBE0946358BA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4411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D0F12035-F4AE-DE04-7CD2-6BAE4BB1E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>
            <a:extLst>
              <a:ext uri="{FF2B5EF4-FFF2-40B4-BE49-F238E27FC236}">
                <a16:creationId xmlns:a16="http://schemas.microsoft.com/office/drawing/2014/main" id="{90CDA4EE-92AE-7260-509F-8A1A28723E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8120" y="66904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37" name="Google Shape;237;p31">
            <a:extLst>
              <a:ext uri="{FF2B5EF4-FFF2-40B4-BE49-F238E27FC236}">
                <a16:creationId xmlns:a16="http://schemas.microsoft.com/office/drawing/2014/main" id="{AA55EBCA-945A-6075-A183-E17435A466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8120" y="1296480"/>
            <a:ext cx="360054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b="1" dirty="0"/>
              <a:t>AES</a:t>
            </a:r>
            <a:r>
              <a:rPr lang="en-US" dirty="0"/>
              <a:t> (Advanced Encryption Standard) is one of the most widely used symmetric-key encryption algorithms. It’s employed globally for securing sensitive data, including in fields like banking, communication, government, and more.</a:t>
            </a:r>
            <a:endParaRPr lang="en-US" dirty="0">
              <a:solidFill>
                <a:schemeClr val="tx1"/>
              </a:solidFill>
              <a:latin typeface="DM Sans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3EEB2-7988-08E1-7B9D-77D3D6415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342" y="860194"/>
            <a:ext cx="3853221" cy="393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918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D027FB0D-43A8-A966-2040-C8C8FDCBE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>
            <a:extLst>
              <a:ext uri="{FF2B5EF4-FFF2-40B4-BE49-F238E27FC236}">
                <a16:creationId xmlns:a16="http://schemas.microsoft.com/office/drawing/2014/main" id="{45EB2B15-6CCD-CA4F-4999-765F45D823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8120" y="66904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AES Works?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00BEF1-9A60-86F3-27D3-50A98EC8A5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7957" y="1376944"/>
            <a:ext cx="4222568" cy="328422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252BAC4-346E-6888-6483-CB3EBBD6BD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0653" y="1575018"/>
            <a:ext cx="4222568" cy="224161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8C32581-0B29-A014-AEB5-E98A68EE09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77765" y="1943434"/>
            <a:ext cx="5808345" cy="215123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7C9E1ED-14BE-8DB4-DD9A-6530887DAB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60130" y="1809671"/>
            <a:ext cx="5019980" cy="26029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BB7F9B9-35AF-FCBA-76B3-AC0B0A29555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2126" y="1809671"/>
            <a:ext cx="7269648" cy="204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87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552960E-D6CF-1133-9571-A823A6EF7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>
            <a:extLst>
              <a:ext uri="{FF2B5EF4-FFF2-40B4-BE49-F238E27FC236}">
                <a16:creationId xmlns:a16="http://schemas.microsoft.com/office/drawing/2014/main" id="{2EE4F51E-512C-C202-39DD-2862406030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3600" dirty="0"/>
              <a:t>Which SIM Type Support AES and HKDF</a:t>
            </a:r>
            <a:endParaRPr lang="en-GB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237" name="Google Shape;237;p31">
            <a:extLst>
              <a:ext uri="{FF2B5EF4-FFF2-40B4-BE49-F238E27FC236}">
                <a16:creationId xmlns:a16="http://schemas.microsoft.com/office/drawing/2014/main" id="{CB9D6C91-40DC-3DD6-67BE-B2F9D5952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024503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>
              <a:latin typeface="DM Sans" pitchFamily="2" charset="0"/>
            </a:endParaRPr>
          </a:p>
          <a:p>
            <a:pPr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400" dirty="0"/>
              <a:t>AES:</a:t>
            </a:r>
            <a:endParaRPr lang="de-DE" sz="1400" dirty="0"/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de-DE" sz="1200" dirty="0"/>
              <a:t>3G: Optional</a:t>
            </a:r>
            <a:endParaRPr lang="fa-IR" sz="1200" dirty="0"/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200" dirty="0"/>
              <a:t>4G: Supports AES</a:t>
            </a:r>
            <a:endParaRPr lang="de-DE" sz="1200" dirty="0"/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200" dirty="0"/>
              <a:t>5G: Supports AES and It is Mandatory. </a:t>
            </a:r>
          </a:p>
          <a:p>
            <a:pPr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400" dirty="0"/>
              <a:t>HKDF:</a:t>
            </a:r>
            <a:endParaRPr lang="de-DE" sz="1400" dirty="0"/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de-DE" sz="1200" dirty="0"/>
              <a:t>3G: Optional</a:t>
            </a:r>
            <a:endParaRPr lang="fa-IR" sz="1200" dirty="0"/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200" dirty="0"/>
              <a:t>4G: Full Support for HKDF</a:t>
            </a:r>
            <a:endParaRPr lang="de-DE" sz="1200" dirty="0"/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200" dirty="0"/>
              <a:t>5G: Full Support for HKDF</a:t>
            </a:r>
            <a:endParaRPr lang="en-US" sz="1200" dirty="0">
              <a:latin typeface="DM Sans" pitchFamily="2" charset="0"/>
            </a:endParaRPr>
          </a:p>
        </p:txBody>
      </p:sp>
      <p:grpSp>
        <p:nvGrpSpPr>
          <p:cNvPr id="11" name="Google Shape;269;p32">
            <a:extLst>
              <a:ext uri="{FF2B5EF4-FFF2-40B4-BE49-F238E27FC236}">
                <a16:creationId xmlns:a16="http://schemas.microsoft.com/office/drawing/2014/main" id="{2861A4ED-498D-60F4-EA33-5B6EC1922DC8}"/>
              </a:ext>
            </a:extLst>
          </p:cNvPr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12" name="Google Shape;270;p32">
              <a:extLst>
                <a:ext uri="{FF2B5EF4-FFF2-40B4-BE49-F238E27FC236}">
                  <a16:creationId xmlns:a16="http://schemas.microsoft.com/office/drawing/2014/main" id="{14C0B0B8-2AD5-42AC-D677-B8F85A84CB73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71;p32">
              <a:extLst>
                <a:ext uri="{FF2B5EF4-FFF2-40B4-BE49-F238E27FC236}">
                  <a16:creationId xmlns:a16="http://schemas.microsoft.com/office/drawing/2014/main" id="{92AC14D8-E0C0-99C7-BF47-5569BE6CE53A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72;p32">
              <a:extLst>
                <a:ext uri="{FF2B5EF4-FFF2-40B4-BE49-F238E27FC236}">
                  <a16:creationId xmlns:a16="http://schemas.microsoft.com/office/drawing/2014/main" id="{9913AC4C-4FD5-44C5-0CDE-3675E04BA5A7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73;p32">
              <a:extLst>
                <a:ext uri="{FF2B5EF4-FFF2-40B4-BE49-F238E27FC236}">
                  <a16:creationId xmlns:a16="http://schemas.microsoft.com/office/drawing/2014/main" id="{57BF2044-4DDA-36D9-4C62-5D5746AEE86E}"/>
                </a:ext>
              </a:extLst>
            </p:cNvPr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74;p32">
              <a:extLst>
                <a:ext uri="{FF2B5EF4-FFF2-40B4-BE49-F238E27FC236}">
                  <a16:creationId xmlns:a16="http://schemas.microsoft.com/office/drawing/2014/main" id="{ED01B8A1-EC54-ECFC-9F0C-42EB5B6D668E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75;p32">
              <a:extLst>
                <a:ext uri="{FF2B5EF4-FFF2-40B4-BE49-F238E27FC236}">
                  <a16:creationId xmlns:a16="http://schemas.microsoft.com/office/drawing/2014/main" id="{6B701998-9108-BC52-4037-541B54E2CA23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76;p32">
              <a:extLst>
                <a:ext uri="{FF2B5EF4-FFF2-40B4-BE49-F238E27FC236}">
                  <a16:creationId xmlns:a16="http://schemas.microsoft.com/office/drawing/2014/main" id="{B9BB03C4-63B7-DB2D-22BF-8A02ECAB9711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77;p32">
              <a:extLst>
                <a:ext uri="{FF2B5EF4-FFF2-40B4-BE49-F238E27FC236}">
                  <a16:creationId xmlns:a16="http://schemas.microsoft.com/office/drawing/2014/main" id="{00365DFB-9E8F-4F1E-3D57-C776D9BCB1D6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8794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8EDB80B-70B0-E3E4-F34C-300AC555A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>
            <a:extLst>
              <a:ext uri="{FF2B5EF4-FFF2-40B4-BE49-F238E27FC236}">
                <a16:creationId xmlns:a16="http://schemas.microsoft.com/office/drawing/2014/main" id="{CB94B42F-C0AD-830C-37A0-1804B56946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3600" dirty="0"/>
              <a:t>CBC vs GCM</a:t>
            </a:r>
            <a:endParaRPr lang="en-GB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237" name="Google Shape;237;p31">
            <a:extLst>
              <a:ext uri="{FF2B5EF4-FFF2-40B4-BE49-F238E27FC236}">
                <a16:creationId xmlns:a16="http://schemas.microsoft.com/office/drawing/2014/main" id="{59882B96-326E-3896-6B6D-7F3348BEAB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024503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>
              <a:latin typeface="DM Sans" pitchFamily="2" charset="0"/>
            </a:endParaRPr>
          </a:p>
          <a:p>
            <a:pPr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400" dirty="0"/>
              <a:t>AES-CBC (Cipher Block Chaining):</a:t>
            </a:r>
            <a:endParaRPr lang="de-DE" sz="1400" dirty="0"/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200" dirty="0"/>
              <a:t>Performance: Slower compared to GCM due to sequential processing.</a:t>
            </a:r>
            <a:endParaRPr lang="fa-IR" sz="1200" dirty="0"/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200" dirty="0"/>
              <a:t>TLS Version Support: Supported in TLS 1.0, 1.1, and 1.2. However, due to security weaknesses, it's being phased out in favor of more secure algorithms like AES-GCM.</a:t>
            </a:r>
            <a:endParaRPr lang="de-DE" sz="1200" dirty="0"/>
          </a:p>
          <a:p>
            <a:pPr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400" dirty="0"/>
              <a:t>AES-GCM (Galois/Counter Mode):</a:t>
            </a:r>
            <a:endParaRPr lang="de-DE" sz="1400" dirty="0"/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200" dirty="0"/>
              <a:t>Performance: Faster than CBC, especially in hardware.</a:t>
            </a:r>
            <a:endParaRPr lang="fa-IR" sz="1200" dirty="0"/>
          </a:p>
          <a:p>
            <a:pPr lvl="1" indent="-317500">
              <a:lnSpc>
                <a:spcPct val="150000"/>
              </a:lnSpc>
              <a:buSzPts val="1400"/>
              <a:buFont typeface="DM Sans"/>
              <a:buChar char="⏣"/>
            </a:pPr>
            <a:r>
              <a:rPr lang="en-US" sz="1200" dirty="0"/>
              <a:t>TLS Version Support: Supported in TLS 1.2 and TLS 1.3. AES-GCM is the preferred mode due to its security and performance benefits.</a:t>
            </a:r>
            <a:endParaRPr lang="de-DE" sz="1200" dirty="0"/>
          </a:p>
        </p:txBody>
      </p:sp>
      <p:grpSp>
        <p:nvGrpSpPr>
          <p:cNvPr id="11" name="Google Shape;269;p32">
            <a:extLst>
              <a:ext uri="{FF2B5EF4-FFF2-40B4-BE49-F238E27FC236}">
                <a16:creationId xmlns:a16="http://schemas.microsoft.com/office/drawing/2014/main" id="{22BC545C-DDCD-0DC3-F230-D1D57070D839}"/>
              </a:ext>
            </a:extLst>
          </p:cNvPr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12" name="Google Shape;270;p32">
              <a:extLst>
                <a:ext uri="{FF2B5EF4-FFF2-40B4-BE49-F238E27FC236}">
                  <a16:creationId xmlns:a16="http://schemas.microsoft.com/office/drawing/2014/main" id="{333D450B-3BEB-FE11-274E-D26409119257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71;p32">
              <a:extLst>
                <a:ext uri="{FF2B5EF4-FFF2-40B4-BE49-F238E27FC236}">
                  <a16:creationId xmlns:a16="http://schemas.microsoft.com/office/drawing/2014/main" id="{73855CAB-A3E0-ECC4-5978-9D6439D5E08A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72;p32">
              <a:extLst>
                <a:ext uri="{FF2B5EF4-FFF2-40B4-BE49-F238E27FC236}">
                  <a16:creationId xmlns:a16="http://schemas.microsoft.com/office/drawing/2014/main" id="{0294FA33-40E7-A75B-53E7-E37DBD581023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73;p32">
              <a:extLst>
                <a:ext uri="{FF2B5EF4-FFF2-40B4-BE49-F238E27FC236}">
                  <a16:creationId xmlns:a16="http://schemas.microsoft.com/office/drawing/2014/main" id="{352D890B-0BC8-538C-88C7-3777DA9C16EE}"/>
                </a:ext>
              </a:extLst>
            </p:cNvPr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74;p32">
              <a:extLst>
                <a:ext uri="{FF2B5EF4-FFF2-40B4-BE49-F238E27FC236}">
                  <a16:creationId xmlns:a16="http://schemas.microsoft.com/office/drawing/2014/main" id="{D0E13799-E2E1-6477-BA2D-7B866BAE3E1F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75;p32">
              <a:extLst>
                <a:ext uri="{FF2B5EF4-FFF2-40B4-BE49-F238E27FC236}">
                  <a16:creationId xmlns:a16="http://schemas.microsoft.com/office/drawing/2014/main" id="{072AFD08-041D-47E9-A0D8-20F512E86056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76;p32">
              <a:extLst>
                <a:ext uri="{FF2B5EF4-FFF2-40B4-BE49-F238E27FC236}">
                  <a16:creationId xmlns:a16="http://schemas.microsoft.com/office/drawing/2014/main" id="{361F266E-177F-8918-AB00-504A31F207D1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77;p32">
              <a:extLst>
                <a:ext uri="{FF2B5EF4-FFF2-40B4-BE49-F238E27FC236}">
                  <a16:creationId xmlns:a16="http://schemas.microsoft.com/office/drawing/2014/main" id="{4AFEABEB-3F7F-5DB8-1A08-8AE20C137A43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2791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BD7CC94-A8F1-7F89-3961-AE832FC4E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>
            <a:extLst>
              <a:ext uri="{FF2B5EF4-FFF2-40B4-BE49-F238E27FC236}">
                <a16:creationId xmlns:a16="http://schemas.microsoft.com/office/drawing/2014/main" id="{C570F752-21C9-DAFE-704A-134617C1DE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DM Sans" pitchFamily="2" charset="0"/>
              </a:rPr>
              <a:t>Provisioning and Remote Management by IoT Security Service</a:t>
            </a:r>
            <a:endParaRPr lang="en-GB" sz="2000" dirty="0">
              <a:solidFill>
                <a:schemeClr val="tx1"/>
              </a:solidFill>
              <a:latin typeface="DM Sans" pitchFamily="2" charset="0"/>
            </a:endParaRPr>
          </a:p>
        </p:txBody>
      </p:sp>
      <p:grpSp>
        <p:nvGrpSpPr>
          <p:cNvPr id="11" name="Google Shape;269;p32">
            <a:extLst>
              <a:ext uri="{FF2B5EF4-FFF2-40B4-BE49-F238E27FC236}">
                <a16:creationId xmlns:a16="http://schemas.microsoft.com/office/drawing/2014/main" id="{2C23DAFE-F39D-9C8B-630B-ACF9C1500FD5}"/>
              </a:ext>
            </a:extLst>
          </p:cNvPr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12" name="Google Shape;270;p32">
              <a:extLst>
                <a:ext uri="{FF2B5EF4-FFF2-40B4-BE49-F238E27FC236}">
                  <a16:creationId xmlns:a16="http://schemas.microsoft.com/office/drawing/2014/main" id="{8407C590-CCD0-3DE4-5AF1-001CC81A4501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71;p32">
              <a:extLst>
                <a:ext uri="{FF2B5EF4-FFF2-40B4-BE49-F238E27FC236}">
                  <a16:creationId xmlns:a16="http://schemas.microsoft.com/office/drawing/2014/main" id="{2D6E3F5A-EEC7-1DD9-1C33-C34EC6B0FC7D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72;p32">
              <a:extLst>
                <a:ext uri="{FF2B5EF4-FFF2-40B4-BE49-F238E27FC236}">
                  <a16:creationId xmlns:a16="http://schemas.microsoft.com/office/drawing/2014/main" id="{E8E80497-9F29-B113-1AA1-C894232157C6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73;p32">
              <a:extLst>
                <a:ext uri="{FF2B5EF4-FFF2-40B4-BE49-F238E27FC236}">
                  <a16:creationId xmlns:a16="http://schemas.microsoft.com/office/drawing/2014/main" id="{05BC63DF-120E-AC99-E3D3-F9E52C44CEBE}"/>
                </a:ext>
              </a:extLst>
            </p:cNvPr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74;p32">
              <a:extLst>
                <a:ext uri="{FF2B5EF4-FFF2-40B4-BE49-F238E27FC236}">
                  <a16:creationId xmlns:a16="http://schemas.microsoft.com/office/drawing/2014/main" id="{AB04849A-169C-37D1-CF8D-0FF0848245D7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75;p32">
              <a:extLst>
                <a:ext uri="{FF2B5EF4-FFF2-40B4-BE49-F238E27FC236}">
                  <a16:creationId xmlns:a16="http://schemas.microsoft.com/office/drawing/2014/main" id="{A5ACDD6A-B5F4-9601-D466-58A008A3E4DF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76;p32">
              <a:extLst>
                <a:ext uri="{FF2B5EF4-FFF2-40B4-BE49-F238E27FC236}">
                  <a16:creationId xmlns:a16="http://schemas.microsoft.com/office/drawing/2014/main" id="{E5E4BA4D-1916-3421-9311-338FBB756604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77;p32">
              <a:extLst>
                <a:ext uri="{FF2B5EF4-FFF2-40B4-BE49-F238E27FC236}">
                  <a16:creationId xmlns:a16="http://schemas.microsoft.com/office/drawing/2014/main" id="{4D189230-F267-BA0B-CF57-0EE0AF5168F9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E5AE9F7-21AE-6732-DDCA-92311DE10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937" y="1521901"/>
            <a:ext cx="5668125" cy="289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051273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Project Proposal Minitheme by Slidesgo">
  <a:themeElements>
    <a:clrScheme name="Simple Light">
      <a:dk1>
        <a:srgbClr val="FFFFFF"/>
      </a:dk1>
      <a:lt1>
        <a:srgbClr val="E0E0E0"/>
      </a:lt1>
      <a:dk2>
        <a:srgbClr val="666666"/>
      </a:dk2>
      <a:lt2>
        <a:srgbClr val="000000"/>
      </a:lt2>
      <a:accent1>
        <a:srgbClr val="96FFF3"/>
      </a:accent1>
      <a:accent2>
        <a:srgbClr val="8F1EA0"/>
      </a:accent2>
      <a:accent3>
        <a:srgbClr val="3DC6FF"/>
      </a:accent3>
      <a:accent4>
        <a:srgbClr val="2619AA"/>
      </a:accent4>
      <a:accent5>
        <a:srgbClr val="190057"/>
      </a:accent5>
      <a:accent6>
        <a:srgbClr val="F139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3993</TotalTime>
  <Words>836</Words>
  <Application>Microsoft Office PowerPoint</Application>
  <PresentationFormat>On-screen Show (16:9)</PresentationFormat>
  <Paragraphs>79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Roboto Condensed Light</vt:lpstr>
      <vt:lpstr>Arial</vt:lpstr>
      <vt:lpstr>DM Sans</vt:lpstr>
      <vt:lpstr>Oswald</vt:lpstr>
      <vt:lpstr>Calibri</vt:lpstr>
      <vt:lpstr>Technology Project Proposal Minitheme by Slidesgo</vt:lpstr>
      <vt:lpstr>IoT SAFE</vt:lpstr>
      <vt:lpstr>Introduction</vt:lpstr>
      <vt:lpstr>Key Rotation</vt:lpstr>
      <vt:lpstr>Pre-Provisioned Keys </vt:lpstr>
      <vt:lpstr>Key Derivation Mechanism </vt:lpstr>
      <vt:lpstr>HKDF (HMAC-based Extract-and-Expand Key Derivation Function)</vt:lpstr>
      <vt:lpstr>HKDF Phases</vt:lpstr>
      <vt:lpstr>HKDF Needs</vt:lpstr>
      <vt:lpstr>AES</vt:lpstr>
      <vt:lpstr>How AES Works?</vt:lpstr>
      <vt:lpstr>Which SIM Type Support AES and HKDF</vt:lpstr>
      <vt:lpstr>CBC vs GCM</vt:lpstr>
      <vt:lpstr>Provisioning and Remote Management by IoT Security Service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MohammadHosein Shafiee</cp:lastModifiedBy>
  <cp:revision>168</cp:revision>
  <dcterms:modified xsi:type="dcterms:W3CDTF">2025-02-02T04:46:59Z</dcterms:modified>
</cp:coreProperties>
</file>