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1"/>
  </p:notesMasterIdLst>
  <p:sldIdLst>
    <p:sldId id="256" r:id="rId2"/>
    <p:sldId id="257" r:id="rId3"/>
    <p:sldId id="317" r:id="rId4"/>
    <p:sldId id="336" r:id="rId5"/>
    <p:sldId id="321" r:id="rId6"/>
    <p:sldId id="320" r:id="rId7"/>
    <p:sldId id="337" r:id="rId8"/>
    <p:sldId id="339" r:id="rId9"/>
    <p:sldId id="338" r:id="rId10"/>
  </p:sldIdLst>
  <p:sldSz cx="9144000" cy="5143500" type="screen16x9"/>
  <p:notesSz cx="6858000" cy="9144000"/>
  <p:embeddedFontLst>
    <p:embeddedFont>
      <p:font typeface="DM Sans" pitchFamily="2" charset="0"/>
      <p:regular r:id="rId12"/>
      <p:bold r:id="rId13"/>
      <p:italic r:id="rId14"/>
      <p:boldItalic r:id="rId15"/>
    </p:embeddedFont>
    <p:embeddedFont>
      <p:font typeface="Oswald" panose="00000500000000000000" pitchFamily="2" charset="0"/>
      <p:regular r:id="rId16"/>
      <p:bold r:id="rId17"/>
    </p:embeddedFont>
    <p:embeddedFont>
      <p:font typeface="Roboto Condensed Light" panose="02000000000000000000" pitchFamily="2" charset="0"/>
      <p:regular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1">
          <p15:clr>
            <a:srgbClr val="9AA0A6"/>
          </p15:clr>
        </p15:guide>
        <p15:guide id="2" orient="horz" pos="733">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D5C0F-1A84-42F2-801B-3AE2B2B06C94}">
  <a:tblStyle styleId="{754D5C0F-1A84-42F2-801B-3AE2B2B06C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100" d="100"/>
          <a:sy n="100" d="100"/>
        </p:scale>
        <p:origin x="485" y="72"/>
      </p:cViewPr>
      <p:guideLst>
        <p:guide orient="horz" pos="601"/>
        <p:guide orient="horz" pos="73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e91f73e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EC15481-3480-DB05-5925-5336A61C4C0A}"/>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15A8F4A3-DB04-6E4E-C76E-B6D2B375C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C617EF3-1555-072E-FC59-1A34F7D74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6074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B5FB39C4-3CF2-1E98-E09A-01E5347A4C6D}"/>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269ED790-F082-CDEE-3230-24F2F1F0A6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6AFCF3C3-93D3-E9F1-F1E4-0BB9CF3FFE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3584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E2A241E-5EC1-35F3-22D0-7C5321C31266}"/>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304C96B2-3936-E24D-8AA0-B9080D62C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F10DDD9B-4E42-0FD9-E3EB-F69F0DAA9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481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DCA88F09-E1CF-6DAC-614B-7A08E7174FD8}"/>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07555F21-442A-3582-2481-C882C3D2F8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8D80015-289F-164D-00A3-FBCD3F43E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3181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0A8F7A07-AA7A-A516-4FAA-64A1C9B04F77}"/>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CAF304F0-3362-595F-5D7B-ABF06CEE71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AB32C080-9C62-4B77-4755-612C492B5D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4864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5"/>
            </a:gs>
            <a:gs pos="48000">
              <a:schemeClr val="accent4"/>
            </a:gs>
            <a:gs pos="100000">
              <a:schemeClr val="accent2"/>
            </a:gs>
          </a:gsLst>
          <a:lin ang="26986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4900"/>
              <a:buNone/>
              <a:defRPr sz="5000">
                <a:solidFill>
                  <a:schemeClr val="dk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995250"/>
            <a:ext cx="4359000" cy="409500"/>
          </a:xfrm>
          <a:prstGeom prst="rect">
            <a:avLst/>
          </a:prstGeom>
          <a:noFill/>
          <a:ln>
            <a:noFill/>
          </a:ln>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9pPr>
          </a:lstStyle>
          <a:p>
            <a:endParaRPr/>
          </a:p>
        </p:txBody>
      </p:sp>
      <p:grpSp>
        <p:nvGrpSpPr>
          <p:cNvPr id="11" name="Google Shape;11;p2"/>
          <p:cNvGrpSpPr/>
          <p:nvPr/>
        </p:nvGrpSpPr>
        <p:grpSpPr>
          <a:xfrm rot="5400000">
            <a:off x="7002555" y="-662466"/>
            <a:ext cx="1673084" cy="3614193"/>
            <a:chOff x="7350442" y="2608992"/>
            <a:chExt cx="777239" cy="1673160"/>
          </a:xfrm>
        </p:grpSpPr>
        <p:sp>
          <p:nvSpPr>
            <p:cNvPr id="12" name="Google Shape;12;p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
        <p:cNvGrpSpPr/>
        <p:nvPr/>
      </p:nvGrpSpPr>
      <p:grpSpPr>
        <a:xfrm>
          <a:off x="0" y="0"/>
          <a:ext cx="0" cy="0"/>
          <a:chOff x="0" y="0"/>
          <a:chExt cx="0" cy="0"/>
        </a:xfrm>
      </p:grpSpPr>
      <p:sp>
        <p:nvSpPr>
          <p:cNvPr id="43" name="Google Shape;43;p4"/>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 name="Google Shape;44;p4"/>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lvl1pPr>
            <a:lvl2pPr marL="914400" lvl="1" indent="-304800" rtl="0">
              <a:lnSpc>
                <a:spcPct val="115000"/>
              </a:lnSpc>
              <a:spcBef>
                <a:spcPts val="0"/>
              </a:spcBef>
              <a:spcAft>
                <a:spcPts val="0"/>
              </a:spcAft>
              <a:buClr>
                <a:srgbClr val="434343"/>
              </a:buClr>
              <a:buSzPts val="1200"/>
              <a:buFont typeface="Roboto Condensed Light"/>
              <a:buAutoNum type="alphaLcPeriod"/>
              <a:defRPr/>
            </a:lvl2pPr>
            <a:lvl3pPr marL="1371600" lvl="2" indent="-304800" rtl="0">
              <a:lnSpc>
                <a:spcPct val="115000"/>
              </a:lnSpc>
              <a:spcBef>
                <a:spcPts val="0"/>
              </a:spcBef>
              <a:spcAft>
                <a:spcPts val="0"/>
              </a:spcAft>
              <a:buClr>
                <a:srgbClr val="434343"/>
              </a:buClr>
              <a:buSzPts val="1200"/>
              <a:buFont typeface="Roboto Condensed Light"/>
              <a:buAutoNum type="romanLcPeriod"/>
              <a:defRPr/>
            </a:lvl3pPr>
            <a:lvl4pPr marL="1828800" lvl="3" indent="-304800" rtl="0">
              <a:lnSpc>
                <a:spcPct val="115000"/>
              </a:lnSpc>
              <a:spcBef>
                <a:spcPts val="0"/>
              </a:spcBef>
              <a:spcAft>
                <a:spcPts val="0"/>
              </a:spcAft>
              <a:buClr>
                <a:srgbClr val="434343"/>
              </a:buClr>
              <a:buSzPts val="1200"/>
              <a:buFont typeface="Roboto Condensed Light"/>
              <a:buAutoNum type="arabicPeriod"/>
              <a:defRPr/>
            </a:lvl4pPr>
            <a:lvl5pPr marL="2286000" lvl="4" indent="-304800" rtl="0">
              <a:lnSpc>
                <a:spcPct val="115000"/>
              </a:lnSpc>
              <a:spcBef>
                <a:spcPts val="0"/>
              </a:spcBef>
              <a:spcAft>
                <a:spcPts val="0"/>
              </a:spcAft>
              <a:buClr>
                <a:srgbClr val="434343"/>
              </a:buClr>
              <a:buSzPts val="1200"/>
              <a:buFont typeface="Roboto Condensed Light"/>
              <a:buAutoNum type="alphaLcPeriod"/>
              <a:defRPr/>
            </a:lvl5pPr>
            <a:lvl6pPr marL="2743200" lvl="5" indent="-304800" rtl="0">
              <a:lnSpc>
                <a:spcPct val="115000"/>
              </a:lnSpc>
              <a:spcBef>
                <a:spcPts val="0"/>
              </a:spcBef>
              <a:spcAft>
                <a:spcPts val="0"/>
              </a:spcAft>
              <a:buClr>
                <a:srgbClr val="434343"/>
              </a:buClr>
              <a:buSzPts val="1200"/>
              <a:buFont typeface="Roboto Condensed Light"/>
              <a:buAutoNum type="romanLcPeriod"/>
              <a:defRPr/>
            </a:lvl6pPr>
            <a:lvl7pPr marL="3200400" lvl="6" indent="-304800" rtl="0">
              <a:lnSpc>
                <a:spcPct val="115000"/>
              </a:lnSpc>
              <a:spcBef>
                <a:spcPts val="0"/>
              </a:spcBef>
              <a:spcAft>
                <a:spcPts val="0"/>
              </a:spcAft>
              <a:buClr>
                <a:srgbClr val="434343"/>
              </a:buClr>
              <a:buSzPts val="1200"/>
              <a:buFont typeface="Roboto Condensed Light"/>
              <a:buAutoNum type="arabicPeriod"/>
              <a:defRPr/>
            </a:lvl7pPr>
            <a:lvl8pPr marL="3657600" lvl="7" indent="-304800" rtl="0">
              <a:lnSpc>
                <a:spcPct val="115000"/>
              </a:lnSpc>
              <a:spcBef>
                <a:spcPts val="0"/>
              </a:spcBef>
              <a:spcAft>
                <a:spcPts val="0"/>
              </a:spcAft>
              <a:buClr>
                <a:srgbClr val="434343"/>
              </a:buClr>
              <a:buSzPts val="1200"/>
              <a:buFont typeface="Roboto Condensed Light"/>
              <a:buAutoNum type="alphaLcPeriod"/>
              <a:defRPr/>
            </a:lvl8pPr>
            <a:lvl9pPr marL="4114800" lvl="8" indent="-304800" rtl="0">
              <a:lnSpc>
                <a:spcPct val="115000"/>
              </a:lnSpc>
              <a:spcBef>
                <a:spcPts val="0"/>
              </a:spcBef>
              <a:spcAft>
                <a:spcPts val="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2916875" y="1499525"/>
            <a:ext cx="3357900" cy="576000"/>
          </a:xfrm>
          <a:prstGeom prst="rect">
            <a:avLst/>
          </a:prstGeom>
        </p:spPr>
        <p:txBody>
          <a:bodyPr spcFirstLastPara="1" wrap="square" lIns="0" tIns="0" rIns="0" bIns="0" anchor="ctr" anchorCtr="0">
            <a:noAutofit/>
          </a:bodyPr>
          <a:lstStyle>
            <a:lvl1pPr lvl="0" algn="ctr"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69" name="Google Shape;69;p9"/>
          <p:cNvSpPr txBox="1">
            <a:spLocks noGrp="1"/>
          </p:cNvSpPr>
          <p:nvPr>
            <p:ph type="subTitle" idx="1"/>
          </p:nvPr>
        </p:nvSpPr>
        <p:spPr>
          <a:xfrm>
            <a:off x="2916875" y="2308375"/>
            <a:ext cx="3357900" cy="1335600"/>
          </a:xfrm>
          <a:prstGeom prst="rect">
            <a:avLst/>
          </a:prstGeom>
          <a:noFill/>
          <a:ln>
            <a:noFill/>
          </a:ln>
        </p:spPr>
        <p:txBody>
          <a:bodyPr spcFirstLastPara="1" wrap="square" lIns="0" tIns="0" rIns="0" bIns="0" anchor="ctr" anchorCtr="0">
            <a:noAutofit/>
          </a:bodyPr>
          <a:lstStyle>
            <a:lvl1pPr lvl="0" algn="ctr" rtl="0">
              <a:lnSpc>
                <a:spcPct val="100000"/>
              </a:lnSpc>
              <a:spcBef>
                <a:spcPts val="0"/>
              </a:spcBef>
              <a:spcAft>
                <a:spcPts val="0"/>
              </a:spcAft>
              <a:buClr>
                <a:schemeClr val="dk1"/>
              </a:buClr>
              <a:buSzPts val="2400"/>
              <a:buFont typeface="DM Sans"/>
              <a:buNone/>
              <a:defRPr sz="1600">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BLANK_1_1_1_1_1_1_1_1_1_1_1">
    <p:bg>
      <p:bgPr>
        <a:gradFill>
          <a:gsLst>
            <a:gs pos="0">
              <a:schemeClr val="accent3"/>
            </a:gs>
            <a:gs pos="44000">
              <a:schemeClr val="accent4"/>
            </a:gs>
            <a:gs pos="100000">
              <a:schemeClr val="accent5"/>
            </a:gs>
          </a:gsLst>
          <a:lin ang="2698631" scaled="0"/>
        </a:gradFill>
        <a:effectLst/>
      </p:bgPr>
    </p:bg>
    <p:spTree>
      <p:nvGrpSpPr>
        <p:cNvPr id="1" name="Shape 21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BLANK_1_1_1_1_1_1_1_1_1_1_1_2">
    <p:bg>
      <p:bgPr>
        <a:gradFill>
          <a:gsLst>
            <a:gs pos="0">
              <a:schemeClr val="accent2"/>
            </a:gs>
            <a:gs pos="36000">
              <a:schemeClr val="accent4"/>
            </a:gs>
            <a:gs pos="100000">
              <a:schemeClr val="accent4"/>
            </a:gs>
          </a:gsLst>
          <a:lin ang="2698631" scaled="0"/>
        </a:gradFill>
        <a:effectLst/>
      </p:bgPr>
    </p:bg>
    <p:spTree>
      <p:nvGrpSpPr>
        <p:cNvPr id="1" name="Shape 2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5"/>
            </a:gs>
            <a:gs pos="48000">
              <a:schemeClr val="accent4"/>
            </a:gs>
            <a:gs pos="100000">
              <a:schemeClr val="accen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496"/>
            <a:ext cx="7708500" cy="57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3400"/>
              <a:buFont typeface="Oswald"/>
              <a:buNone/>
              <a:defRPr sz="3400">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71" r:id="rId5"/>
    <p:sldLayoutId id="214748367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solidFill>
                  <a:schemeClr val="accent1"/>
                </a:solidFill>
              </a:rPr>
              <a:t>IoT SAFE</a:t>
            </a:r>
            <a:endParaRPr dirty="0"/>
          </a:p>
        </p:txBody>
      </p:sp>
      <p:sp>
        <p:nvSpPr>
          <p:cNvPr id="230" name="Google Shape;230;p30"/>
          <p:cNvSpPr txBox="1">
            <a:spLocks noGrp="1"/>
          </p:cNvSpPr>
          <p:nvPr>
            <p:ph type="subTitle" idx="1"/>
          </p:nvPr>
        </p:nvSpPr>
        <p:spPr>
          <a:xfrm>
            <a:off x="713225" y="3995250"/>
            <a:ext cx="4359000" cy="40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1400" dirty="0"/>
              <a:t>Researcher:  Mohammad Hossein Shafiee</a:t>
            </a:r>
            <a:br>
              <a:rPr lang="en-US" sz="1400" dirty="0"/>
            </a:br>
            <a:endParaRPr dirty="0"/>
          </a:p>
        </p:txBody>
      </p:sp>
      <p:pic>
        <p:nvPicPr>
          <p:cNvPr id="231" name="Google Shape;231;p30"/>
          <p:cNvPicPr preferRelativeResize="0"/>
          <p:nvPr/>
        </p:nvPicPr>
        <p:blipFill>
          <a:blip r:embed="rId3">
            <a:alphaModFix/>
          </a:blip>
          <a:stretch>
            <a:fillRect/>
          </a:stretch>
        </p:blipFill>
        <p:spPr>
          <a:xfrm>
            <a:off x="4463625" y="0"/>
            <a:ext cx="4392392"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Introduction</a:t>
            </a:r>
            <a:endParaRPr dirty="0">
              <a:solidFill>
                <a:schemeClr val="accent1"/>
              </a:solidFill>
            </a:endParaRPr>
          </a:p>
        </p:txBody>
      </p:sp>
      <p:sp>
        <p:nvSpPr>
          <p:cNvPr id="237" name="Google Shape;237;p31"/>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sz="1400" dirty="0"/>
              <a:t>In this lecture, we will delve into the foundational elements of securing Internet of Things (IoT) applications through key cryptographic techniques outlined in the GSM Association’s “IoT.04 - Common Implementation Guide.” This guide underscores the use of SIM technology as a ‘Root of Trust’ for enhancing IoT security. We will explore the processes of key generation and Key Derivation Functions (KDF), both crucial for developing secure cryptographic keys, alongside the Advanced Encryption Standard (AES), a vital encryption protocol ensuring data confidentiality. Furthermore, practical scenarios will illustrate the IoT SAFE flow, showcasing how entities like </a:t>
            </a:r>
            <a:r>
              <a:rPr lang="en-US" sz="1400" dirty="0" err="1"/>
              <a:t>MeterCo</a:t>
            </a:r>
            <a:r>
              <a:rPr lang="en-US" sz="1400" dirty="0"/>
              <a:t>, </a:t>
            </a:r>
            <a:r>
              <a:rPr lang="en-US" sz="1400" dirty="0" err="1"/>
              <a:t>SIMco</a:t>
            </a:r>
            <a:r>
              <a:rPr lang="en-US" sz="1400" dirty="0"/>
              <a:t>, and </a:t>
            </a:r>
            <a:r>
              <a:rPr lang="en-US" sz="1400" dirty="0" err="1"/>
              <a:t>EnergyCo</a:t>
            </a:r>
            <a:r>
              <a:rPr lang="en-US" sz="1400" dirty="0"/>
              <a:t> use secure elements and key management to maintain secure communications in IoT environments. Through this comprehensive framework, we gain insights into leveraging existing infrastructure to fortify IoT systems against modern cybersecurity threats.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542F4B9-F781-B727-B465-A0048C1EBAD8}"/>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A6C678A-A1F8-38A1-DA85-4D8284E384F2}"/>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Key Generation</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C7EE62A3-351E-C6AF-8D2E-1F7AE0302839}"/>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Choosing Key Size</a:t>
            </a:r>
            <a:endParaRPr lang="en-US" sz="1600" i="0" dirty="0">
              <a:solidFill>
                <a:schemeClr val="tx1"/>
              </a:solidFill>
              <a:effectLst/>
              <a:latin typeface="DM Sans" pitchFamily="2" charset="0"/>
            </a:endParaRPr>
          </a:p>
          <a:p>
            <a:pPr indent="-317500">
              <a:lnSpc>
                <a:spcPct val="150000"/>
              </a:lnSpc>
              <a:buSzPts val="1400"/>
              <a:buFont typeface="DM Sans"/>
              <a:buChar char="⏣"/>
            </a:pPr>
            <a:r>
              <a:rPr lang="en-US" sz="1600" dirty="0"/>
              <a:t>Key Generation Methods</a:t>
            </a:r>
          </a:p>
          <a:p>
            <a:pPr lvl="1" indent="-317500">
              <a:lnSpc>
                <a:spcPct val="150000"/>
              </a:lnSpc>
              <a:buSzPts val="1400"/>
              <a:buFont typeface="DM Sans"/>
              <a:buChar char="⏣"/>
            </a:pPr>
            <a:r>
              <a:rPr lang="en-US" sz="1600" dirty="0"/>
              <a:t>Random Key Generation</a:t>
            </a:r>
          </a:p>
          <a:p>
            <a:pPr lvl="1" indent="-317500">
              <a:lnSpc>
                <a:spcPct val="150000"/>
              </a:lnSpc>
              <a:buSzPts val="1400"/>
              <a:buFont typeface="DM Sans"/>
              <a:buChar char="⏣"/>
            </a:pPr>
            <a:r>
              <a:rPr lang="en-US" sz="1600" dirty="0"/>
              <a:t>Password-Based Key Generation like PBKDF2, </a:t>
            </a:r>
            <a:r>
              <a:rPr lang="en-US" sz="1600" dirty="0" err="1"/>
              <a:t>bcrypt</a:t>
            </a:r>
            <a:r>
              <a:rPr lang="en-US" sz="1600" dirty="0"/>
              <a:t>, </a:t>
            </a:r>
            <a:r>
              <a:rPr lang="en-US" sz="1600" dirty="0" err="1"/>
              <a:t>scrypt</a:t>
            </a:r>
            <a:r>
              <a:rPr lang="en-US" sz="1600" dirty="0"/>
              <a:t> or HKDF.</a:t>
            </a:r>
            <a:br>
              <a:rPr lang="en-US" sz="1800" dirty="0">
                <a:latin typeface="DM Sans" pitchFamily="2" charset="0"/>
              </a:rPr>
            </a:br>
            <a:endParaRPr lang="en-US" sz="1800" dirty="0">
              <a:latin typeface="DM Sans" pitchFamily="2" charset="0"/>
            </a:endParaRPr>
          </a:p>
        </p:txBody>
      </p:sp>
      <p:grpSp>
        <p:nvGrpSpPr>
          <p:cNvPr id="11" name="Google Shape;269;p32">
            <a:extLst>
              <a:ext uri="{FF2B5EF4-FFF2-40B4-BE49-F238E27FC236}">
                <a16:creationId xmlns:a16="http://schemas.microsoft.com/office/drawing/2014/main" id="{46E54906-2B58-9B2C-EBFB-B57ED96F0340}"/>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FC5173A9-1F29-9448-C24C-8D8A09B9E08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718FA00-8E04-E085-3471-88BDE526BA27}"/>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0F9A90AC-944A-FCF0-67D2-E776C637E59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9CAD0407-9724-BF9D-371F-04915AEDC704}"/>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434A74EA-7BAC-4E17-0BBD-75F959E3079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8743377E-A45E-806D-668A-7DC76BFAD7DB}"/>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C349479-5664-7588-74C8-B6443735E5C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63BC54BE-0C35-FA87-2B23-29036326CAD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94228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339B6834-8BF1-DD66-EFED-72E4DF17778B}"/>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1245891-7A83-1631-E821-20F5284940E7}"/>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dirty="0">
                <a:solidFill>
                  <a:schemeClr val="tx1"/>
                </a:solidFill>
                <a:latin typeface="DM Sans" pitchFamily="2" charset="0"/>
              </a:rPr>
              <a:t>R</a:t>
            </a:r>
            <a:r>
              <a:rPr lang="en-US" dirty="0" err="1">
                <a:solidFill>
                  <a:schemeClr val="tx1"/>
                </a:solidFill>
                <a:latin typeface="DM Sans" pitchFamily="2" charset="0"/>
              </a:rPr>
              <a:t>andom</a:t>
            </a:r>
            <a:r>
              <a:rPr lang="en-US" dirty="0">
                <a:solidFill>
                  <a:schemeClr val="tx1"/>
                </a:solidFill>
                <a:latin typeface="DM Sans" pitchFamily="2" charset="0"/>
              </a:rPr>
              <a:t> Key Generation</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2471BB27-17D7-D6AC-4F6D-CFC394411B1C}"/>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i="0" dirty="0">
                <a:solidFill>
                  <a:schemeClr val="tx1"/>
                </a:solidFill>
                <a:effectLst/>
                <a:latin typeface="DM Sans" pitchFamily="2" charset="0"/>
              </a:rPr>
              <a:t>Statistical </a:t>
            </a:r>
            <a:r>
              <a:rPr lang="en-US" sz="1600" dirty="0" err="1">
                <a:solidFill>
                  <a:schemeClr val="tx1"/>
                </a:solidFill>
                <a:latin typeface="DM Sans" pitchFamily="2" charset="0"/>
              </a:rPr>
              <a:t>Independece</a:t>
            </a:r>
            <a:endParaRPr lang="en-US" sz="1600" i="0" dirty="0">
              <a:solidFill>
                <a:schemeClr val="tx1"/>
              </a:solidFill>
              <a:effectLst/>
              <a:latin typeface="DM Sans" pitchFamily="2" charset="0"/>
            </a:endParaRPr>
          </a:p>
          <a:p>
            <a:pPr indent="-317500">
              <a:lnSpc>
                <a:spcPct val="150000"/>
              </a:lnSpc>
              <a:buSzPts val="1400"/>
              <a:buFont typeface="DM Sans"/>
              <a:buChar char="⏣"/>
            </a:pPr>
            <a:r>
              <a:rPr lang="en-US" sz="1600" dirty="0"/>
              <a:t>Uniform Distribution</a:t>
            </a:r>
          </a:p>
          <a:p>
            <a:pPr indent="-317500">
              <a:lnSpc>
                <a:spcPct val="150000"/>
              </a:lnSpc>
              <a:buSzPts val="1400"/>
              <a:buFont typeface="DM Sans"/>
              <a:buChar char="⏣"/>
            </a:pPr>
            <a:r>
              <a:rPr lang="en-US" sz="1600" dirty="0">
                <a:latin typeface="DM Sans" pitchFamily="2" charset="0"/>
              </a:rPr>
              <a:t>Unpredictability</a:t>
            </a:r>
            <a:br>
              <a:rPr lang="en-US" sz="1800" dirty="0">
                <a:latin typeface="DM Sans" pitchFamily="2" charset="0"/>
              </a:rPr>
            </a:br>
            <a:endParaRPr lang="en-US" sz="1800" dirty="0">
              <a:latin typeface="DM Sans" pitchFamily="2" charset="0"/>
            </a:endParaRPr>
          </a:p>
        </p:txBody>
      </p:sp>
      <p:grpSp>
        <p:nvGrpSpPr>
          <p:cNvPr id="11" name="Google Shape;269;p32">
            <a:extLst>
              <a:ext uri="{FF2B5EF4-FFF2-40B4-BE49-F238E27FC236}">
                <a16:creationId xmlns:a16="http://schemas.microsoft.com/office/drawing/2014/main" id="{778D7A43-A053-08AE-741B-A3E148779E8A}"/>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7DFB2801-F1D5-B64E-9E83-0F16E6809F6A}"/>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56C0D41-93D6-D1ED-7211-C1278FF90CB3}"/>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6E04950B-5D4F-3D88-4658-0F0966B2E4AA}"/>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DB420A6E-454D-1385-6F06-2EE50A384D1B}"/>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CD0262F5-B3FF-5CA3-5132-0D44130A7E47}"/>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1ACDA128-EBC7-57CC-C4F0-CFDF4B312239}"/>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9CD5782-CBE8-9D2F-0E76-A11040ACBC20}"/>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20B01376-10E3-79FE-5673-17666FE1A69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072849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0F64FC0B-5E61-7D13-B485-430C21C883C9}"/>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5558E18-373E-8694-4BEB-479CED18632B}"/>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200" i="0" dirty="0">
                <a:solidFill>
                  <a:schemeClr val="tx1"/>
                </a:solidFill>
                <a:effectLst/>
                <a:latin typeface="Oswald" panose="00000500000000000000" pitchFamily="2" charset="0"/>
              </a:rPr>
              <a:t>HKDF (</a:t>
            </a:r>
            <a:r>
              <a:rPr lang="en-US" sz="2200" dirty="0"/>
              <a:t>HMAC-based Extract-and-Expand Key Derivation Function)</a:t>
            </a:r>
            <a:endParaRPr sz="2200" dirty="0">
              <a:solidFill>
                <a:schemeClr val="accent1"/>
              </a:solidFill>
            </a:endParaRPr>
          </a:p>
        </p:txBody>
      </p:sp>
      <p:sp>
        <p:nvSpPr>
          <p:cNvPr id="237" name="Google Shape;237;p31">
            <a:extLst>
              <a:ext uri="{FF2B5EF4-FFF2-40B4-BE49-F238E27FC236}">
                <a16:creationId xmlns:a16="http://schemas.microsoft.com/office/drawing/2014/main" id="{57493171-D71B-5E95-D051-90B7DBE2DA2D}"/>
              </a:ext>
            </a:extLst>
          </p:cNvPr>
          <p:cNvSpPr txBox="1">
            <a:spLocks noGrp="1"/>
          </p:cNvSpPr>
          <p:nvPr>
            <p:ph type="body" idx="1"/>
          </p:nvPr>
        </p:nvSpPr>
        <p:spPr>
          <a:xfrm>
            <a:off x="918120" y="1241740"/>
            <a:ext cx="7704000" cy="3496500"/>
          </a:xfrm>
          <a:prstGeom prst="rect">
            <a:avLst/>
          </a:prstGeom>
        </p:spPr>
        <p:txBody>
          <a:bodyPr spcFirstLastPara="1" wrap="square" lIns="91425" tIns="91425" rIns="91425" bIns="91425" anchor="t" anchorCtr="0">
            <a:noAutofit/>
          </a:bodyPr>
          <a:lstStyle/>
          <a:p>
            <a:pPr marL="152400" indent="0">
              <a:buNone/>
            </a:pPr>
            <a:r>
              <a:rPr lang="en-US" dirty="0"/>
              <a:t>HMAC-based Extract-and-Expand Key Derivation Function (HKDF) is a method used to derive keys from a source of initial key material. It is designed to split, expand, or transform a given key into several additional cryptographic keys, each suitable for specific cryptographic operations. HKDF is widely used in protocols like TLS and various other security systems.</a:t>
            </a:r>
            <a:endParaRPr lang="en-US" dirty="0">
              <a:solidFill>
                <a:schemeClr val="tx1"/>
              </a:solidFill>
              <a:latin typeface="DM Sans" pitchFamily="2" charset="0"/>
            </a:endParaRPr>
          </a:p>
        </p:txBody>
      </p:sp>
      <p:pic>
        <p:nvPicPr>
          <p:cNvPr id="2" name="Picture 1">
            <a:extLst>
              <a:ext uri="{FF2B5EF4-FFF2-40B4-BE49-F238E27FC236}">
                <a16:creationId xmlns:a16="http://schemas.microsoft.com/office/drawing/2014/main" id="{FAA2E594-9AC3-B938-A97B-AA4583FCC69D}"/>
              </a:ext>
            </a:extLst>
          </p:cNvPr>
          <p:cNvPicPr>
            <a:picLocks noChangeAspect="1"/>
          </p:cNvPicPr>
          <p:nvPr/>
        </p:nvPicPr>
        <p:blipFill>
          <a:blip r:embed="rId3"/>
          <a:stretch>
            <a:fillRect/>
          </a:stretch>
        </p:blipFill>
        <p:spPr>
          <a:xfrm>
            <a:off x="2320156" y="2452316"/>
            <a:ext cx="4503688" cy="2346133"/>
          </a:xfrm>
          <a:prstGeom prst="rect">
            <a:avLst/>
          </a:prstGeom>
        </p:spPr>
      </p:pic>
    </p:spTree>
    <p:extLst>
      <p:ext uri="{BB962C8B-B14F-4D97-AF65-F5344CB8AC3E}">
        <p14:creationId xmlns:p14="http://schemas.microsoft.com/office/powerpoint/2010/main" val="348813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838AC-3014-4A61-9E3B-8C5361B32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9EE0A-EBE5-C8BD-5704-A435384F7B09}"/>
              </a:ext>
            </a:extLst>
          </p:cNvPr>
          <p:cNvSpPr>
            <a:spLocks noGrp="1"/>
          </p:cNvSpPr>
          <p:nvPr>
            <p:ph type="title"/>
          </p:nvPr>
        </p:nvSpPr>
        <p:spPr/>
        <p:txBody>
          <a:bodyPr/>
          <a:lstStyle/>
          <a:p>
            <a:r>
              <a:rPr lang="en-US" i="0" dirty="0">
                <a:solidFill>
                  <a:schemeClr val="tx1"/>
                </a:solidFill>
                <a:effectLst/>
                <a:latin typeface="Oswald" panose="00000500000000000000" pitchFamily="2" charset="0"/>
              </a:rPr>
              <a:t>HKDF Phases</a:t>
            </a:r>
            <a:endParaRPr lang="en-US" dirty="0">
              <a:solidFill>
                <a:schemeClr val="tx1"/>
              </a:solidFill>
              <a:latin typeface="Oswald" panose="00000500000000000000" pitchFamily="2" charset="0"/>
            </a:endParaRPr>
          </a:p>
        </p:txBody>
      </p:sp>
      <p:sp>
        <p:nvSpPr>
          <p:cNvPr id="6" name="TextBox 5">
            <a:extLst>
              <a:ext uri="{FF2B5EF4-FFF2-40B4-BE49-F238E27FC236}">
                <a16:creationId xmlns:a16="http://schemas.microsoft.com/office/drawing/2014/main" id="{0C2E2B95-3F79-EA0A-36BB-C146601B4A6F}"/>
              </a:ext>
            </a:extLst>
          </p:cNvPr>
          <p:cNvSpPr txBox="1"/>
          <p:nvPr/>
        </p:nvSpPr>
        <p:spPr>
          <a:xfrm>
            <a:off x="491490" y="1340480"/>
            <a:ext cx="8161020" cy="3139321"/>
          </a:xfrm>
          <a:prstGeom prst="rect">
            <a:avLst/>
          </a:prstGeom>
          <a:noFill/>
        </p:spPr>
        <p:txBody>
          <a:bodyPr wrap="square" rtlCol="0">
            <a:spAutoFit/>
          </a:bodyPr>
          <a:lstStyle/>
          <a:p>
            <a:pPr marL="171450" indent="-171450">
              <a:buClr>
                <a:schemeClr val="tx1"/>
              </a:buClr>
              <a:buFont typeface="Arial" panose="020B0604020202020204" pitchFamily="34" charset="0"/>
              <a:buChar char="•"/>
            </a:pPr>
            <a:r>
              <a:rPr lang="en-US" sz="1100" dirty="0">
                <a:solidFill>
                  <a:schemeClr val="tx1"/>
                </a:solidFill>
              </a:rPr>
              <a:t>Extract Phase:</a:t>
            </a:r>
          </a:p>
          <a:p>
            <a:pPr marL="742950" lvl="1" indent="-285750">
              <a:buClr>
                <a:schemeClr val="tx1"/>
              </a:buClr>
              <a:buFont typeface="Arial" panose="020B0604020202020204" pitchFamily="34" charset="0"/>
              <a:buChar char="•"/>
            </a:pPr>
            <a:r>
              <a:rPr lang="en-US" sz="1100" dirty="0">
                <a:solidFill>
                  <a:schemeClr val="tx1"/>
                </a:solidFill>
              </a:rPr>
              <a:t>Purpose: This phase extracts randomness from the initial key material to produce a fixed-length pseudorandom key.</a:t>
            </a:r>
          </a:p>
          <a:p>
            <a:pPr marL="742950" lvl="1" indent="-285750">
              <a:buClr>
                <a:schemeClr val="tx1"/>
              </a:buClr>
              <a:buFont typeface="Arial" panose="020B0604020202020204" pitchFamily="34" charset="0"/>
              <a:buChar char="•"/>
            </a:pPr>
            <a:r>
              <a:rPr lang="en-US" sz="1100" dirty="0">
                <a:solidFill>
                  <a:schemeClr val="tx1"/>
                </a:solidFill>
              </a:rPr>
              <a:t>Method: Uses a Hash-based Message Authentication Code (HMAC) to process the initial keying material together with an optional salt (a non-secret random value).</a:t>
            </a:r>
          </a:p>
          <a:p>
            <a:pPr marL="742950" lvl="1" indent="-285750">
              <a:buClr>
                <a:schemeClr val="tx1"/>
              </a:buClr>
              <a:buFont typeface="Arial" panose="020B0604020202020204" pitchFamily="34" charset="0"/>
              <a:buChar char="•"/>
            </a:pPr>
            <a:r>
              <a:rPr lang="en-US" sz="1100" dirty="0">
                <a:solidFill>
                  <a:schemeClr val="tx1"/>
                </a:solidFill>
              </a:rPr>
              <a:t>Output: A pseudorandom key (PRK), which can then be used in the expand phase.</a:t>
            </a:r>
          </a:p>
          <a:p>
            <a:pPr marL="742950" lvl="1" indent="-285750">
              <a:buClr>
                <a:schemeClr val="tx1"/>
              </a:buClr>
              <a:buFont typeface="Arial" panose="020B0604020202020204" pitchFamily="34" charset="0"/>
              <a:buChar char="•"/>
            </a:pPr>
            <a:r>
              <a:rPr lang="en-US" sz="1100" dirty="0">
                <a:solidFill>
                  <a:schemeClr val="tx1"/>
                </a:solidFill>
              </a:rPr>
              <a:t>PRK is the pseudorandom key.</a:t>
            </a:r>
          </a:p>
          <a:p>
            <a:pPr marL="742950" lvl="1" indent="-285750">
              <a:buClr>
                <a:schemeClr val="tx1"/>
              </a:buClr>
              <a:buFont typeface="Arial" panose="020B0604020202020204" pitchFamily="34" charset="0"/>
              <a:buChar char="•"/>
            </a:pPr>
            <a:r>
              <a:rPr lang="en-US" sz="1100" dirty="0">
                <a:solidFill>
                  <a:schemeClr val="tx1"/>
                </a:solidFill>
              </a:rPr>
              <a:t>HMAC is the HMAC function using a chosen hash algorithm (e.g., SHA-256).</a:t>
            </a:r>
          </a:p>
          <a:p>
            <a:pPr marL="742950" lvl="1" indent="-285750">
              <a:buClr>
                <a:schemeClr val="tx1"/>
              </a:buClr>
              <a:buFont typeface="Arial" panose="020B0604020202020204" pitchFamily="34" charset="0"/>
              <a:buChar char="•"/>
            </a:pPr>
            <a:r>
              <a:rPr lang="en-US" sz="1100" dirty="0">
                <a:solidFill>
                  <a:schemeClr val="tx1"/>
                </a:solidFill>
              </a:rPr>
              <a:t>Salt is an optional but highly recommended random value.</a:t>
            </a:r>
          </a:p>
          <a:p>
            <a:pPr marL="742950" lvl="1" indent="-285750">
              <a:buClr>
                <a:schemeClr val="tx1"/>
              </a:buClr>
              <a:buFont typeface="Arial" panose="020B0604020202020204" pitchFamily="34" charset="0"/>
              <a:buChar char="•"/>
            </a:pPr>
            <a:r>
              <a:rPr lang="en-US" sz="1100" dirty="0">
                <a:solidFill>
                  <a:schemeClr val="tx1"/>
                </a:solidFill>
              </a:rPr>
              <a:t>IKM is the initial key material.</a:t>
            </a:r>
          </a:p>
          <a:p>
            <a:pPr marL="171450" indent="-171450">
              <a:buClr>
                <a:schemeClr val="tx1"/>
              </a:buClr>
              <a:buFont typeface="Arial" panose="020B0604020202020204" pitchFamily="34" charset="0"/>
              <a:buChar char="•"/>
            </a:pPr>
            <a:r>
              <a:rPr lang="en-US" sz="1100" dirty="0">
                <a:solidFill>
                  <a:schemeClr val="tx1"/>
                </a:solidFill>
              </a:rPr>
              <a:t>Expand Phase:</a:t>
            </a:r>
          </a:p>
          <a:p>
            <a:pPr marL="742950" lvl="1" indent="-285750">
              <a:buClr>
                <a:schemeClr val="tx1"/>
              </a:buClr>
              <a:buFont typeface="Arial" panose="020B0604020202020204" pitchFamily="34" charset="0"/>
              <a:buChar char="•"/>
            </a:pPr>
            <a:r>
              <a:rPr lang="en-US" sz="1100" dirty="0">
                <a:solidFill>
                  <a:schemeClr val="tx1"/>
                </a:solidFill>
              </a:rPr>
              <a:t>Purpose: Expands the pseudorandom key into multiple cryptographic keys.</a:t>
            </a:r>
          </a:p>
          <a:p>
            <a:pPr marL="742950" lvl="1" indent="-285750">
              <a:buClr>
                <a:schemeClr val="tx1"/>
              </a:buClr>
              <a:buFont typeface="Arial" panose="020B0604020202020204" pitchFamily="34" charset="0"/>
              <a:buChar char="•"/>
            </a:pPr>
            <a:r>
              <a:rPr lang="en-US" sz="1100" dirty="0">
                <a:solidFill>
                  <a:schemeClr val="tx1"/>
                </a:solidFill>
              </a:rPr>
              <a:t>Method: Uses the PRK and additional context information (info) to derive a series of output keys of desired length.</a:t>
            </a:r>
          </a:p>
          <a:p>
            <a:pPr marL="742950" lvl="1" indent="-285750">
              <a:buClr>
                <a:schemeClr val="tx1"/>
              </a:buClr>
              <a:buFont typeface="Arial" panose="020B0604020202020204" pitchFamily="34" charset="0"/>
              <a:buChar char="•"/>
            </a:pPr>
            <a:r>
              <a:rPr lang="en-US" sz="1100" dirty="0">
                <a:solidFill>
                  <a:schemeClr val="tx1"/>
                </a:solidFill>
              </a:rPr>
              <a:t>Output: The derived keys are used in cryptographic operations.</a:t>
            </a:r>
          </a:p>
          <a:p>
            <a:pPr marL="742950" lvl="1" indent="-285750">
              <a:buClr>
                <a:schemeClr val="tx1"/>
              </a:buClr>
              <a:buFont typeface="Arial" panose="020B0604020202020204" pitchFamily="34" charset="0"/>
              <a:buChar char="•"/>
            </a:pPr>
            <a:r>
              <a:rPr lang="en-US" sz="1100" dirty="0">
                <a:solidFill>
                  <a:schemeClr val="tx1"/>
                </a:solidFill>
              </a:rPr>
              <a:t>OKM is the output key material.</a:t>
            </a:r>
          </a:p>
          <a:p>
            <a:pPr marL="742950" lvl="1" indent="-285750">
              <a:buClr>
                <a:schemeClr val="tx1"/>
              </a:buClr>
              <a:buFont typeface="Arial" panose="020B0604020202020204" pitchFamily="34" charset="0"/>
              <a:buChar char="•"/>
            </a:pPr>
            <a:r>
              <a:rPr lang="en-US" sz="1100" dirty="0">
                <a:solidFill>
                  <a:schemeClr val="tx1"/>
                </a:solidFill>
              </a:rPr>
              <a:t>PRK is the pseudorandom key from the extract phase.</a:t>
            </a:r>
          </a:p>
          <a:p>
            <a:pPr marL="742950" lvl="1" indent="-285750">
              <a:buClr>
                <a:schemeClr val="tx1"/>
              </a:buClr>
              <a:buFont typeface="Arial" panose="020B0604020202020204" pitchFamily="34" charset="0"/>
              <a:buChar char="•"/>
            </a:pPr>
            <a:r>
              <a:rPr lang="en-US" sz="1100" dirty="0">
                <a:solidFill>
                  <a:schemeClr val="tx1"/>
                </a:solidFill>
              </a:rPr>
              <a:t>Info is optional context and application-specific information.</a:t>
            </a:r>
          </a:p>
          <a:p>
            <a:pPr marL="742950" lvl="1" indent="-285750">
              <a:buClr>
                <a:schemeClr val="tx1"/>
              </a:buClr>
              <a:buFont typeface="Arial" panose="020B0604020202020204" pitchFamily="34" charset="0"/>
              <a:buChar char="•"/>
            </a:pPr>
            <a:r>
              <a:rPr lang="en-US" sz="1100" dirty="0">
                <a:solidFill>
                  <a:schemeClr val="tx1"/>
                </a:solidFill>
              </a:rPr>
              <a:t>L is the length in bytes of the output key material.</a:t>
            </a:r>
          </a:p>
          <a:p>
            <a:pPr marL="171450" indent="-171450">
              <a:buClr>
                <a:schemeClr val="tx1"/>
              </a:buClr>
              <a:buFont typeface="Arial" panose="020B0604020202020204" pitchFamily="34" charset="0"/>
              <a:buChar char="•"/>
            </a:pPr>
            <a:endParaRPr lang="en-US" sz="1100" dirty="0">
              <a:solidFill>
                <a:schemeClr val="tx1"/>
              </a:solidFill>
            </a:endParaRPr>
          </a:p>
        </p:txBody>
      </p:sp>
      <p:pic>
        <p:nvPicPr>
          <p:cNvPr id="8" name="Picture 7">
            <a:extLst>
              <a:ext uri="{FF2B5EF4-FFF2-40B4-BE49-F238E27FC236}">
                <a16:creationId xmlns:a16="http://schemas.microsoft.com/office/drawing/2014/main" id="{54E22D76-4C5C-E722-8C62-65180F3022D7}"/>
              </a:ext>
            </a:extLst>
          </p:cNvPr>
          <p:cNvPicPr>
            <a:picLocks noChangeAspect="1"/>
          </p:cNvPicPr>
          <p:nvPr/>
        </p:nvPicPr>
        <p:blipFill>
          <a:blip r:embed="rId2"/>
          <a:stretch>
            <a:fillRect/>
          </a:stretch>
        </p:blipFill>
        <p:spPr>
          <a:xfrm>
            <a:off x="6137801" y="2571750"/>
            <a:ext cx="2053700" cy="384681"/>
          </a:xfrm>
          <a:prstGeom prst="rect">
            <a:avLst/>
          </a:prstGeom>
        </p:spPr>
      </p:pic>
      <p:pic>
        <p:nvPicPr>
          <p:cNvPr id="10" name="Picture 9">
            <a:extLst>
              <a:ext uri="{FF2B5EF4-FFF2-40B4-BE49-F238E27FC236}">
                <a16:creationId xmlns:a16="http://schemas.microsoft.com/office/drawing/2014/main" id="{EF426398-204C-D802-F104-16475692D1B7}"/>
              </a:ext>
            </a:extLst>
          </p:cNvPr>
          <p:cNvPicPr>
            <a:picLocks noChangeAspect="1"/>
          </p:cNvPicPr>
          <p:nvPr/>
        </p:nvPicPr>
        <p:blipFill>
          <a:blip r:embed="rId3"/>
          <a:stretch>
            <a:fillRect/>
          </a:stretch>
        </p:blipFill>
        <p:spPr>
          <a:xfrm>
            <a:off x="5253843" y="3881419"/>
            <a:ext cx="3227217" cy="386100"/>
          </a:xfrm>
          <a:prstGeom prst="rect">
            <a:avLst/>
          </a:prstGeom>
        </p:spPr>
      </p:pic>
    </p:spTree>
    <p:extLst>
      <p:ext uri="{BB962C8B-B14F-4D97-AF65-F5344CB8AC3E}">
        <p14:creationId xmlns:p14="http://schemas.microsoft.com/office/powerpoint/2010/main" val="4223363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D0F12035-F4AE-DE04-7CD2-6BAE4BB1E870}"/>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90CDA4EE-92AE-7260-509F-8A1A28723E8C}"/>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AES</a:t>
            </a:r>
            <a:endParaRPr dirty="0">
              <a:solidFill>
                <a:schemeClr val="accent1"/>
              </a:solidFill>
            </a:endParaRPr>
          </a:p>
        </p:txBody>
      </p:sp>
      <p:sp>
        <p:nvSpPr>
          <p:cNvPr id="237" name="Google Shape;237;p31">
            <a:extLst>
              <a:ext uri="{FF2B5EF4-FFF2-40B4-BE49-F238E27FC236}">
                <a16:creationId xmlns:a16="http://schemas.microsoft.com/office/drawing/2014/main" id="{AA55EBCA-945A-6075-A183-E17435A46683}"/>
              </a:ext>
            </a:extLst>
          </p:cNvPr>
          <p:cNvSpPr txBox="1">
            <a:spLocks noGrp="1"/>
          </p:cNvSpPr>
          <p:nvPr>
            <p:ph type="body" idx="1"/>
          </p:nvPr>
        </p:nvSpPr>
        <p:spPr>
          <a:xfrm>
            <a:off x="918120" y="1296480"/>
            <a:ext cx="3600540" cy="3496500"/>
          </a:xfrm>
          <a:prstGeom prst="rect">
            <a:avLst/>
          </a:prstGeom>
        </p:spPr>
        <p:txBody>
          <a:bodyPr spcFirstLastPara="1" wrap="square" lIns="91425" tIns="91425" rIns="91425" bIns="91425" anchor="t" anchorCtr="0">
            <a:noAutofit/>
          </a:bodyPr>
          <a:lstStyle/>
          <a:p>
            <a:pPr marL="152400" indent="0">
              <a:buNone/>
            </a:pPr>
            <a:r>
              <a:rPr lang="en-US" b="1" dirty="0"/>
              <a:t>AES</a:t>
            </a:r>
            <a:r>
              <a:rPr lang="en-US" dirty="0"/>
              <a:t> (Advanced Encryption Standard) is one of the most widely used symmetric-key encryption algorithms. It’s employed globally for securing sensitive data, including in fields like banking, communication, government, and more.</a:t>
            </a:r>
            <a:endParaRPr lang="en-US" dirty="0">
              <a:solidFill>
                <a:schemeClr val="tx1"/>
              </a:solidFill>
              <a:latin typeface="DM Sans" pitchFamily="2" charset="0"/>
            </a:endParaRPr>
          </a:p>
        </p:txBody>
      </p:sp>
      <p:pic>
        <p:nvPicPr>
          <p:cNvPr id="4" name="Picture 3">
            <a:extLst>
              <a:ext uri="{FF2B5EF4-FFF2-40B4-BE49-F238E27FC236}">
                <a16:creationId xmlns:a16="http://schemas.microsoft.com/office/drawing/2014/main" id="{B8E3EEB2-7988-08E1-7B9D-77D3D6415EAB}"/>
              </a:ext>
            </a:extLst>
          </p:cNvPr>
          <p:cNvPicPr>
            <a:picLocks noChangeAspect="1"/>
          </p:cNvPicPr>
          <p:nvPr/>
        </p:nvPicPr>
        <p:blipFill>
          <a:blip r:embed="rId3"/>
          <a:stretch>
            <a:fillRect/>
          </a:stretch>
        </p:blipFill>
        <p:spPr>
          <a:xfrm>
            <a:off x="4625342" y="860194"/>
            <a:ext cx="3853221" cy="3932786"/>
          </a:xfrm>
          <a:prstGeom prst="rect">
            <a:avLst/>
          </a:prstGeom>
        </p:spPr>
      </p:pic>
    </p:spTree>
    <p:extLst>
      <p:ext uri="{BB962C8B-B14F-4D97-AF65-F5344CB8AC3E}">
        <p14:creationId xmlns:p14="http://schemas.microsoft.com/office/powerpoint/2010/main" val="4040918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D027FB0D-43A8-A966-2040-C8C8FDCBEBD7}"/>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45EB2B15-6CCD-CA4F-4999-765F45D823D9}"/>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How AES Works?</a:t>
            </a:r>
            <a:endParaRPr dirty="0">
              <a:solidFill>
                <a:schemeClr val="accent1"/>
              </a:solidFill>
            </a:endParaRPr>
          </a:p>
        </p:txBody>
      </p:sp>
      <p:pic>
        <p:nvPicPr>
          <p:cNvPr id="3" name="Graphic 2">
            <a:extLst>
              <a:ext uri="{FF2B5EF4-FFF2-40B4-BE49-F238E27FC236}">
                <a16:creationId xmlns:a16="http://schemas.microsoft.com/office/drawing/2014/main" id="{8700BEF1-9A60-86F3-27D3-50A98EC8A5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7957" y="1376944"/>
            <a:ext cx="4222568" cy="3284220"/>
          </a:xfrm>
          <a:prstGeom prst="rect">
            <a:avLst/>
          </a:prstGeom>
        </p:spPr>
      </p:pic>
      <p:pic>
        <p:nvPicPr>
          <p:cNvPr id="8" name="Graphic 7">
            <a:extLst>
              <a:ext uri="{FF2B5EF4-FFF2-40B4-BE49-F238E27FC236}">
                <a16:creationId xmlns:a16="http://schemas.microsoft.com/office/drawing/2014/main" id="{B252BAC4-346E-6888-6483-CB3EBBD6BD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70653" y="1575018"/>
            <a:ext cx="4222568" cy="2241610"/>
          </a:xfrm>
          <a:prstGeom prst="rect">
            <a:avLst/>
          </a:prstGeom>
        </p:spPr>
      </p:pic>
      <p:pic>
        <p:nvPicPr>
          <p:cNvPr id="10" name="Graphic 9">
            <a:extLst>
              <a:ext uri="{FF2B5EF4-FFF2-40B4-BE49-F238E27FC236}">
                <a16:creationId xmlns:a16="http://schemas.microsoft.com/office/drawing/2014/main" id="{88C32581-0B29-A014-AEB5-E98A68EE09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7765" y="1943434"/>
            <a:ext cx="5808345" cy="2151239"/>
          </a:xfrm>
          <a:prstGeom prst="rect">
            <a:avLst/>
          </a:prstGeom>
        </p:spPr>
      </p:pic>
      <p:pic>
        <p:nvPicPr>
          <p:cNvPr id="12" name="Graphic 11">
            <a:extLst>
              <a:ext uri="{FF2B5EF4-FFF2-40B4-BE49-F238E27FC236}">
                <a16:creationId xmlns:a16="http://schemas.microsoft.com/office/drawing/2014/main" id="{17C9E1ED-14BE-8DB4-DD9A-6530887DAB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0130" y="1809671"/>
            <a:ext cx="5019980" cy="2602953"/>
          </a:xfrm>
          <a:prstGeom prst="rect">
            <a:avLst/>
          </a:prstGeom>
        </p:spPr>
      </p:pic>
      <p:pic>
        <p:nvPicPr>
          <p:cNvPr id="15" name="Picture 14">
            <a:extLst>
              <a:ext uri="{FF2B5EF4-FFF2-40B4-BE49-F238E27FC236}">
                <a16:creationId xmlns:a16="http://schemas.microsoft.com/office/drawing/2014/main" id="{3BB7F9B9-35AF-FCBA-76B3-AC0B0A295555}"/>
              </a:ext>
            </a:extLst>
          </p:cNvPr>
          <p:cNvPicPr>
            <a:picLocks noChangeAspect="1"/>
          </p:cNvPicPr>
          <p:nvPr/>
        </p:nvPicPr>
        <p:blipFill>
          <a:blip r:embed="rId11"/>
          <a:stretch>
            <a:fillRect/>
          </a:stretch>
        </p:blipFill>
        <p:spPr>
          <a:xfrm>
            <a:off x="882126" y="1809671"/>
            <a:ext cx="7269648" cy="2045359"/>
          </a:xfrm>
          <a:prstGeom prst="rect">
            <a:avLst/>
          </a:prstGeom>
        </p:spPr>
      </p:pic>
    </p:spTree>
    <p:extLst>
      <p:ext uri="{BB962C8B-B14F-4D97-AF65-F5344CB8AC3E}">
        <p14:creationId xmlns:p14="http://schemas.microsoft.com/office/powerpoint/2010/main" val="75787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6AAF-B03A-FDD6-1BC4-652847F5B712}"/>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CD590BD4-DBE2-3F03-7815-542A45E4D44D}"/>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46AB5BC0-FCB5-E783-7530-CD20A8C3C0A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99B198DA-62C2-8D0C-9B3A-70A9AC40A463}"/>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3CDB8D0D-A1F8-B8B7-B8DB-BFF77D33C804}"/>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087E13A1-23EC-21F3-DE7C-74EA1539D36C}"/>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5177978C-6440-C608-0F48-2A324082314D}"/>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46153099-79B9-560D-A6AA-E62A30BA3EBD}"/>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6106BE1F-158C-2AE6-AEE2-8C10080229E4}"/>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D42CAA31-78E6-FB04-607E-B45E53DECBFD}"/>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33505703-93D3-2909-3B7E-801EF65BA187}"/>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383DFD82-4413-985B-A2AE-50A7FD8E0F3F}"/>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2E4B41E4-99BA-11B7-BBB4-D87A0FF29DE9}"/>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0F5526C4-B37F-7445-BC2B-6CC9170712B4}"/>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70660614-D369-7D6E-72CA-546947404DE3}"/>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9978AF88-C171-858E-5CB2-86DF0761F444}"/>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438BBC75-7D90-41EF-741B-D3F3A590B7FC}"/>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F131DA54-E7F1-CFEC-7FF4-0A3B8E9C30C3}"/>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6D6071EB-606A-3383-7340-711FC995BE6D}"/>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20" name="Table 19">
            <a:extLst>
              <a:ext uri="{FF2B5EF4-FFF2-40B4-BE49-F238E27FC236}">
                <a16:creationId xmlns:a16="http://schemas.microsoft.com/office/drawing/2014/main" id="{9A95FD7E-A67C-2111-BA68-E212E727BCC7}"/>
              </a:ext>
            </a:extLst>
          </p:cNvPr>
          <p:cNvGraphicFramePr>
            <a:graphicFrameLocks noGrp="1"/>
          </p:cNvGraphicFramePr>
          <p:nvPr/>
        </p:nvGraphicFramePr>
        <p:xfrm>
          <a:off x="1788153" y="364350"/>
          <a:ext cx="5911260" cy="518160"/>
        </p:xfrm>
        <a:graphic>
          <a:graphicData uri="http://schemas.openxmlformats.org/drawingml/2006/table">
            <a:tbl>
              <a:tblPr/>
              <a:tblGrid>
                <a:gridCol w="5911260">
                  <a:extLst>
                    <a:ext uri="{9D8B030D-6E8A-4147-A177-3AD203B41FA5}">
                      <a16:colId xmlns:a16="http://schemas.microsoft.com/office/drawing/2014/main" val="567482476"/>
                    </a:ext>
                  </a:extLst>
                </a:gridCol>
              </a:tblGrid>
              <a:tr h="202044">
                <a:tc>
                  <a:txBody>
                    <a:bodyPr/>
                    <a:lstStyle/>
                    <a:p>
                      <a:r>
                        <a:rPr lang="en-US" sz="1400" b="1" i="0" dirty="0">
                          <a:solidFill>
                            <a:schemeClr val="tx1"/>
                          </a:solidFill>
                          <a:effectLst/>
                          <a:latin typeface="DM Sans" pitchFamily="2" charset="0"/>
                        </a:rPr>
                        <a:t>Scenario 3 (PSK#1: UICC manufactured and pre-loaded with set of </a:t>
                      </a:r>
                      <a:r>
                        <a:rPr lang="en-US" sz="1400" b="1" i="0" dirty="0" err="1">
                          <a:solidFill>
                            <a:schemeClr val="tx1"/>
                          </a:solidFill>
                          <a:effectLst/>
                          <a:latin typeface="DM Sans" pitchFamily="2" charset="0"/>
                        </a:rPr>
                        <a:t>keyloading</a:t>
                      </a:r>
                      <a:r>
                        <a:rPr lang="en-US" sz="1400" b="1" i="0" dirty="0">
                          <a:solidFill>
                            <a:schemeClr val="tx1"/>
                          </a:solidFill>
                          <a:effectLst/>
                          <a:latin typeface="DM Sans" pitchFamily="2" charset="0"/>
                        </a:rPr>
                        <a:t> keys for application owner to manage their own keys</a:t>
                      </a:r>
                      <a:endParaRPr lang="en-US" sz="16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8F9B9300-379B-1C19-60AC-ADADA62B35C2}"/>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11A219A9-7097-0D01-A4A6-292BB8F5AD25}"/>
              </a:ext>
            </a:extLst>
          </p:cNvPr>
          <p:cNvPicPr>
            <a:picLocks noChangeAspect="1"/>
          </p:cNvPicPr>
          <p:nvPr/>
        </p:nvPicPr>
        <p:blipFill>
          <a:blip r:embed="rId2"/>
          <a:stretch>
            <a:fillRect/>
          </a:stretch>
        </p:blipFill>
        <p:spPr>
          <a:xfrm>
            <a:off x="2747274" y="882510"/>
            <a:ext cx="3988054" cy="4098979"/>
          </a:xfrm>
          <a:prstGeom prst="rect">
            <a:avLst/>
          </a:prstGeom>
        </p:spPr>
      </p:pic>
    </p:spTree>
    <p:extLst>
      <p:ext uri="{BB962C8B-B14F-4D97-AF65-F5344CB8AC3E}">
        <p14:creationId xmlns:p14="http://schemas.microsoft.com/office/powerpoint/2010/main" val="1873976251"/>
      </p:ext>
    </p:extLst>
  </p:cSld>
  <p:clrMapOvr>
    <a:masterClrMapping/>
  </p:clrMapOvr>
</p:sld>
</file>

<file path=ppt/theme/theme1.xml><?xml version="1.0" encoding="utf-8"?>
<a:theme xmlns:a="http://schemas.openxmlformats.org/drawingml/2006/main" name="Technology Project Proposal Minitheme by Slidesgo">
  <a:themeElements>
    <a:clrScheme name="Simple Light">
      <a:dk1>
        <a:srgbClr val="FFFFFF"/>
      </a:dk1>
      <a:lt1>
        <a:srgbClr val="E0E0E0"/>
      </a:lt1>
      <a:dk2>
        <a:srgbClr val="666666"/>
      </a:dk2>
      <a:lt2>
        <a:srgbClr val="000000"/>
      </a:lt2>
      <a:accent1>
        <a:srgbClr val="96FFF3"/>
      </a:accent1>
      <a:accent2>
        <a:srgbClr val="8F1EA0"/>
      </a:accent2>
      <a:accent3>
        <a:srgbClr val="3DC6FF"/>
      </a:accent3>
      <a:accent4>
        <a:srgbClr val="2619AA"/>
      </a:accent4>
      <a:accent5>
        <a:srgbClr val="190057"/>
      </a:accent5>
      <a:accent6>
        <a:srgbClr val="F139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2689</TotalTime>
  <Words>529</Words>
  <Application>Microsoft Office PowerPoint</Application>
  <PresentationFormat>On-screen Show (16:9)</PresentationFormat>
  <Paragraphs>39</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DM Sans</vt:lpstr>
      <vt:lpstr>Oswald</vt:lpstr>
      <vt:lpstr>Roboto Condensed Light</vt:lpstr>
      <vt:lpstr>Arial</vt:lpstr>
      <vt:lpstr>Calibri</vt:lpstr>
      <vt:lpstr>Technology Project Proposal Minitheme by Slidesgo</vt:lpstr>
      <vt:lpstr>IoT SAFE</vt:lpstr>
      <vt:lpstr>Introduction</vt:lpstr>
      <vt:lpstr>Key Generation</vt:lpstr>
      <vt:lpstr>Random Key Generation</vt:lpstr>
      <vt:lpstr>HKDF (HMAC-based Extract-and-Expand Key Derivation Function)</vt:lpstr>
      <vt:lpstr>HKDF Phases</vt:lpstr>
      <vt:lpstr>AES</vt:lpstr>
      <vt:lpstr>How AES Works?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MohammadHosein Shafiee</cp:lastModifiedBy>
  <cp:revision>134</cp:revision>
  <dcterms:modified xsi:type="dcterms:W3CDTF">2025-01-15T06:33:17Z</dcterms:modified>
</cp:coreProperties>
</file>