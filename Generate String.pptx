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11"/>
  </p:notesMasterIdLst>
  <p:handoutMasterIdLst>
    <p:handoutMasterId r:id="rId12"/>
  </p:handoutMasterIdLst>
  <p:sldIdLst>
    <p:sldId id="256" r:id="rId2"/>
    <p:sldId id="257" r:id="rId3"/>
    <p:sldId id="317" r:id="rId4"/>
    <p:sldId id="340" r:id="rId5"/>
    <p:sldId id="341" r:id="rId6"/>
    <p:sldId id="342" r:id="rId7"/>
    <p:sldId id="343" r:id="rId8"/>
    <p:sldId id="344" r:id="rId9"/>
    <p:sldId id="345" r:id="rId10"/>
  </p:sldIdLst>
  <p:sldSz cx="9144000" cy="5143500" type="screen16x9"/>
  <p:notesSz cx="6858000" cy="9144000"/>
  <p:embeddedFontLst>
    <p:embeddedFont>
      <p:font typeface="DM Sans" pitchFamily="2" charset="0"/>
      <p:regular r:id="rId13"/>
      <p:bold r:id="rId14"/>
      <p:italic r:id="rId15"/>
      <p:boldItalic r:id="rId16"/>
    </p:embeddedFont>
    <p:embeddedFont>
      <p:font typeface="Oswald" panose="00000500000000000000" pitchFamily="2" charset="0"/>
      <p:regular r:id="rId17"/>
      <p:bold r:id="rId18"/>
    </p:embeddedFont>
    <p:embeddedFont>
      <p:font typeface="Roboto Condensed Light" panose="02000000000000000000" pitchFamily="2" charset="0"/>
      <p:regular r:id="rId19"/>
      <p: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01">
          <p15:clr>
            <a:srgbClr val="9AA0A6"/>
          </p15:clr>
        </p15:guide>
        <p15:guide id="2" orient="horz" pos="733">
          <p15:clr>
            <a:srgbClr val="9AA0A6"/>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54D5C0F-1A84-42F2-801B-3AE2B2B06C94}">
  <a:tblStyle styleId="{754D5C0F-1A84-42F2-801B-3AE2B2B06C9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snapToGrid="0">
      <p:cViewPr>
        <p:scale>
          <a:sx n="50" d="100"/>
          <a:sy n="50" d="100"/>
        </p:scale>
        <p:origin x="2386" y="931"/>
      </p:cViewPr>
      <p:guideLst>
        <p:guide orient="horz" pos="601"/>
        <p:guide orient="horz" pos="733"/>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CD5717-EE4B-E1B0-0921-2F5F1586E4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F3FB2F-C2D0-4DED-E766-640E25341C1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AEA0F8-DE99-482C-8D62-C099A611E76C}" type="datetimeFigureOut">
              <a:rPr lang="en-US" smtClean="0"/>
              <a:t>2/13/2025</a:t>
            </a:fld>
            <a:endParaRPr lang="en-US"/>
          </a:p>
        </p:txBody>
      </p:sp>
      <p:sp>
        <p:nvSpPr>
          <p:cNvPr id="4" name="Footer Placeholder 3">
            <a:extLst>
              <a:ext uri="{FF2B5EF4-FFF2-40B4-BE49-F238E27FC236}">
                <a16:creationId xmlns:a16="http://schemas.microsoft.com/office/drawing/2014/main" id="{59DC0D3F-2D97-A623-A1D8-D1817F6BEA6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C7A9F76-BEE9-6930-583C-C73B3E377A9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1CDB22-DA6B-46C4-A741-D9254D2DC135}" type="slidenum">
              <a:rPr lang="en-US" smtClean="0"/>
              <a:t>‹#›</a:t>
            </a:fld>
            <a:endParaRPr lang="en-US"/>
          </a:p>
        </p:txBody>
      </p:sp>
    </p:spTree>
    <p:extLst>
      <p:ext uri="{BB962C8B-B14F-4D97-AF65-F5344CB8AC3E}">
        <p14:creationId xmlns:p14="http://schemas.microsoft.com/office/powerpoint/2010/main" val="39930354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0e91f73e2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2EC15481-3480-DB05-5925-5336A61C4C0A}"/>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15A8F4A3-DB04-6E4E-C76E-B6D2B375C8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C617EF3-1555-072E-FC59-1A34F7D744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6074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5BB9A5B0-1188-3672-7285-3E97244269E3}"/>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C65D0960-8737-2F48-57A6-59F2770A97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86E9994B-1692-27AE-881F-A8357B8237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79756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82C0FD42-40DA-4EC2-6979-610914D500F4}"/>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A6FF7BE8-66CF-A89B-86F1-5A06BFA189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C1CCE80E-8028-2333-DC8C-5B96B221B5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0393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5BCF6F1E-FE26-62CE-B3DB-8CB0E718AD39}"/>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CAC4D627-8D3E-D1DA-33F7-0D5D268625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26D7523A-48A7-349F-6AB1-AF162E5E23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345915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0C26FDC5-AC9B-2F22-B5CF-A5E5BD7C69AE}"/>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EFAB8CC2-819C-19CE-350B-23454D4B03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354A6549-81FA-4AE5-08FD-270C0EF27F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714096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EE4C7067-AB12-58BF-2E19-D03D0EEA9464}"/>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62B869CC-5340-5078-A9D9-14F3E799E1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F3F5740F-ABD0-A5E7-3E03-DAB87AD7B4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03124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28F0E6B0-6BE4-A7A3-EC5A-CE4C4875AED3}"/>
            </a:ext>
          </a:extLst>
        </p:cNvPr>
        <p:cNvGrpSpPr/>
        <p:nvPr/>
      </p:nvGrpSpPr>
      <p:grpSpPr>
        <a:xfrm>
          <a:off x="0" y="0"/>
          <a:ext cx="0" cy="0"/>
          <a:chOff x="0" y="0"/>
          <a:chExt cx="0" cy="0"/>
        </a:xfrm>
      </p:grpSpPr>
      <p:sp>
        <p:nvSpPr>
          <p:cNvPr id="233" name="Google Shape;233;g10e91f73e27_0_0:notes">
            <a:extLst>
              <a:ext uri="{FF2B5EF4-FFF2-40B4-BE49-F238E27FC236}">
                <a16:creationId xmlns:a16="http://schemas.microsoft.com/office/drawing/2014/main" id="{F4894ED3-C024-112E-6D21-3101A14C7C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0e91f73e27_0_0:notes">
            <a:extLst>
              <a:ext uri="{FF2B5EF4-FFF2-40B4-BE49-F238E27FC236}">
                <a16:creationId xmlns:a16="http://schemas.microsoft.com/office/drawing/2014/main" id="{E2CA6DDA-9AFD-972A-30B9-CAAD7BDDE9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1191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5"/>
            </a:gs>
            <a:gs pos="48000">
              <a:schemeClr val="accent4"/>
            </a:gs>
            <a:gs pos="100000">
              <a:schemeClr val="accent2"/>
            </a:gs>
          </a:gsLst>
          <a:lin ang="2698631"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967650"/>
            <a:ext cx="3972000" cy="30276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Clr>
                <a:schemeClr val="dk1"/>
              </a:buClr>
              <a:buSzPts val="4900"/>
              <a:buNone/>
              <a:defRPr sz="5000">
                <a:solidFill>
                  <a:schemeClr val="dk1"/>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995250"/>
            <a:ext cx="4359000" cy="409500"/>
          </a:xfrm>
          <a:prstGeom prst="rect">
            <a:avLst/>
          </a:prstGeom>
          <a:noFill/>
          <a:ln>
            <a:noFill/>
          </a:ln>
        </p:spPr>
        <p:txBody>
          <a:bodyPr spcFirstLastPara="1" wrap="square" lIns="0" tIns="0" rIns="0" bIns="0" anchor="ctr"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2pPr>
            <a:lvl3pPr lvl="2"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3pPr>
            <a:lvl4pPr lvl="3"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4pPr>
            <a:lvl5pPr lvl="4"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5pPr>
            <a:lvl6pPr lvl="5"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6pPr>
            <a:lvl7pPr lvl="6"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7pPr>
            <a:lvl8pPr lvl="7"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8pPr>
            <a:lvl9pPr lvl="8"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9pPr>
          </a:lstStyle>
          <a:p>
            <a:endParaRPr/>
          </a:p>
        </p:txBody>
      </p:sp>
      <p:grpSp>
        <p:nvGrpSpPr>
          <p:cNvPr id="11" name="Google Shape;11;p2"/>
          <p:cNvGrpSpPr/>
          <p:nvPr/>
        </p:nvGrpSpPr>
        <p:grpSpPr>
          <a:xfrm rot="5400000">
            <a:off x="7002555" y="-662466"/>
            <a:ext cx="1673084" cy="3614193"/>
            <a:chOff x="7350442" y="2608992"/>
            <a:chExt cx="777239" cy="1673160"/>
          </a:xfrm>
        </p:grpSpPr>
        <p:sp>
          <p:nvSpPr>
            <p:cNvPr id="12" name="Google Shape;12;p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6;p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2"/>
        <p:cNvGrpSpPr/>
        <p:nvPr/>
      </p:nvGrpSpPr>
      <p:grpSpPr>
        <a:xfrm>
          <a:off x="0" y="0"/>
          <a:ext cx="0" cy="0"/>
          <a:chOff x="0" y="0"/>
          <a:chExt cx="0" cy="0"/>
        </a:xfrm>
      </p:grpSpPr>
      <p:sp>
        <p:nvSpPr>
          <p:cNvPr id="43" name="Google Shape;43;p4"/>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lvl1pPr lvl="0"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4" name="Google Shape;44;p4"/>
          <p:cNvSpPr txBox="1">
            <a:spLocks noGrp="1"/>
          </p:cNvSpPr>
          <p:nvPr>
            <p:ph type="body" idx="1"/>
          </p:nvPr>
        </p:nvSpPr>
        <p:spPr>
          <a:xfrm>
            <a:off x="720000" y="1112200"/>
            <a:ext cx="7704000" cy="34965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AutoNum type="arabicPeriod"/>
              <a:defRPr sz="1200"/>
            </a:lvl1pPr>
            <a:lvl2pPr marL="914400" lvl="1" indent="-304800" rtl="0">
              <a:lnSpc>
                <a:spcPct val="115000"/>
              </a:lnSpc>
              <a:spcBef>
                <a:spcPts val="0"/>
              </a:spcBef>
              <a:spcAft>
                <a:spcPts val="0"/>
              </a:spcAft>
              <a:buClr>
                <a:srgbClr val="434343"/>
              </a:buClr>
              <a:buSzPts val="1200"/>
              <a:buFont typeface="Roboto Condensed Light"/>
              <a:buAutoNum type="alphaLcPeriod"/>
              <a:defRPr/>
            </a:lvl2pPr>
            <a:lvl3pPr marL="1371600" lvl="2" indent="-304800" rtl="0">
              <a:lnSpc>
                <a:spcPct val="115000"/>
              </a:lnSpc>
              <a:spcBef>
                <a:spcPts val="0"/>
              </a:spcBef>
              <a:spcAft>
                <a:spcPts val="0"/>
              </a:spcAft>
              <a:buClr>
                <a:srgbClr val="434343"/>
              </a:buClr>
              <a:buSzPts val="1200"/>
              <a:buFont typeface="Roboto Condensed Light"/>
              <a:buAutoNum type="romanLcPeriod"/>
              <a:defRPr/>
            </a:lvl3pPr>
            <a:lvl4pPr marL="1828800" lvl="3" indent="-304800" rtl="0">
              <a:lnSpc>
                <a:spcPct val="115000"/>
              </a:lnSpc>
              <a:spcBef>
                <a:spcPts val="0"/>
              </a:spcBef>
              <a:spcAft>
                <a:spcPts val="0"/>
              </a:spcAft>
              <a:buClr>
                <a:srgbClr val="434343"/>
              </a:buClr>
              <a:buSzPts val="1200"/>
              <a:buFont typeface="Roboto Condensed Light"/>
              <a:buAutoNum type="arabicPeriod"/>
              <a:defRPr/>
            </a:lvl4pPr>
            <a:lvl5pPr marL="2286000" lvl="4" indent="-304800" rtl="0">
              <a:lnSpc>
                <a:spcPct val="115000"/>
              </a:lnSpc>
              <a:spcBef>
                <a:spcPts val="0"/>
              </a:spcBef>
              <a:spcAft>
                <a:spcPts val="0"/>
              </a:spcAft>
              <a:buClr>
                <a:srgbClr val="434343"/>
              </a:buClr>
              <a:buSzPts val="1200"/>
              <a:buFont typeface="Roboto Condensed Light"/>
              <a:buAutoNum type="alphaLcPeriod"/>
              <a:defRPr/>
            </a:lvl5pPr>
            <a:lvl6pPr marL="2743200" lvl="5" indent="-304800" rtl="0">
              <a:lnSpc>
                <a:spcPct val="115000"/>
              </a:lnSpc>
              <a:spcBef>
                <a:spcPts val="0"/>
              </a:spcBef>
              <a:spcAft>
                <a:spcPts val="0"/>
              </a:spcAft>
              <a:buClr>
                <a:srgbClr val="434343"/>
              </a:buClr>
              <a:buSzPts val="1200"/>
              <a:buFont typeface="Roboto Condensed Light"/>
              <a:buAutoNum type="romanLcPeriod"/>
              <a:defRPr/>
            </a:lvl6pPr>
            <a:lvl7pPr marL="3200400" lvl="6" indent="-304800" rtl="0">
              <a:lnSpc>
                <a:spcPct val="115000"/>
              </a:lnSpc>
              <a:spcBef>
                <a:spcPts val="0"/>
              </a:spcBef>
              <a:spcAft>
                <a:spcPts val="0"/>
              </a:spcAft>
              <a:buClr>
                <a:srgbClr val="434343"/>
              </a:buClr>
              <a:buSzPts val="1200"/>
              <a:buFont typeface="Roboto Condensed Light"/>
              <a:buAutoNum type="arabicPeriod"/>
              <a:defRPr/>
            </a:lvl7pPr>
            <a:lvl8pPr marL="3657600" lvl="7" indent="-304800" rtl="0">
              <a:lnSpc>
                <a:spcPct val="115000"/>
              </a:lnSpc>
              <a:spcBef>
                <a:spcPts val="0"/>
              </a:spcBef>
              <a:spcAft>
                <a:spcPts val="0"/>
              </a:spcAft>
              <a:buClr>
                <a:srgbClr val="434343"/>
              </a:buClr>
              <a:buSzPts val="1200"/>
              <a:buFont typeface="Roboto Condensed Light"/>
              <a:buAutoNum type="alphaLcPeriod"/>
              <a:defRPr/>
            </a:lvl8pPr>
            <a:lvl9pPr marL="4114800" lvl="8" indent="-304800" rtl="0">
              <a:lnSpc>
                <a:spcPct val="115000"/>
              </a:lnSpc>
              <a:spcBef>
                <a:spcPts val="0"/>
              </a:spcBef>
              <a:spcAft>
                <a:spcPts val="0"/>
              </a:spcAft>
              <a:buClr>
                <a:srgbClr val="434343"/>
              </a:buClr>
              <a:buSzPts val="1200"/>
              <a:buFont typeface="Roboto Condensed Light"/>
              <a:buAutoNum type="romanLcPerio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10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BLANK_1_1_1_1_1_1_1_1_1_1_1">
    <p:bg>
      <p:bgPr>
        <a:gradFill>
          <a:gsLst>
            <a:gs pos="0">
              <a:schemeClr val="accent3"/>
            </a:gs>
            <a:gs pos="44000">
              <a:schemeClr val="accent4"/>
            </a:gs>
            <a:gs pos="100000">
              <a:schemeClr val="accent5"/>
            </a:gs>
          </a:gsLst>
          <a:lin ang="2698631" scaled="0"/>
        </a:gradFill>
        <a:effectLst/>
      </p:bgPr>
    </p:bg>
    <p:spTree>
      <p:nvGrpSpPr>
        <p:cNvPr id="1" name="Shape 217"/>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_1_1_1_2">
    <p:bg>
      <p:bgPr>
        <a:gradFill>
          <a:gsLst>
            <a:gs pos="0">
              <a:schemeClr val="accent2"/>
            </a:gs>
            <a:gs pos="36000">
              <a:schemeClr val="accent4"/>
            </a:gs>
            <a:gs pos="100000">
              <a:schemeClr val="accent4"/>
            </a:gs>
          </a:gsLst>
          <a:lin ang="2698631" scaled="0"/>
        </a:gradFill>
        <a:effectLst/>
      </p:bgPr>
    </p:bg>
    <p:spTree>
      <p:nvGrpSpPr>
        <p:cNvPr id="1" name="Shape 2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5"/>
            </a:gs>
            <a:gs pos="48000">
              <a:schemeClr val="accent4"/>
            </a:gs>
            <a:gs pos="100000">
              <a:schemeClr val="accent2"/>
            </a:gs>
          </a:gsLst>
          <a:lin ang="2698631"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496"/>
            <a:ext cx="7708500" cy="576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3400"/>
              <a:buFont typeface="Oswald"/>
              <a:buNone/>
              <a:defRPr sz="3400">
                <a:solidFill>
                  <a:schemeClr val="dk1"/>
                </a:solidFill>
                <a:latin typeface="Oswald"/>
                <a:ea typeface="Oswald"/>
                <a:cs typeface="Oswald"/>
                <a:sym typeface="Oswald"/>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rtl="0">
              <a:lnSpc>
                <a:spcPct val="115000"/>
              </a:lnSpc>
              <a:spcBef>
                <a:spcPts val="1600"/>
              </a:spcBef>
              <a:spcAft>
                <a:spcPts val="160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8" r:id="rId3"/>
    <p:sldLayoutId id="2147483671" r:id="rId4"/>
    <p:sldLayoutId id="214748367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0"/>
          <p:cNvSpPr txBox="1">
            <a:spLocks noGrp="1"/>
          </p:cNvSpPr>
          <p:nvPr>
            <p:ph type="ctrTitle"/>
          </p:nvPr>
        </p:nvSpPr>
        <p:spPr>
          <a:xfrm>
            <a:off x="713225" y="967650"/>
            <a:ext cx="3972000" cy="3027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200" dirty="0">
                <a:solidFill>
                  <a:schemeClr val="accent1"/>
                </a:solidFill>
              </a:rPr>
              <a:t>Generating String in SIM</a:t>
            </a:r>
            <a:endParaRPr sz="3200" dirty="0"/>
          </a:p>
        </p:txBody>
      </p:sp>
      <p:sp>
        <p:nvSpPr>
          <p:cNvPr id="230" name="Google Shape;230;p30"/>
          <p:cNvSpPr txBox="1">
            <a:spLocks noGrp="1"/>
          </p:cNvSpPr>
          <p:nvPr>
            <p:ph type="subTitle" idx="1"/>
          </p:nvPr>
        </p:nvSpPr>
        <p:spPr>
          <a:xfrm>
            <a:off x="713225" y="3995250"/>
            <a:ext cx="4359000" cy="4095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1400" dirty="0"/>
              <a:t>Researcher:  Mohammad Hossein Shafiee</a:t>
            </a:r>
            <a:br>
              <a:rPr lang="en-US" sz="1400" dirty="0"/>
            </a:br>
            <a:endParaRPr dirty="0"/>
          </a:p>
        </p:txBody>
      </p:sp>
      <p:pic>
        <p:nvPicPr>
          <p:cNvPr id="231" name="Google Shape;231;p30"/>
          <p:cNvPicPr preferRelativeResize="0"/>
          <p:nvPr/>
        </p:nvPicPr>
        <p:blipFill>
          <a:blip r:embed="rId3">
            <a:alphaModFix/>
          </a:blip>
          <a:stretch>
            <a:fillRect/>
          </a:stretch>
        </p:blipFill>
        <p:spPr>
          <a:xfrm>
            <a:off x="4463625" y="0"/>
            <a:ext cx="4392392"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1"/>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Introduction</a:t>
            </a:r>
            <a:endParaRPr dirty="0">
              <a:solidFill>
                <a:schemeClr val="accent1"/>
              </a:solidFill>
            </a:endParaRPr>
          </a:p>
        </p:txBody>
      </p:sp>
      <p:sp>
        <p:nvSpPr>
          <p:cNvPr id="237" name="Google Shape;237;p31"/>
          <p:cNvSpPr txBox="1">
            <a:spLocks noGrp="1"/>
          </p:cNvSpPr>
          <p:nvPr>
            <p:ph type="body" idx="1"/>
          </p:nvPr>
        </p:nvSpPr>
        <p:spPr>
          <a:xfrm>
            <a:off x="918120" y="1569400"/>
            <a:ext cx="7704000" cy="3496500"/>
          </a:xfrm>
          <a:prstGeom prst="rect">
            <a:avLst/>
          </a:prstGeom>
        </p:spPr>
        <p:txBody>
          <a:bodyPr spcFirstLastPara="1" wrap="square" lIns="91425" tIns="91425" rIns="91425" bIns="91425" anchor="t" anchorCtr="0">
            <a:noAutofit/>
          </a:bodyPr>
          <a:lstStyle/>
          <a:p>
            <a:pPr marL="152400" indent="0">
              <a:buNone/>
            </a:pPr>
            <a:r>
              <a:rPr lang="en-US" sz="1400" dirty="0"/>
              <a:t>SIM cards play a vital role in secure communication, and generating unique or random strings is an essential part of their functionality. These strings are used for tasks like authentication, OTP generation, and session management. Given the limited resources of SIM cards—such as low memory and processing power—it's crucial to use lightweight and efficient algorithms. This presentation introduces various methods for generating strings, including basic techniques like counters and timestamps, as well as more structured approaches like Linear Congruential Generators (LCG), Linear Feedback Shift Registers (LFSR), and Nonlinear Feedback Shift Registers (NFSR). Each method is analyzed for its practicality, efficiency, and compatibility with the SIM card's environment.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542F4B9-F781-B727-B465-A0048C1EBAD8}"/>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2A6C678A-A1F8-38A1-DA85-4D8284E384F2}"/>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Generating String Methods</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C7EE62A3-351E-C6AF-8D2E-1F7AE0302839}"/>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latin typeface="DM Sans" pitchFamily="2" charset="0"/>
            </a:endParaRPr>
          </a:p>
          <a:p>
            <a:pPr indent="-317500">
              <a:lnSpc>
                <a:spcPct val="150000"/>
              </a:lnSpc>
              <a:buSzPts val="1400"/>
              <a:buFont typeface="DM Sans"/>
              <a:buChar char="⏣"/>
            </a:pPr>
            <a:r>
              <a:rPr lang="en-US" sz="1600" dirty="0"/>
              <a:t>Using a counter</a:t>
            </a:r>
          </a:p>
          <a:p>
            <a:pPr marL="939800" lvl="1" indent="-342900">
              <a:lnSpc>
                <a:spcPct val="150000"/>
              </a:lnSpc>
              <a:buSzPts val="1400"/>
              <a:buFont typeface="Arial" panose="020B0604020202020204" pitchFamily="34" charset="0"/>
              <a:buChar char="•"/>
            </a:pPr>
            <a:r>
              <a:rPr lang="en-US" dirty="0"/>
              <a:t>We can have A simple counter that increments with each APDU request.</a:t>
            </a:r>
          </a:p>
          <a:p>
            <a:pPr marL="939800" lvl="1" indent="-342900">
              <a:lnSpc>
                <a:spcPct val="150000"/>
              </a:lnSpc>
              <a:buSzPts val="1400"/>
              <a:buFont typeface="Arial" panose="020B0604020202020204" pitchFamily="34" charset="0"/>
              <a:buChar char="•"/>
            </a:pPr>
            <a:r>
              <a:rPr lang="en-US" dirty="0"/>
              <a:t>Result = counter % 10 ^ 8</a:t>
            </a:r>
          </a:p>
          <a:p>
            <a:pPr marL="939800" lvl="1" indent="-342900">
              <a:lnSpc>
                <a:spcPct val="150000"/>
              </a:lnSpc>
              <a:buSzPts val="1400"/>
              <a:buFont typeface="Arial" panose="020B0604020202020204" pitchFamily="34" charset="0"/>
              <a:buChar char="•"/>
            </a:pPr>
            <a:r>
              <a:rPr lang="en-US" dirty="0"/>
              <a:t>Very lightweight and fast and requires minimal resources.</a:t>
            </a:r>
          </a:p>
          <a:p>
            <a:pPr marL="939800" lvl="1" indent="-342900">
              <a:lnSpc>
                <a:spcPct val="150000"/>
              </a:lnSpc>
              <a:buSzPts val="1400"/>
              <a:buFont typeface="Arial" panose="020B0604020202020204" pitchFamily="34" charset="0"/>
              <a:buChar char="•"/>
            </a:pPr>
            <a:r>
              <a:rPr lang="en-US" dirty="0"/>
              <a:t>Predictable, as the next number is always known.</a:t>
            </a:r>
          </a:p>
        </p:txBody>
      </p:sp>
      <p:grpSp>
        <p:nvGrpSpPr>
          <p:cNvPr id="11" name="Google Shape;269;p32">
            <a:extLst>
              <a:ext uri="{FF2B5EF4-FFF2-40B4-BE49-F238E27FC236}">
                <a16:creationId xmlns:a16="http://schemas.microsoft.com/office/drawing/2014/main" id="{46E54906-2B58-9B2C-EBFB-B57ED96F0340}"/>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FC5173A9-1F29-9448-C24C-8D8A09B9E089}"/>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C718FA00-8E04-E085-3471-88BDE526BA27}"/>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0F9A90AC-944A-FCF0-67D2-E776C637E598}"/>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9CAD0407-9724-BF9D-371F-04915AEDC704}"/>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434A74EA-7BAC-4E17-0BBD-75F959E30791}"/>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8743377E-A45E-806D-668A-7DC76BFAD7DB}"/>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FC349479-5664-7588-74C8-B6443735E5CE}"/>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63BC54BE-0C35-FA87-2B23-29036326CAD6}"/>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942285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4161B47E-D123-8357-13AA-40BBBF2A3871}"/>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7AAAE8A6-732F-EC89-EFB6-91A2770F11C3}"/>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Generating String Methods</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A6F87ADB-7C6F-EF4C-DA6D-B458CDD0D555}"/>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latin typeface="DM Sans" pitchFamily="2" charset="0"/>
            </a:endParaRPr>
          </a:p>
          <a:p>
            <a:pPr indent="-317500">
              <a:lnSpc>
                <a:spcPct val="150000"/>
              </a:lnSpc>
              <a:buSzPts val="1400"/>
              <a:buFont typeface="DM Sans"/>
              <a:buChar char="⏣"/>
            </a:pPr>
            <a:r>
              <a:rPr lang="en-US" sz="1600" dirty="0"/>
              <a:t>Using an Internal Timestamp</a:t>
            </a:r>
          </a:p>
          <a:p>
            <a:pPr lvl="1" indent="-317500">
              <a:lnSpc>
                <a:spcPct val="150000"/>
              </a:lnSpc>
              <a:buSzPts val="1400"/>
              <a:buFont typeface="Arial" panose="020B0604020202020204" pitchFamily="34" charset="0"/>
              <a:buChar char="•"/>
            </a:pPr>
            <a:r>
              <a:rPr lang="en-US" dirty="0"/>
              <a:t>If the SIM card can generate a timestamp, you can use it directly.</a:t>
            </a:r>
          </a:p>
          <a:p>
            <a:pPr lvl="1" indent="-317500">
              <a:lnSpc>
                <a:spcPct val="150000"/>
              </a:lnSpc>
              <a:buSzPts val="1400"/>
              <a:buFont typeface="Arial" panose="020B0604020202020204" pitchFamily="34" charset="0"/>
              <a:buChar char="•"/>
            </a:pPr>
            <a:r>
              <a:rPr lang="en-US" dirty="0"/>
              <a:t>Result = timestamp % 10 ^ 8</a:t>
            </a:r>
          </a:p>
          <a:p>
            <a:pPr lvl="1" indent="-317500">
              <a:lnSpc>
                <a:spcPct val="150000"/>
              </a:lnSpc>
              <a:buSzPts val="1400"/>
              <a:buFont typeface="Arial" panose="020B0604020202020204" pitchFamily="34" charset="0"/>
              <a:buChar char="•"/>
            </a:pPr>
            <a:r>
              <a:rPr lang="en-US" dirty="0"/>
              <a:t>Lightweight and fast and less predictable than a counter.</a:t>
            </a:r>
          </a:p>
          <a:p>
            <a:pPr lvl="1" indent="-317500">
              <a:lnSpc>
                <a:spcPct val="150000"/>
              </a:lnSpc>
              <a:buSzPts val="1400"/>
              <a:buFont typeface="Arial" panose="020B0604020202020204" pitchFamily="34" charset="0"/>
              <a:buChar char="•"/>
            </a:pPr>
            <a:r>
              <a:rPr lang="en-US" dirty="0"/>
              <a:t>Relies on hardware support for timestamps.</a:t>
            </a:r>
          </a:p>
          <a:p>
            <a:pPr lvl="1" indent="-317500">
              <a:lnSpc>
                <a:spcPct val="150000"/>
              </a:lnSpc>
              <a:buSzPts val="1400"/>
              <a:buFont typeface="Arial" panose="020B0604020202020204" pitchFamily="34" charset="0"/>
              <a:buChar char="•"/>
            </a:pPr>
            <a:r>
              <a:rPr lang="en-US" dirty="0"/>
              <a:t>Concurrent requests in the same millisecond may produce duplicate numbers.</a:t>
            </a:r>
          </a:p>
        </p:txBody>
      </p:sp>
      <p:grpSp>
        <p:nvGrpSpPr>
          <p:cNvPr id="11" name="Google Shape;269;p32">
            <a:extLst>
              <a:ext uri="{FF2B5EF4-FFF2-40B4-BE49-F238E27FC236}">
                <a16:creationId xmlns:a16="http://schemas.microsoft.com/office/drawing/2014/main" id="{4B84A7AE-9758-F326-491C-DDED96D410FB}"/>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E7E76CD2-77D6-3008-475E-54D8BFA21225}"/>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32F671BE-840A-80FE-0B31-33E95F826646}"/>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9F0BA1B4-8145-147B-6C8C-FDAD2B264380}"/>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7B832188-6A6C-584D-45A8-4206F389BAE5}"/>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67275E84-4F27-6974-9A3F-91CA44035A0A}"/>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B8D32CFA-DCEF-0359-F25F-88F6F6E97118}"/>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28F63A62-22E8-9DA6-C485-7FDC56E31C1B}"/>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38451575-5AA3-9063-95C8-B907681C788D}"/>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1160401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2C4BC546-465D-01AA-44F4-CD44D1D3994F}"/>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4BE22C83-D23E-042B-87DE-0E57E66C3E9C}"/>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Generating String Methods</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FD5D1FF7-6AAC-EDEB-1BEE-C7EA61AEBB20}"/>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latin typeface="DM Sans" pitchFamily="2" charset="0"/>
            </a:endParaRPr>
          </a:p>
          <a:p>
            <a:pPr indent="-317500">
              <a:lnSpc>
                <a:spcPct val="150000"/>
              </a:lnSpc>
              <a:buSzPts val="1400"/>
              <a:buFont typeface="DM Sans"/>
              <a:buChar char="⏣"/>
            </a:pPr>
            <a:r>
              <a:rPr lang="en-US" sz="1600" dirty="0"/>
              <a:t>Combining Counter and Timestamp</a:t>
            </a:r>
          </a:p>
          <a:p>
            <a:pPr lvl="1" indent="-317500">
              <a:lnSpc>
                <a:spcPct val="150000"/>
              </a:lnSpc>
              <a:buSzPts val="1400"/>
              <a:buFont typeface="Arial" panose="020B0604020202020204" pitchFamily="34" charset="0"/>
              <a:buChar char="•"/>
            </a:pPr>
            <a:r>
              <a:rPr lang="en-US" dirty="0"/>
              <a:t>To increase uniqueness and reduce predictability, combine the counter with the timestamp.</a:t>
            </a:r>
          </a:p>
          <a:p>
            <a:pPr lvl="1" indent="-317500">
              <a:lnSpc>
                <a:spcPct val="150000"/>
              </a:lnSpc>
              <a:buSzPts val="1400"/>
              <a:buFont typeface="Arial" panose="020B0604020202020204" pitchFamily="34" charset="0"/>
              <a:buChar char="•"/>
            </a:pPr>
            <a:r>
              <a:rPr lang="en-US" dirty="0"/>
              <a:t>Result = (counter + timestamp) % 10 ^ 8</a:t>
            </a:r>
          </a:p>
          <a:p>
            <a:pPr marL="939800" lvl="1" indent="-342900">
              <a:lnSpc>
                <a:spcPct val="150000"/>
              </a:lnSpc>
              <a:buSzPts val="1400"/>
              <a:buFont typeface="Arial" panose="020B0604020202020204" pitchFamily="34" charset="0"/>
              <a:buChar char="•"/>
            </a:pPr>
            <a:r>
              <a:rPr lang="en-US" dirty="0"/>
              <a:t>Very lightweight and fast and requires minimal resources.</a:t>
            </a:r>
          </a:p>
          <a:p>
            <a:pPr marL="939800" lvl="1" indent="-342900">
              <a:lnSpc>
                <a:spcPct val="150000"/>
              </a:lnSpc>
              <a:buSzPts val="1400"/>
              <a:buFont typeface="Arial" panose="020B0604020202020204" pitchFamily="34" charset="0"/>
              <a:buChar char="•"/>
            </a:pPr>
            <a:r>
              <a:rPr lang="en-US" dirty="0"/>
              <a:t>Predictable, as the next number is always known.</a:t>
            </a:r>
          </a:p>
        </p:txBody>
      </p:sp>
      <p:grpSp>
        <p:nvGrpSpPr>
          <p:cNvPr id="11" name="Google Shape;269;p32">
            <a:extLst>
              <a:ext uri="{FF2B5EF4-FFF2-40B4-BE49-F238E27FC236}">
                <a16:creationId xmlns:a16="http://schemas.microsoft.com/office/drawing/2014/main" id="{ACDCD4B1-DEC0-6DA1-BB3C-CFF8DFAF825B}"/>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D771560B-4FC8-B13F-8983-1B7E27A1CBAC}"/>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257087AB-28EB-39D0-97C7-11B214DF0CBC}"/>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DE1A26CA-4888-67E8-F8FD-8A9564300107}"/>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A77CB3F2-4D9D-ECCE-D80F-736E10A5A9F8}"/>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3F3FF191-2DDC-51E4-BA28-FED248C04961}"/>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44DB5B77-1B01-5CCC-2E7B-A87226842322}"/>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E66382B3-9A4F-8D26-1AFB-36810C999B4E}"/>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1D9742D2-829D-FD49-9C68-E7F8A574ADA4}"/>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474023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31C54B69-6E05-9859-A7F9-9B8026579280}"/>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1F0D7F9F-6011-4663-4416-8E052EBBB064}"/>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Generating String Methods</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0F13E285-36F9-5DF1-CF4F-680A90C0FF4B}"/>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latin typeface="DM Sans" pitchFamily="2" charset="0"/>
            </a:endParaRPr>
          </a:p>
          <a:p>
            <a:pPr indent="-317500">
              <a:lnSpc>
                <a:spcPct val="150000"/>
              </a:lnSpc>
              <a:buSzPts val="1400"/>
              <a:buFont typeface="DM Sans"/>
              <a:buChar char="⏣"/>
            </a:pPr>
            <a:r>
              <a:rPr lang="en-US" sz="1600" dirty="0"/>
              <a:t>Linear Congruential Generator (LCG)</a:t>
            </a:r>
          </a:p>
          <a:p>
            <a:pPr lvl="1" indent="-317500">
              <a:lnSpc>
                <a:spcPct val="150000"/>
              </a:lnSpc>
              <a:buSzPts val="1400"/>
              <a:buFont typeface="Arial" panose="020B0604020202020204" pitchFamily="34" charset="0"/>
              <a:buChar char="•"/>
            </a:pPr>
            <a:r>
              <a:rPr lang="en-US" dirty="0"/>
              <a:t>LCG is a simple and fast method for generating pseudo-random numbers</a:t>
            </a:r>
          </a:p>
          <a:p>
            <a:pPr lvl="1" indent="-317500">
              <a:lnSpc>
                <a:spcPct val="150000"/>
              </a:lnSpc>
              <a:buSzPts val="1400"/>
              <a:buFont typeface="Arial" panose="020B0604020202020204" pitchFamily="34" charset="0"/>
              <a:buChar char="•"/>
            </a:pPr>
            <a:r>
              <a:rPr lang="en-US" dirty="0"/>
              <a:t>Seed = ( a × seed + c ) % m </a:t>
            </a:r>
          </a:p>
          <a:p>
            <a:pPr lvl="1" indent="-317500">
              <a:lnSpc>
                <a:spcPct val="150000"/>
              </a:lnSpc>
              <a:buSzPts val="1400"/>
              <a:buFont typeface="Arial" panose="020B0604020202020204" pitchFamily="34" charset="0"/>
              <a:buChar char="•"/>
            </a:pPr>
            <a:r>
              <a:rPr lang="en-US" dirty="0"/>
              <a:t>Outputs pseudo-random numbers</a:t>
            </a:r>
            <a:r>
              <a:rPr lang="fa-IR" dirty="0"/>
              <a:t> </a:t>
            </a:r>
            <a:r>
              <a:rPr lang="en-US" dirty="0"/>
              <a:t>and less predictable than counters.</a:t>
            </a:r>
          </a:p>
          <a:p>
            <a:pPr lvl="1" indent="-317500">
              <a:lnSpc>
                <a:spcPct val="150000"/>
              </a:lnSpc>
              <a:buSzPts val="1400"/>
              <a:buFont typeface="Arial" panose="020B0604020202020204" pitchFamily="34" charset="0"/>
              <a:buChar char="•"/>
            </a:pPr>
            <a:r>
              <a:rPr lang="en-US" dirty="0"/>
              <a:t>We could follow these rules to make the most efficiency. Also, we could choose m as a very large number.</a:t>
            </a:r>
          </a:p>
        </p:txBody>
      </p:sp>
      <p:grpSp>
        <p:nvGrpSpPr>
          <p:cNvPr id="11" name="Google Shape;269;p32">
            <a:extLst>
              <a:ext uri="{FF2B5EF4-FFF2-40B4-BE49-F238E27FC236}">
                <a16:creationId xmlns:a16="http://schemas.microsoft.com/office/drawing/2014/main" id="{E234CF1B-C586-E7B2-27D3-FC2483CF7A9A}"/>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88C6BF59-C866-0360-ACAD-8CDF870F02E8}"/>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83B059F2-C018-D7B5-FCDA-828E68B5C372}"/>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DE7B4BF1-AE2E-E5E1-38BF-F05AB707278F}"/>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EF6062C8-192B-9181-98C6-FC20BAAD0E57}"/>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A64F0B7B-D5F1-1510-B5DE-7F223F46C321}"/>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4F42538F-0606-9F60-2221-6F3F041E946D}"/>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5D5DD135-1380-D1DC-EA5D-875C9EF2E3AE}"/>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A96D47CC-A31D-793A-F1A8-B7D639923695}"/>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a:extLst>
              <a:ext uri="{FF2B5EF4-FFF2-40B4-BE49-F238E27FC236}">
                <a16:creationId xmlns:a16="http://schemas.microsoft.com/office/drawing/2014/main" id="{B6F73EC9-104E-E57F-FF3E-5969532804FD}"/>
              </a:ext>
            </a:extLst>
          </p:cNvPr>
          <p:cNvPicPr>
            <a:picLocks noChangeAspect="1"/>
          </p:cNvPicPr>
          <p:nvPr/>
        </p:nvPicPr>
        <p:blipFill>
          <a:blip r:embed="rId3"/>
          <a:stretch>
            <a:fillRect/>
          </a:stretch>
        </p:blipFill>
        <p:spPr>
          <a:xfrm>
            <a:off x="1649169" y="3425377"/>
            <a:ext cx="5197290" cy="1280271"/>
          </a:xfrm>
          <a:prstGeom prst="rect">
            <a:avLst/>
          </a:prstGeom>
        </p:spPr>
      </p:pic>
    </p:spTree>
    <p:extLst>
      <p:ext uri="{BB962C8B-B14F-4D97-AF65-F5344CB8AC3E}">
        <p14:creationId xmlns:p14="http://schemas.microsoft.com/office/powerpoint/2010/main" val="2337802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7DE80D49-3BC1-77AF-7691-19CCD9F9232C}"/>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C8B26D4A-CCCA-B83A-59EC-ECE19D2A2C0C}"/>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Generating String Methods</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46BF47F2-AB3B-2EFC-95DA-30BEBFDC4522}"/>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latin typeface="DM Sans" pitchFamily="2" charset="0"/>
            </a:endParaRPr>
          </a:p>
          <a:p>
            <a:pPr indent="-317500">
              <a:lnSpc>
                <a:spcPct val="150000"/>
              </a:lnSpc>
              <a:buSzPts val="1400"/>
              <a:buFont typeface="DM Sans"/>
              <a:buChar char="⏣"/>
            </a:pPr>
            <a:r>
              <a:rPr lang="en-US" sz="1600" dirty="0"/>
              <a:t>Cryptographic Algorithms (HMAC or SHA-256)</a:t>
            </a:r>
          </a:p>
          <a:p>
            <a:pPr lvl="1" indent="-317500">
              <a:lnSpc>
                <a:spcPct val="150000"/>
              </a:lnSpc>
              <a:buSzPts val="1400"/>
              <a:buFont typeface="Arial" panose="020B0604020202020204" pitchFamily="34" charset="0"/>
              <a:buChar char="•"/>
            </a:pPr>
            <a:r>
              <a:rPr lang="en-US" dirty="0"/>
              <a:t>For high security and unpredictability, use cryptographic algorithms with a secret key or fixed data as input.</a:t>
            </a:r>
          </a:p>
          <a:p>
            <a:pPr lvl="1" indent="-317500">
              <a:lnSpc>
                <a:spcPct val="150000"/>
              </a:lnSpc>
              <a:buSzPts val="1400"/>
              <a:buFont typeface="Arial" panose="020B0604020202020204" pitchFamily="34" charset="0"/>
              <a:buChar char="•"/>
            </a:pPr>
            <a:r>
              <a:rPr lang="en-US" dirty="0"/>
              <a:t>Highly secure and unpredictable.</a:t>
            </a:r>
          </a:p>
          <a:p>
            <a:pPr lvl="1" indent="-317500">
              <a:lnSpc>
                <a:spcPct val="150000"/>
              </a:lnSpc>
              <a:buSzPts val="1400"/>
              <a:buFont typeface="Arial" panose="020B0604020202020204" pitchFamily="34" charset="0"/>
              <a:buChar char="•"/>
            </a:pPr>
            <a:r>
              <a:rPr lang="en-US" dirty="0"/>
              <a:t>High resource consumption.</a:t>
            </a:r>
          </a:p>
        </p:txBody>
      </p:sp>
      <p:grpSp>
        <p:nvGrpSpPr>
          <p:cNvPr id="11" name="Google Shape;269;p32">
            <a:extLst>
              <a:ext uri="{FF2B5EF4-FFF2-40B4-BE49-F238E27FC236}">
                <a16:creationId xmlns:a16="http://schemas.microsoft.com/office/drawing/2014/main" id="{CAFA6558-B445-3E6A-2000-D36C2B167AAB}"/>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EBCE3CB2-8525-7764-5182-0334A8AC148F}"/>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BB35E031-260E-7EC7-4970-6E35DEF51146}"/>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73B631ED-6016-F01D-94DD-2863AD14A27B}"/>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B5C21B3D-224F-A194-35BC-09FBBBA02B5A}"/>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F0BC42D2-808F-9AE3-8106-25AC640B629E}"/>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C9AA41C4-6026-67E6-EF5C-7470953FB893}"/>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66711E32-7896-B83F-9625-BC4FB95A5305}"/>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9AED9C4E-FDF7-2939-6895-BEDE9E1C431E}"/>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2475973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09857D4F-E162-F999-22AE-A49AB2027BE2}"/>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E812472E-CA35-83FF-8C36-996322A65E13}"/>
              </a:ext>
            </a:extLst>
          </p:cNvPr>
          <p:cNvSpPr txBox="1">
            <a:spLocks noGrp="1"/>
          </p:cNvSpPr>
          <p:nvPr>
            <p:ph type="title"/>
          </p:nvPr>
        </p:nvSpPr>
        <p:spPr>
          <a:xfrm>
            <a:off x="720000" y="53950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a:t>Generating String Methods</a:t>
            </a:r>
            <a:endParaRPr dirty="0">
              <a:solidFill>
                <a:schemeClr val="tx1"/>
              </a:solidFill>
              <a:latin typeface="DM Sans" pitchFamily="2" charset="0"/>
            </a:endParaRPr>
          </a:p>
        </p:txBody>
      </p:sp>
      <p:sp>
        <p:nvSpPr>
          <p:cNvPr id="237" name="Google Shape;237;p31">
            <a:extLst>
              <a:ext uri="{FF2B5EF4-FFF2-40B4-BE49-F238E27FC236}">
                <a16:creationId xmlns:a16="http://schemas.microsoft.com/office/drawing/2014/main" id="{71378345-1E3D-009F-663D-A0335AF5095B}"/>
              </a:ext>
            </a:extLst>
          </p:cNvPr>
          <p:cNvSpPr txBox="1">
            <a:spLocks noGrp="1"/>
          </p:cNvSpPr>
          <p:nvPr>
            <p:ph type="body" idx="1"/>
          </p:nvPr>
        </p:nvSpPr>
        <p:spPr>
          <a:xfrm>
            <a:off x="720000" y="874324"/>
            <a:ext cx="7704000" cy="3496500"/>
          </a:xfrm>
          <a:prstGeom prst="rect">
            <a:avLst/>
          </a:prstGeom>
        </p:spPr>
        <p:txBody>
          <a:bodyPr spcFirstLastPara="1" wrap="square" lIns="91425" tIns="91425" rIns="91425" bIns="91425" anchor="t" anchorCtr="0">
            <a:noAutofit/>
          </a:bodyPr>
          <a:lstStyle/>
          <a:p>
            <a:pPr marL="139700" lvl="0" indent="0" algn="l" rtl="0">
              <a:lnSpc>
                <a:spcPct val="150000"/>
              </a:lnSpc>
              <a:spcBef>
                <a:spcPts val="0"/>
              </a:spcBef>
              <a:spcAft>
                <a:spcPts val="0"/>
              </a:spcAft>
              <a:buSzPts val="1400"/>
              <a:buNone/>
            </a:pPr>
            <a:endParaRPr lang="en-US" sz="1600" dirty="0">
              <a:latin typeface="DM Sans" pitchFamily="2" charset="0"/>
            </a:endParaRPr>
          </a:p>
          <a:p>
            <a:pPr indent="-317500">
              <a:lnSpc>
                <a:spcPct val="150000"/>
              </a:lnSpc>
              <a:buSzPts val="1400"/>
              <a:buFont typeface="DM Sans"/>
              <a:buChar char="⏣"/>
            </a:pPr>
            <a:r>
              <a:rPr lang="en-US" sz="1600" dirty="0"/>
              <a:t>Using Hardware RNG (Random Number Generator)</a:t>
            </a:r>
          </a:p>
          <a:p>
            <a:pPr lvl="1" indent="-317500">
              <a:lnSpc>
                <a:spcPct val="150000"/>
              </a:lnSpc>
              <a:buSzPts val="1400"/>
              <a:buFont typeface="Arial" panose="020B0604020202020204" pitchFamily="34" charset="0"/>
              <a:buChar char="•"/>
            </a:pPr>
            <a:r>
              <a:rPr lang="en-US" dirty="0"/>
              <a:t>We can use LFSR or NFSR to generate a random number.</a:t>
            </a:r>
          </a:p>
        </p:txBody>
      </p:sp>
      <p:grpSp>
        <p:nvGrpSpPr>
          <p:cNvPr id="11" name="Google Shape;269;p32">
            <a:extLst>
              <a:ext uri="{FF2B5EF4-FFF2-40B4-BE49-F238E27FC236}">
                <a16:creationId xmlns:a16="http://schemas.microsoft.com/office/drawing/2014/main" id="{9F94D339-4831-39E6-BC27-6BE470910BBE}"/>
              </a:ext>
            </a:extLst>
          </p:cNvPr>
          <p:cNvGrpSpPr/>
          <p:nvPr/>
        </p:nvGrpSpPr>
        <p:grpSpPr>
          <a:xfrm rot="5400000">
            <a:off x="7363145" y="-686153"/>
            <a:ext cx="1182802" cy="2555083"/>
            <a:chOff x="7350442" y="2608992"/>
            <a:chExt cx="777239" cy="1673160"/>
          </a:xfrm>
        </p:grpSpPr>
        <p:sp>
          <p:nvSpPr>
            <p:cNvPr id="12" name="Google Shape;270;p32">
              <a:extLst>
                <a:ext uri="{FF2B5EF4-FFF2-40B4-BE49-F238E27FC236}">
                  <a16:creationId xmlns:a16="http://schemas.microsoft.com/office/drawing/2014/main" id="{BD828091-9A07-168B-3F99-D9F703863719}"/>
                </a:ext>
              </a:extLst>
            </p:cNvPr>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271;p32">
              <a:extLst>
                <a:ext uri="{FF2B5EF4-FFF2-40B4-BE49-F238E27FC236}">
                  <a16:creationId xmlns:a16="http://schemas.microsoft.com/office/drawing/2014/main" id="{6EAB5E6B-64EC-6BCE-9DFD-E3C90A52C670}"/>
                </a:ext>
              </a:extLst>
            </p:cNvPr>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272;p32">
              <a:extLst>
                <a:ext uri="{FF2B5EF4-FFF2-40B4-BE49-F238E27FC236}">
                  <a16:creationId xmlns:a16="http://schemas.microsoft.com/office/drawing/2014/main" id="{39DB8189-C931-D775-7A5B-02F882574DA8}"/>
                </a:ext>
              </a:extLst>
            </p:cNvPr>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273;p32">
              <a:extLst>
                <a:ext uri="{FF2B5EF4-FFF2-40B4-BE49-F238E27FC236}">
                  <a16:creationId xmlns:a16="http://schemas.microsoft.com/office/drawing/2014/main" id="{2A8759F1-9748-4D85-12C0-DCECBC3F4319}"/>
                </a:ext>
              </a:extLst>
            </p:cNvPr>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274;p32">
              <a:extLst>
                <a:ext uri="{FF2B5EF4-FFF2-40B4-BE49-F238E27FC236}">
                  <a16:creationId xmlns:a16="http://schemas.microsoft.com/office/drawing/2014/main" id="{E3511D8E-25E8-1562-85CC-1BBBA8D8E4AE}"/>
                </a:ext>
              </a:extLst>
            </p:cNvPr>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275;p32">
              <a:extLst>
                <a:ext uri="{FF2B5EF4-FFF2-40B4-BE49-F238E27FC236}">
                  <a16:creationId xmlns:a16="http://schemas.microsoft.com/office/drawing/2014/main" id="{FA52641C-5791-7720-A3A7-9FA1B827F4D7}"/>
                </a:ext>
              </a:extLst>
            </p:cNvPr>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276;p32">
              <a:extLst>
                <a:ext uri="{FF2B5EF4-FFF2-40B4-BE49-F238E27FC236}">
                  <a16:creationId xmlns:a16="http://schemas.microsoft.com/office/drawing/2014/main" id="{84BE9974-76D8-9587-24E5-2E80C5A7DEBD}"/>
                </a:ext>
              </a:extLst>
            </p:cNvPr>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277;p32">
              <a:extLst>
                <a:ext uri="{FF2B5EF4-FFF2-40B4-BE49-F238E27FC236}">
                  <a16:creationId xmlns:a16="http://schemas.microsoft.com/office/drawing/2014/main" id="{E25F3EFF-6DDC-17E0-643A-0A6DF088B1C1}"/>
                </a:ext>
              </a:extLst>
            </p:cNvPr>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3" name="Picture 2" descr="A diagram of a computer program&#10;&#10;AI-generated content may be incorrect.">
            <a:extLst>
              <a:ext uri="{FF2B5EF4-FFF2-40B4-BE49-F238E27FC236}">
                <a16:creationId xmlns:a16="http://schemas.microsoft.com/office/drawing/2014/main" id="{2B121D78-F7DA-43CD-80CE-7CA2C6CCDB22}"/>
              </a:ext>
            </a:extLst>
          </p:cNvPr>
          <p:cNvPicPr>
            <a:picLocks noChangeAspect="1"/>
          </p:cNvPicPr>
          <p:nvPr/>
        </p:nvPicPr>
        <p:blipFill>
          <a:blip r:embed="rId3"/>
          <a:stretch>
            <a:fillRect/>
          </a:stretch>
        </p:blipFill>
        <p:spPr>
          <a:xfrm>
            <a:off x="2619970" y="2133898"/>
            <a:ext cx="3904060" cy="2571750"/>
          </a:xfrm>
          <a:prstGeom prst="rect">
            <a:avLst/>
          </a:prstGeom>
        </p:spPr>
      </p:pic>
    </p:spTree>
    <p:extLst>
      <p:ext uri="{BB962C8B-B14F-4D97-AF65-F5344CB8AC3E}">
        <p14:creationId xmlns:p14="http://schemas.microsoft.com/office/powerpoint/2010/main" val="4176305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60A431B0-A901-C3F4-B9E9-44E33AC30199}"/>
            </a:ext>
          </a:extLst>
        </p:cNvPr>
        <p:cNvGrpSpPr/>
        <p:nvPr/>
      </p:nvGrpSpPr>
      <p:grpSpPr>
        <a:xfrm>
          <a:off x="0" y="0"/>
          <a:ext cx="0" cy="0"/>
          <a:chOff x="0" y="0"/>
          <a:chExt cx="0" cy="0"/>
        </a:xfrm>
      </p:grpSpPr>
      <p:sp>
        <p:nvSpPr>
          <p:cNvPr id="236" name="Google Shape;236;p31">
            <a:extLst>
              <a:ext uri="{FF2B5EF4-FFF2-40B4-BE49-F238E27FC236}">
                <a16:creationId xmlns:a16="http://schemas.microsoft.com/office/drawing/2014/main" id="{6F4FA1EE-8B33-FDF0-9597-B80AEC7EE347}"/>
              </a:ext>
            </a:extLst>
          </p:cNvPr>
          <p:cNvSpPr txBox="1">
            <a:spLocks noGrp="1"/>
          </p:cNvSpPr>
          <p:nvPr>
            <p:ph type="title"/>
          </p:nvPr>
        </p:nvSpPr>
        <p:spPr>
          <a:xfrm>
            <a:off x="918120" y="669040"/>
            <a:ext cx="7704000" cy="572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sz="3600" dirty="0"/>
              <a:t>Conclusion</a:t>
            </a:r>
            <a:endParaRPr dirty="0">
              <a:solidFill>
                <a:schemeClr val="accent1"/>
              </a:solidFill>
            </a:endParaRPr>
          </a:p>
        </p:txBody>
      </p:sp>
      <p:sp>
        <p:nvSpPr>
          <p:cNvPr id="237" name="Google Shape;237;p31">
            <a:extLst>
              <a:ext uri="{FF2B5EF4-FFF2-40B4-BE49-F238E27FC236}">
                <a16:creationId xmlns:a16="http://schemas.microsoft.com/office/drawing/2014/main" id="{212E02BE-8FF0-8929-A6CC-68780E09E3B6}"/>
              </a:ext>
            </a:extLst>
          </p:cNvPr>
          <p:cNvSpPr txBox="1">
            <a:spLocks noGrp="1"/>
          </p:cNvSpPr>
          <p:nvPr>
            <p:ph type="body" idx="1"/>
          </p:nvPr>
        </p:nvSpPr>
        <p:spPr>
          <a:xfrm>
            <a:off x="918120" y="1569400"/>
            <a:ext cx="7704000" cy="3496500"/>
          </a:xfrm>
          <a:prstGeom prst="rect">
            <a:avLst/>
          </a:prstGeom>
        </p:spPr>
        <p:txBody>
          <a:bodyPr spcFirstLastPara="1" wrap="square" lIns="91425" tIns="91425" rIns="91425" bIns="91425" anchor="t" anchorCtr="0">
            <a:noAutofit/>
          </a:bodyPr>
          <a:lstStyle/>
          <a:p>
            <a:pPr marL="152400" indent="0">
              <a:buNone/>
            </a:pPr>
            <a:r>
              <a:rPr lang="en-US" sz="1400" dirty="0"/>
              <a:t>In conclusion, generating unique or random strings on SIM cards requires a careful balance between efficiency, resource usage, and security. Basic methods like counters and timestamps offer simplicity and low resource consumption but may lack randomness. Advanced techniques such as LCG, LFSR, and NFSR provide greater flexibility and better randomness, making them suitable for more robust applications, albeit with slightly higher complexity. The choice of method ultimately depends on the specific use case and the constraints of the SIM card environment. By selecting the right approach, it is possible to achieve a secure and reliable solution that meets the requirements of modern SIM card applications.</a:t>
            </a:r>
          </a:p>
        </p:txBody>
      </p:sp>
    </p:spTree>
    <p:extLst>
      <p:ext uri="{BB962C8B-B14F-4D97-AF65-F5344CB8AC3E}">
        <p14:creationId xmlns:p14="http://schemas.microsoft.com/office/powerpoint/2010/main" val="527240598"/>
      </p:ext>
    </p:extLst>
  </p:cSld>
  <p:clrMapOvr>
    <a:masterClrMapping/>
  </p:clrMapOvr>
</p:sld>
</file>

<file path=ppt/theme/theme1.xml><?xml version="1.0" encoding="utf-8"?>
<a:theme xmlns:a="http://schemas.openxmlformats.org/drawingml/2006/main" name="Technology Project Proposal Minitheme by Slidesgo">
  <a:themeElements>
    <a:clrScheme name="Simple Light">
      <a:dk1>
        <a:srgbClr val="FFFFFF"/>
      </a:dk1>
      <a:lt1>
        <a:srgbClr val="E0E0E0"/>
      </a:lt1>
      <a:dk2>
        <a:srgbClr val="666666"/>
      </a:dk2>
      <a:lt2>
        <a:srgbClr val="000000"/>
      </a:lt2>
      <a:accent1>
        <a:srgbClr val="96FFF3"/>
      </a:accent1>
      <a:accent2>
        <a:srgbClr val="8F1EA0"/>
      </a:accent2>
      <a:accent3>
        <a:srgbClr val="3DC6FF"/>
      </a:accent3>
      <a:accent4>
        <a:srgbClr val="2619AA"/>
      </a:accent4>
      <a:accent5>
        <a:srgbClr val="190057"/>
      </a:accent5>
      <a:accent6>
        <a:srgbClr val="F139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3604</TotalTime>
  <Words>535</Words>
  <Application>Microsoft Office PowerPoint</Application>
  <PresentationFormat>On-screen Show (16:9)</PresentationFormat>
  <Paragraphs>45</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Roboto Condensed Light</vt:lpstr>
      <vt:lpstr>DM Sans</vt:lpstr>
      <vt:lpstr>Arial</vt:lpstr>
      <vt:lpstr>Oswald</vt:lpstr>
      <vt:lpstr>Calibri</vt:lpstr>
      <vt:lpstr>Technology Project Proposal Minitheme by Slidesgo</vt:lpstr>
      <vt:lpstr>Generating String in SIM</vt:lpstr>
      <vt:lpstr>Introduction</vt:lpstr>
      <vt:lpstr>Generating String Methods</vt:lpstr>
      <vt:lpstr>Generating String Methods</vt:lpstr>
      <vt:lpstr>Generating String Methods</vt:lpstr>
      <vt:lpstr>Generating String Methods</vt:lpstr>
      <vt:lpstr>Generating String Methods</vt:lpstr>
      <vt:lpstr>Generating String Methods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MohammadHosein Shafiee</cp:lastModifiedBy>
  <cp:revision>172</cp:revision>
  <dcterms:modified xsi:type="dcterms:W3CDTF">2025-02-13T09:12:45Z</dcterms:modified>
</cp:coreProperties>
</file>