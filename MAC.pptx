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11"/>
  </p:notesMasterIdLst>
  <p:sldIdLst>
    <p:sldId id="256" r:id="rId2"/>
    <p:sldId id="340" r:id="rId3"/>
    <p:sldId id="336" r:id="rId4"/>
    <p:sldId id="317" r:id="rId5"/>
    <p:sldId id="321" r:id="rId6"/>
    <p:sldId id="333" r:id="rId7"/>
    <p:sldId id="341" r:id="rId8"/>
    <p:sldId id="337" r:id="rId9"/>
    <p:sldId id="342" r:id="rId10"/>
  </p:sldIdLst>
  <p:sldSz cx="9144000" cy="5143500" type="screen16x9"/>
  <p:notesSz cx="6858000" cy="9144000"/>
  <p:embeddedFontLst>
    <p:embeddedFont>
      <p:font typeface="DM Sans" pitchFamily="2" charset="0"/>
      <p:regular r:id="rId12"/>
      <p:bold r:id="rId13"/>
      <p:italic r:id="rId14"/>
      <p:boldItalic r:id="rId15"/>
    </p:embeddedFont>
    <p:embeddedFont>
      <p:font typeface="Oswald" panose="00000500000000000000" pitchFamily="2" charset="0"/>
      <p:regular r:id="rId16"/>
      <p:bold r:id="rId17"/>
    </p:embeddedFont>
    <p:embeddedFont>
      <p:font typeface="Roboto Condensed Light" panose="02000000000000000000" pitchFamily="2" charset="0"/>
      <p:regular r:id="rId18"/>
      <p: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01">
          <p15:clr>
            <a:srgbClr val="9AA0A6"/>
          </p15:clr>
        </p15:guide>
        <p15:guide id="2" orient="horz" pos="733">
          <p15:clr>
            <a:srgbClr val="9AA0A6"/>
          </p15:clr>
        </p15:guide>
        <p15:guide id="3"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54D5C0F-1A84-42F2-801B-3AE2B2B06C94}">
  <a:tblStyle styleId="{754D5C0F-1A84-42F2-801B-3AE2B2B06C9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103" d="100"/>
          <a:sy n="103" d="100"/>
        </p:scale>
        <p:origin x="898" y="96"/>
      </p:cViewPr>
      <p:guideLst>
        <p:guide orient="horz" pos="601"/>
        <p:guide orient="horz" pos="733"/>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B9F828E2-F680-5E74-ED82-D90B1AAA00AA}"/>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94093A5D-4F88-213C-78BA-3240A9D6BD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3E82A1A2-2061-8921-C729-BC2F1EA927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91974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B5FB39C4-3CF2-1E98-E09A-01E5347A4C6D}"/>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269ED790-F082-CDEE-3230-24F2F1F0A6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6AFCF3C3-93D3-E9F1-F1E4-0BB9CF3FFE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33584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2EC15481-3480-DB05-5925-5336A61C4C0A}"/>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15A8F4A3-DB04-6E4E-C76E-B6D2B375C8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EC617EF3-1555-072E-FC59-1A34F7D744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460747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5E2A241E-5EC1-35F3-22D0-7C5321C31266}"/>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304C96B2-3936-E24D-8AA0-B9080D62C5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F10DDD9B-4E42-0FD9-E3EB-F69F0DAA9B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94810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CF9FCA00-BFE9-B1C4-EEA6-41761DC85CB3}"/>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CAA5ACDE-A259-FB98-CD04-6320142D60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E2D5824F-335A-990F-40E4-EAC283FC4D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19359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E861BA70-C422-FA28-02CA-5A83806AE2E3}"/>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9CB81D26-4C05-B29E-DBF9-2D8E4E0AC1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D0E7E5A7-C2E8-3B7F-01D3-AD0509DA87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69118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DCA88F09-E1CF-6DAC-614B-7A08E7174FD8}"/>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07555F21-442A-3582-2481-C882C3D2F8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E8D80015-289F-164D-00A3-FBCD3F43E0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73181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6AE3887B-2878-F55F-A2CB-1BA9C6CC9F15}"/>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DA91B6D1-569F-535A-81AF-6EC2B3403E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E99F37FF-54C8-A2A5-3398-3101F72BAA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250089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accent5"/>
            </a:gs>
            <a:gs pos="48000">
              <a:schemeClr val="accent4"/>
            </a:gs>
            <a:gs pos="100000">
              <a:schemeClr val="accent2"/>
            </a:gs>
          </a:gsLst>
          <a:lin ang="2698631" scaled="0"/>
        </a:gra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967650"/>
            <a:ext cx="3972000" cy="30276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Clr>
                <a:schemeClr val="dk1"/>
              </a:buClr>
              <a:buSzPts val="4900"/>
              <a:buNone/>
              <a:defRPr sz="5000">
                <a:solidFill>
                  <a:schemeClr val="dk1"/>
                </a:solidFill>
              </a:defRPr>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995250"/>
            <a:ext cx="4359000" cy="409500"/>
          </a:xfrm>
          <a:prstGeom prst="rect">
            <a:avLst/>
          </a:prstGeom>
          <a:noFill/>
          <a:ln>
            <a:noFill/>
          </a:ln>
        </p:spPr>
        <p:txBody>
          <a:bodyPr spcFirstLastPara="1" wrap="square" lIns="0" tIns="0" rIns="0" bIns="0" anchor="ctr" anchorCtr="0">
            <a:noAutofit/>
          </a:bodyPr>
          <a:lstStyle>
            <a:lvl1pPr lvl="0"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1pPr>
            <a:lvl2pPr lvl="1"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2pPr>
            <a:lvl3pPr lvl="2"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3pPr>
            <a:lvl4pPr lvl="3"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4pPr>
            <a:lvl5pPr lvl="4"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5pPr>
            <a:lvl6pPr lvl="5"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6pPr>
            <a:lvl7pPr lvl="6"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7pPr>
            <a:lvl8pPr lvl="7"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8pPr>
            <a:lvl9pPr lvl="8"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9pPr>
          </a:lstStyle>
          <a:p>
            <a:endParaRPr/>
          </a:p>
        </p:txBody>
      </p:sp>
      <p:grpSp>
        <p:nvGrpSpPr>
          <p:cNvPr id="11" name="Google Shape;11;p2"/>
          <p:cNvGrpSpPr/>
          <p:nvPr/>
        </p:nvGrpSpPr>
        <p:grpSpPr>
          <a:xfrm rot="5400000">
            <a:off x="7002555" y="-662466"/>
            <a:ext cx="1673084" cy="3614193"/>
            <a:chOff x="7350442" y="2608992"/>
            <a:chExt cx="777239" cy="1673160"/>
          </a:xfrm>
        </p:grpSpPr>
        <p:sp>
          <p:nvSpPr>
            <p:cNvPr id="12" name="Google Shape;12;p2"/>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13;p2"/>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14;p2"/>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15;p2"/>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16;p2"/>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17;p2"/>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18;p2"/>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19;p2"/>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2"/>
        <p:cNvGrpSpPr/>
        <p:nvPr/>
      </p:nvGrpSpPr>
      <p:grpSpPr>
        <a:xfrm>
          <a:off x="0" y="0"/>
          <a:ext cx="0" cy="0"/>
          <a:chOff x="0" y="0"/>
          <a:chExt cx="0" cy="0"/>
        </a:xfrm>
      </p:grpSpPr>
      <p:sp>
        <p:nvSpPr>
          <p:cNvPr id="43" name="Google Shape;43;p4"/>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lvl1pPr lvl="0" rtl="0">
              <a:spcBef>
                <a:spcPts val="0"/>
              </a:spcBef>
              <a:spcAft>
                <a:spcPts val="0"/>
              </a:spcAft>
              <a:buSzPts val="34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4" name="Google Shape;44;p4"/>
          <p:cNvSpPr txBox="1">
            <a:spLocks noGrp="1"/>
          </p:cNvSpPr>
          <p:nvPr>
            <p:ph type="body" idx="1"/>
          </p:nvPr>
        </p:nvSpPr>
        <p:spPr>
          <a:xfrm>
            <a:off x="720000" y="1112200"/>
            <a:ext cx="7704000" cy="34965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rgbClr val="434343"/>
              </a:buClr>
              <a:buSzPts val="1200"/>
              <a:buAutoNum type="arabicPeriod"/>
              <a:defRPr sz="1200"/>
            </a:lvl1pPr>
            <a:lvl2pPr marL="914400" lvl="1" indent="-304800" rtl="0">
              <a:lnSpc>
                <a:spcPct val="115000"/>
              </a:lnSpc>
              <a:spcBef>
                <a:spcPts val="0"/>
              </a:spcBef>
              <a:spcAft>
                <a:spcPts val="0"/>
              </a:spcAft>
              <a:buClr>
                <a:srgbClr val="434343"/>
              </a:buClr>
              <a:buSzPts val="1200"/>
              <a:buFont typeface="Roboto Condensed Light"/>
              <a:buAutoNum type="alphaLcPeriod"/>
              <a:defRPr/>
            </a:lvl2pPr>
            <a:lvl3pPr marL="1371600" lvl="2" indent="-304800" rtl="0">
              <a:lnSpc>
                <a:spcPct val="115000"/>
              </a:lnSpc>
              <a:spcBef>
                <a:spcPts val="0"/>
              </a:spcBef>
              <a:spcAft>
                <a:spcPts val="0"/>
              </a:spcAft>
              <a:buClr>
                <a:srgbClr val="434343"/>
              </a:buClr>
              <a:buSzPts val="1200"/>
              <a:buFont typeface="Roboto Condensed Light"/>
              <a:buAutoNum type="romanLcPeriod"/>
              <a:defRPr/>
            </a:lvl3pPr>
            <a:lvl4pPr marL="1828800" lvl="3" indent="-304800" rtl="0">
              <a:lnSpc>
                <a:spcPct val="115000"/>
              </a:lnSpc>
              <a:spcBef>
                <a:spcPts val="0"/>
              </a:spcBef>
              <a:spcAft>
                <a:spcPts val="0"/>
              </a:spcAft>
              <a:buClr>
                <a:srgbClr val="434343"/>
              </a:buClr>
              <a:buSzPts val="1200"/>
              <a:buFont typeface="Roboto Condensed Light"/>
              <a:buAutoNum type="arabicPeriod"/>
              <a:defRPr/>
            </a:lvl4pPr>
            <a:lvl5pPr marL="2286000" lvl="4" indent="-304800" rtl="0">
              <a:lnSpc>
                <a:spcPct val="115000"/>
              </a:lnSpc>
              <a:spcBef>
                <a:spcPts val="0"/>
              </a:spcBef>
              <a:spcAft>
                <a:spcPts val="0"/>
              </a:spcAft>
              <a:buClr>
                <a:srgbClr val="434343"/>
              </a:buClr>
              <a:buSzPts val="1200"/>
              <a:buFont typeface="Roboto Condensed Light"/>
              <a:buAutoNum type="alphaLcPeriod"/>
              <a:defRPr/>
            </a:lvl5pPr>
            <a:lvl6pPr marL="2743200" lvl="5" indent="-304800" rtl="0">
              <a:lnSpc>
                <a:spcPct val="115000"/>
              </a:lnSpc>
              <a:spcBef>
                <a:spcPts val="0"/>
              </a:spcBef>
              <a:spcAft>
                <a:spcPts val="0"/>
              </a:spcAft>
              <a:buClr>
                <a:srgbClr val="434343"/>
              </a:buClr>
              <a:buSzPts val="1200"/>
              <a:buFont typeface="Roboto Condensed Light"/>
              <a:buAutoNum type="romanLcPeriod"/>
              <a:defRPr/>
            </a:lvl6pPr>
            <a:lvl7pPr marL="3200400" lvl="6" indent="-304800" rtl="0">
              <a:lnSpc>
                <a:spcPct val="115000"/>
              </a:lnSpc>
              <a:spcBef>
                <a:spcPts val="0"/>
              </a:spcBef>
              <a:spcAft>
                <a:spcPts val="0"/>
              </a:spcAft>
              <a:buClr>
                <a:srgbClr val="434343"/>
              </a:buClr>
              <a:buSzPts val="1200"/>
              <a:buFont typeface="Roboto Condensed Light"/>
              <a:buAutoNum type="arabicPeriod"/>
              <a:defRPr/>
            </a:lvl7pPr>
            <a:lvl8pPr marL="3657600" lvl="7" indent="-304800" rtl="0">
              <a:lnSpc>
                <a:spcPct val="115000"/>
              </a:lnSpc>
              <a:spcBef>
                <a:spcPts val="0"/>
              </a:spcBef>
              <a:spcAft>
                <a:spcPts val="0"/>
              </a:spcAft>
              <a:buClr>
                <a:srgbClr val="434343"/>
              </a:buClr>
              <a:buSzPts val="1200"/>
              <a:buFont typeface="Roboto Condensed Light"/>
              <a:buAutoNum type="alphaLcPeriod"/>
              <a:defRPr/>
            </a:lvl8pPr>
            <a:lvl9pPr marL="4114800" lvl="8" indent="-304800" rtl="0">
              <a:lnSpc>
                <a:spcPct val="115000"/>
              </a:lnSpc>
              <a:spcBef>
                <a:spcPts val="0"/>
              </a:spcBef>
              <a:spcAft>
                <a:spcPts val="0"/>
              </a:spcAft>
              <a:buClr>
                <a:srgbClr val="434343"/>
              </a:buClr>
              <a:buSzPts val="1200"/>
              <a:buFont typeface="Roboto Condensed Light"/>
              <a:buAutoNum type="romanLcPeriod"/>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10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BLANK_1_1_1_1_1_1_1_1_1_1_1">
    <p:bg>
      <p:bgPr>
        <a:gradFill>
          <a:gsLst>
            <a:gs pos="0">
              <a:schemeClr val="accent3"/>
            </a:gs>
            <a:gs pos="44000">
              <a:schemeClr val="accent4"/>
            </a:gs>
            <a:gs pos="100000">
              <a:schemeClr val="accent5"/>
            </a:gs>
          </a:gsLst>
          <a:lin ang="2698631" scaled="0"/>
        </a:gradFill>
        <a:effectLst/>
      </p:bgPr>
    </p:bg>
    <p:spTree>
      <p:nvGrpSpPr>
        <p:cNvPr id="1" name="Shape 21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_1_1_1_2">
    <p:bg>
      <p:bgPr>
        <a:gradFill>
          <a:gsLst>
            <a:gs pos="0">
              <a:schemeClr val="accent2"/>
            </a:gs>
            <a:gs pos="36000">
              <a:schemeClr val="accent4"/>
            </a:gs>
            <a:gs pos="100000">
              <a:schemeClr val="accent4"/>
            </a:gs>
          </a:gsLst>
          <a:lin ang="2698631" scaled="0"/>
        </a:gradFill>
        <a:effectLst/>
      </p:bgPr>
    </p:bg>
    <p:spTree>
      <p:nvGrpSpPr>
        <p:cNvPr id="1" name="Shape 2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accent5"/>
            </a:gs>
            <a:gs pos="48000">
              <a:schemeClr val="accent4"/>
            </a:gs>
            <a:gs pos="100000">
              <a:schemeClr val="accent2"/>
            </a:gs>
          </a:gsLst>
          <a:lin ang="2698631"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496"/>
            <a:ext cx="7708500" cy="5760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3400"/>
              <a:buFont typeface="Oswald"/>
              <a:buNone/>
              <a:defRPr sz="3400">
                <a:solidFill>
                  <a:schemeClr val="dk1"/>
                </a:solidFill>
                <a:latin typeface="Oswald"/>
                <a:ea typeface="Oswald"/>
                <a:cs typeface="Oswald"/>
                <a:sym typeface="Oswald"/>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rtl="0">
              <a:lnSpc>
                <a:spcPct val="115000"/>
              </a:lnSpc>
              <a:spcBef>
                <a:spcPts val="1600"/>
              </a:spcBef>
              <a:spcAft>
                <a:spcPts val="160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8" r:id="rId3"/>
    <p:sldLayoutId id="2147483671" r:id="rId4"/>
    <p:sldLayoutId id="214748367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0"/>
          <p:cNvSpPr txBox="1">
            <a:spLocks noGrp="1"/>
          </p:cNvSpPr>
          <p:nvPr>
            <p:ph type="ctrTitle"/>
          </p:nvPr>
        </p:nvSpPr>
        <p:spPr>
          <a:xfrm>
            <a:off x="713225" y="967650"/>
            <a:ext cx="3972000" cy="3027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3600" dirty="0">
                <a:solidFill>
                  <a:schemeClr val="accent1"/>
                </a:solidFill>
              </a:rPr>
              <a:t>Verification Algorithms</a:t>
            </a:r>
            <a:endParaRPr sz="3600" dirty="0"/>
          </a:p>
        </p:txBody>
      </p:sp>
      <p:sp>
        <p:nvSpPr>
          <p:cNvPr id="230" name="Google Shape;230;p30"/>
          <p:cNvSpPr txBox="1">
            <a:spLocks noGrp="1"/>
          </p:cNvSpPr>
          <p:nvPr>
            <p:ph type="subTitle" idx="1"/>
          </p:nvPr>
        </p:nvSpPr>
        <p:spPr>
          <a:xfrm>
            <a:off x="713225" y="3995250"/>
            <a:ext cx="4359000" cy="4095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1400" dirty="0"/>
              <a:t>Researcher:  Mohammad Hossein Shafiee</a:t>
            </a:r>
            <a:br>
              <a:rPr lang="en-US" sz="1400" dirty="0"/>
            </a:br>
            <a:endParaRPr dirty="0"/>
          </a:p>
        </p:txBody>
      </p:sp>
      <p:pic>
        <p:nvPicPr>
          <p:cNvPr id="231" name="Google Shape;231;p30"/>
          <p:cNvPicPr preferRelativeResize="0"/>
          <p:nvPr/>
        </p:nvPicPr>
        <p:blipFill>
          <a:blip r:embed="rId3">
            <a:alphaModFix/>
          </a:blip>
          <a:stretch>
            <a:fillRect/>
          </a:stretch>
        </p:blipFill>
        <p:spPr>
          <a:xfrm>
            <a:off x="4463625" y="0"/>
            <a:ext cx="4392392"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94FFDBEF-759C-FFD5-63C4-CBAF86AD6DEA}"/>
            </a:ext>
          </a:extLst>
        </p:cNvPr>
        <p:cNvGrpSpPr/>
        <p:nvPr/>
      </p:nvGrpSpPr>
      <p:grpSpPr>
        <a:xfrm>
          <a:off x="0" y="0"/>
          <a:ext cx="0" cy="0"/>
          <a:chOff x="0" y="0"/>
          <a:chExt cx="0" cy="0"/>
        </a:xfrm>
      </p:grpSpPr>
      <p:sp>
        <p:nvSpPr>
          <p:cNvPr id="237" name="Google Shape;237;p31">
            <a:extLst>
              <a:ext uri="{FF2B5EF4-FFF2-40B4-BE49-F238E27FC236}">
                <a16:creationId xmlns:a16="http://schemas.microsoft.com/office/drawing/2014/main" id="{5FEC22B0-7F32-0873-5A41-899193896030}"/>
              </a:ext>
            </a:extLst>
          </p:cNvPr>
          <p:cNvSpPr txBox="1">
            <a:spLocks noGrp="1"/>
          </p:cNvSpPr>
          <p:nvPr>
            <p:ph type="body" idx="1"/>
          </p:nvPr>
        </p:nvSpPr>
        <p:spPr>
          <a:xfrm>
            <a:off x="918120" y="1569400"/>
            <a:ext cx="7704000" cy="3496500"/>
          </a:xfrm>
          <a:prstGeom prst="rect">
            <a:avLst/>
          </a:prstGeom>
        </p:spPr>
        <p:txBody>
          <a:bodyPr spcFirstLastPara="1" wrap="square" lIns="91425" tIns="91425" rIns="91425" bIns="91425" anchor="t" anchorCtr="0">
            <a:noAutofit/>
          </a:bodyPr>
          <a:lstStyle/>
          <a:p>
            <a:pPr marL="152400" indent="0">
              <a:buNone/>
            </a:pPr>
            <a:r>
              <a:rPr lang="en-US" sz="1600" dirty="0"/>
              <a:t>In OTA communication, a SIM card needs to send data, such as a generated string, to a server securely. However, SIM cards often lack a real-time clock, meaning timestamps cannot be used to verify the freshness or authenticity of the message. This raises a critical question: how can the server ensure that the message it receives is both untampered and genuinely sent by the specific SIM, without relying on timestamps? Additionally, the solution must prevent replay attacks, where an attacker might resend previously intercepted valid messages to deceive the server.</a:t>
            </a:r>
            <a:endParaRPr lang="en-US" sz="900" dirty="0"/>
          </a:p>
        </p:txBody>
      </p:sp>
      <p:sp>
        <p:nvSpPr>
          <p:cNvPr id="2" name="Title 1">
            <a:extLst>
              <a:ext uri="{FF2B5EF4-FFF2-40B4-BE49-F238E27FC236}">
                <a16:creationId xmlns:a16="http://schemas.microsoft.com/office/drawing/2014/main" id="{021705E6-2A05-5049-FFDE-A91954628EDA}"/>
              </a:ext>
            </a:extLst>
          </p:cNvPr>
          <p:cNvSpPr>
            <a:spLocks noGrp="1" noChangeArrowheads="1"/>
          </p:cNvSpPr>
          <p:nvPr>
            <p:ph type="title"/>
          </p:nvPr>
        </p:nvSpPr>
        <p:spPr bwMode="auto">
          <a:xfrm>
            <a:off x="917575" y="662494"/>
            <a:ext cx="426430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Oswald" panose="00000500000000000000" pitchFamily="2" charset="0"/>
              </a:rPr>
              <a:t>Explanation of the problem </a:t>
            </a:r>
          </a:p>
        </p:txBody>
      </p:sp>
    </p:spTree>
    <p:extLst>
      <p:ext uri="{BB962C8B-B14F-4D97-AF65-F5344CB8AC3E}">
        <p14:creationId xmlns:p14="http://schemas.microsoft.com/office/powerpoint/2010/main" val="1071382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339B6834-8BF1-DD66-EFED-72E4DF17778B}"/>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31245891-7A83-1631-E821-20F5284940E7}"/>
              </a:ext>
            </a:extLst>
          </p:cNvPr>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dirty="0"/>
              <a:t>Challenges</a:t>
            </a:r>
            <a:endParaRPr dirty="0">
              <a:solidFill>
                <a:schemeClr val="tx1"/>
              </a:solidFill>
              <a:latin typeface="DM Sans" pitchFamily="2" charset="0"/>
            </a:endParaRPr>
          </a:p>
        </p:txBody>
      </p:sp>
      <p:sp>
        <p:nvSpPr>
          <p:cNvPr id="237" name="Google Shape;237;p31">
            <a:extLst>
              <a:ext uri="{FF2B5EF4-FFF2-40B4-BE49-F238E27FC236}">
                <a16:creationId xmlns:a16="http://schemas.microsoft.com/office/drawing/2014/main" id="{2471BB27-17D7-D6AC-4F6D-CFC394411B1C}"/>
              </a:ext>
            </a:extLst>
          </p:cNvPr>
          <p:cNvSpPr txBox="1">
            <a:spLocks noGrp="1"/>
          </p:cNvSpPr>
          <p:nvPr>
            <p:ph type="body" idx="1"/>
          </p:nvPr>
        </p:nvSpPr>
        <p:spPr>
          <a:xfrm>
            <a:off x="720000" y="874324"/>
            <a:ext cx="7704000" cy="3496500"/>
          </a:xfrm>
          <a:prstGeom prst="rect">
            <a:avLst/>
          </a:prstGeom>
        </p:spPr>
        <p:txBody>
          <a:bodyPr spcFirstLastPara="1" wrap="square" lIns="91425" tIns="91425" rIns="91425" bIns="91425" anchor="t" anchorCtr="0">
            <a:noAutofit/>
          </a:bodyPr>
          <a:lstStyle/>
          <a:p>
            <a:pPr marL="139700" lvl="0" indent="0" algn="l" rtl="0">
              <a:lnSpc>
                <a:spcPct val="150000"/>
              </a:lnSpc>
              <a:spcBef>
                <a:spcPts val="0"/>
              </a:spcBef>
              <a:spcAft>
                <a:spcPts val="0"/>
              </a:spcAft>
              <a:buSzPts val="1400"/>
              <a:buNone/>
            </a:pPr>
            <a:endParaRPr lang="en-US" sz="1400" dirty="0">
              <a:latin typeface="DM Sans" pitchFamily="2" charset="0"/>
            </a:endParaRPr>
          </a:p>
          <a:p>
            <a:pPr marL="139700" indent="0">
              <a:lnSpc>
                <a:spcPct val="150000"/>
              </a:lnSpc>
              <a:buSzPts val="1400"/>
              <a:buNone/>
            </a:pPr>
            <a:r>
              <a:rPr lang="en-US" sz="1400" dirty="0"/>
              <a:t>HMAC (Hash-based Message Authentication Code), defined in RFC 2104, ensures message integrity and authenticity by combining a secret key with a message using a hash function like SHA-256. While its core structure is fixed, elements like the hash function, key management, and MAC truncation can be customized. HMAC does not rely on timestamps, making it suitable for systems like SIM cards without real-time clocks, but it requires other mechanisms, such as nonces or sequence numbers, to prevent replay attacks. Altering HMAC’s design is discouraged, as it may weaken security or cause compatibility issues.</a:t>
            </a:r>
            <a:endParaRPr lang="en-US" sz="1400" dirty="0">
              <a:latin typeface="DM Sans" pitchFamily="2" charset="0"/>
            </a:endParaRPr>
          </a:p>
        </p:txBody>
      </p:sp>
      <p:grpSp>
        <p:nvGrpSpPr>
          <p:cNvPr id="11" name="Google Shape;269;p32">
            <a:extLst>
              <a:ext uri="{FF2B5EF4-FFF2-40B4-BE49-F238E27FC236}">
                <a16:creationId xmlns:a16="http://schemas.microsoft.com/office/drawing/2014/main" id="{778D7A43-A053-08AE-741B-A3E148779E8A}"/>
              </a:ext>
            </a:extLst>
          </p:cNvPr>
          <p:cNvGrpSpPr/>
          <p:nvPr/>
        </p:nvGrpSpPr>
        <p:grpSpPr>
          <a:xfrm rot="5400000">
            <a:off x="7363145" y="-686153"/>
            <a:ext cx="1182802" cy="2555083"/>
            <a:chOff x="7350442" y="2608992"/>
            <a:chExt cx="777239" cy="1673160"/>
          </a:xfrm>
        </p:grpSpPr>
        <p:sp>
          <p:nvSpPr>
            <p:cNvPr id="12" name="Google Shape;270;p32">
              <a:extLst>
                <a:ext uri="{FF2B5EF4-FFF2-40B4-BE49-F238E27FC236}">
                  <a16:creationId xmlns:a16="http://schemas.microsoft.com/office/drawing/2014/main" id="{7DFB2801-F1D5-B64E-9E83-0F16E6809F6A}"/>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71;p32">
              <a:extLst>
                <a:ext uri="{FF2B5EF4-FFF2-40B4-BE49-F238E27FC236}">
                  <a16:creationId xmlns:a16="http://schemas.microsoft.com/office/drawing/2014/main" id="{C56C0D41-93D6-D1ED-7211-C1278FF90CB3}"/>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72;p32">
              <a:extLst>
                <a:ext uri="{FF2B5EF4-FFF2-40B4-BE49-F238E27FC236}">
                  <a16:creationId xmlns:a16="http://schemas.microsoft.com/office/drawing/2014/main" id="{6E04950B-5D4F-3D88-4658-0F0966B2E4AA}"/>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73;p32">
              <a:extLst>
                <a:ext uri="{FF2B5EF4-FFF2-40B4-BE49-F238E27FC236}">
                  <a16:creationId xmlns:a16="http://schemas.microsoft.com/office/drawing/2014/main" id="{DB420A6E-454D-1385-6F06-2EE50A384D1B}"/>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74;p32">
              <a:extLst>
                <a:ext uri="{FF2B5EF4-FFF2-40B4-BE49-F238E27FC236}">
                  <a16:creationId xmlns:a16="http://schemas.microsoft.com/office/drawing/2014/main" id="{CD0262F5-B3FF-5CA3-5132-0D44130A7E47}"/>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75;p32">
              <a:extLst>
                <a:ext uri="{FF2B5EF4-FFF2-40B4-BE49-F238E27FC236}">
                  <a16:creationId xmlns:a16="http://schemas.microsoft.com/office/drawing/2014/main" id="{1ACDA128-EBC7-57CC-C4F0-CFDF4B312239}"/>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76;p32">
              <a:extLst>
                <a:ext uri="{FF2B5EF4-FFF2-40B4-BE49-F238E27FC236}">
                  <a16:creationId xmlns:a16="http://schemas.microsoft.com/office/drawing/2014/main" id="{F9CD5782-CBE8-9D2F-0E76-A11040ACBC20}"/>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77;p32">
              <a:extLst>
                <a:ext uri="{FF2B5EF4-FFF2-40B4-BE49-F238E27FC236}">
                  <a16:creationId xmlns:a16="http://schemas.microsoft.com/office/drawing/2014/main" id="{20B01376-10E3-79FE-5673-17666FE1A698}"/>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4072849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6542F4B9-F781-B727-B465-A0048C1EBAD8}"/>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2A6C678A-A1F8-38A1-DA85-4D8284E384F2}"/>
              </a:ext>
            </a:extLst>
          </p:cNvPr>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dirty="0"/>
              <a:t>Basic Components in the Scenario</a:t>
            </a:r>
            <a:endParaRPr dirty="0">
              <a:solidFill>
                <a:schemeClr val="tx1"/>
              </a:solidFill>
              <a:latin typeface="DM Sans" pitchFamily="2" charset="0"/>
            </a:endParaRPr>
          </a:p>
        </p:txBody>
      </p:sp>
      <p:sp>
        <p:nvSpPr>
          <p:cNvPr id="237" name="Google Shape;237;p31">
            <a:extLst>
              <a:ext uri="{FF2B5EF4-FFF2-40B4-BE49-F238E27FC236}">
                <a16:creationId xmlns:a16="http://schemas.microsoft.com/office/drawing/2014/main" id="{C7EE62A3-351E-C6AF-8D2E-1F7AE0302839}"/>
              </a:ext>
            </a:extLst>
          </p:cNvPr>
          <p:cNvSpPr txBox="1">
            <a:spLocks noGrp="1"/>
          </p:cNvSpPr>
          <p:nvPr>
            <p:ph type="body" idx="1"/>
          </p:nvPr>
        </p:nvSpPr>
        <p:spPr>
          <a:xfrm>
            <a:off x="720000" y="874324"/>
            <a:ext cx="7704000" cy="3496500"/>
          </a:xfrm>
          <a:prstGeom prst="rect">
            <a:avLst/>
          </a:prstGeom>
        </p:spPr>
        <p:txBody>
          <a:bodyPr spcFirstLastPara="1" wrap="square" lIns="91425" tIns="91425" rIns="91425" bIns="91425" anchor="t" anchorCtr="0">
            <a:noAutofit/>
          </a:bodyPr>
          <a:lstStyle/>
          <a:p>
            <a:pPr marL="139700" lvl="0" indent="0" algn="l" rtl="0">
              <a:lnSpc>
                <a:spcPct val="150000"/>
              </a:lnSpc>
              <a:spcBef>
                <a:spcPts val="0"/>
              </a:spcBef>
              <a:spcAft>
                <a:spcPts val="0"/>
              </a:spcAft>
              <a:buSzPts val="1400"/>
              <a:buNone/>
            </a:pPr>
            <a:endParaRPr lang="en-US" sz="1400" dirty="0">
              <a:latin typeface="DM Sans" pitchFamily="2" charset="0"/>
            </a:endParaRPr>
          </a:p>
          <a:p>
            <a:pPr indent="-317500">
              <a:lnSpc>
                <a:spcPct val="150000"/>
              </a:lnSpc>
              <a:buSzPts val="1400"/>
              <a:buFont typeface="DM Sans"/>
              <a:buChar char="⏣"/>
            </a:pPr>
            <a:r>
              <a:rPr lang="en-US" sz="1400" b="1" dirty="0"/>
              <a:t>Shared Secrets</a:t>
            </a:r>
            <a:r>
              <a:rPr lang="en-US" sz="1400" dirty="0"/>
              <a:t>: Key that is pre-configured between the SIM and the server</a:t>
            </a:r>
            <a:r>
              <a:rPr lang="fa-IR" sz="1400" dirty="0"/>
              <a:t>.</a:t>
            </a:r>
            <a:endParaRPr lang="en-US" sz="1400" dirty="0"/>
          </a:p>
          <a:p>
            <a:pPr indent="-317500">
              <a:lnSpc>
                <a:spcPct val="150000"/>
              </a:lnSpc>
              <a:buSzPts val="1400"/>
              <a:buFont typeface="DM Sans"/>
              <a:buChar char="⏣"/>
            </a:pPr>
            <a:r>
              <a:rPr lang="en-US" sz="1400" b="1" dirty="0"/>
              <a:t>SIM Card</a:t>
            </a:r>
            <a:r>
              <a:rPr lang="en-US" sz="1400" dirty="0"/>
              <a:t>: Contains unique identifiers like IMSI, phone number, and shared secrets.</a:t>
            </a:r>
            <a:endParaRPr lang="fa-IR" sz="1400" dirty="0"/>
          </a:p>
          <a:p>
            <a:pPr indent="-317500">
              <a:lnSpc>
                <a:spcPct val="150000"/>
              </a:lnSpc>
              <a:buSzPts val="1400"/>
              <a:buFont typeface="DM Sans"/>
              <a:buChar char="⏣"/>
            </a:pPr>
            <a:r>
              <a:rPr lang="en-US" sz="1400" b="1" dirty="0"/>
              <a:t>Server</a:t>
            </a:r>
            <a:r>
              <a:rPr lang="en-US" sz="1400" dirty="0"/>
              <a:t>: Verifies the authenticity of the messages sent by the SIM.</a:t>
            </a:r>
            <a:endParaRPr lang="fa-IR" sz="1400" dirty="0"/>
          </a:p>
          <a:p>
            <a:pPr indent="-317500">
              <a:lnSpc>
                <a:spcPct val="150000"/>
              </a:lnSpc>
              <a:buSzPts val="1400"/>
              <a:buFont typeface="DM Sans"/>
              <a:buChar char="⏣"/>
            </a:pPr>
            <a:r>
              <a:rPr lang="en-US" sz="1400" b="1" dirty="0">
                <a:latin typeface="DM Sans" pitchFamily="2" charset="0"/>
              </a:rPr>
              <a:t>Nonces: a </a:t>
            </a:r>
            <a:r>
              <a:rPr lang="en-US" sz="1400" dirty="0">
                <a:latin typeface="DM Sans" pitchFamily="2" charset="0"/>
              </a:rPr>
              <a:t>Random generated number for each communication.</a:t>
            </a:r>
            <a:br>
              <a:rPr lang="en-US" sz="1400" dirty="0">
                <a:latin typeface="DM Sans" pitchFamily="2" charset="0"/>
              </a:rPr>
            </a:br>
            <a:endParaRPr lang="en-US" sz="1400" dirty="0">
              <a:latin typeface="DM Sans" pitchFamily="2" charset="0"/>
            </a:endParaRPr>
          </a:p>
        </p:txBody>
      </p:sp>
      <p:grpSp>
        <p:nvGrpSpPr>
          <p:cNvPr id="11" name="Google Shape;269;p32">
            <a:extLst>
              <a:ext uri="{FF2B5EF4-FFF2-40B4-BE49-F238E27FC236}">
                <a16:creationId xmlns:a16="http://schemas.microsoft.com/office/drawing/2014/main" id="{46E54906-2B58-9B2C-EBFB-B57ED96F0340}"/>
              </a:ext>
            </a:extLst>
          </p:cNvPr>
          <p:cNvGrpSpPr/>
          <p:nvPr/>
        </p:nvGrpSpPr>
        <p:grpSpPr>
          <a:xfrm rot="5400000">
            <a:off x="7363145" y="-686153"/>
            <a:ext cx="1182802" cy="2555083"/>
            <a:chOff x="7350442" y="2608992"/>
            <a:chExt cx="777239" cy="1673160"/>
          </a:xfrm>
        </p:grpSpPr>
        <p:sp>
          <p:nvSpPr>
            <p:cNvPr id="12" name="Google Shape;270;p32">
              <a:extLst>
                <a:ext uri="{FF2B5EF4-FFF2-40B4-BE49-F238E27FC236}">
                  <a16:creationId xmlns:a16="http://schemas.microsoft.com/office/drawing/2014/main" id="{FC5173A9-1F29-9448-C24C-8D8A09B9E089}"/>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71;p32">
              <a:extLst>
                <a:ext uri="{FF2B5EF4-FFF2-40B4-BE49-F238E27FC236}">
                  <a16:creationId xmlns:a16="http://schemas.microsoft.com/office/drawing/2014/main" id="{C718FA00-8E04-E085-3471-88BDE526BA27}"/>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72;p32">
              <a:extLst>
                <a:ext uri="{FF2B5EF4-FFF2-40B4-BE49-F238E27FC236}">
                  <a16:creationId xmlns:a16="http://schemas.microsoft.com/office/drawing/2014/main" id="{0F9A90AC-944A-FCF0-67D2-E776C637E598}"/>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73;p32">
              <a:extLst>
                <a:ext uri="{FF2B5EF4-FFF2-40B4-BE49-F238E27FC236}">
                  <a16:creationId xmlns:a16="http://schemas.microsoft.com/office/drawing/2014/main" id="{9CAD0407-9724-BF9D-371F-04915AEDC704}"/>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74;p32">
              <a:extLst>
                <a:ext uri="{FF2B5EF4-FFF2-40B4-BE49-F238E27FC236}">
                  <a16:creationId xmlns:a16="http://schemas.microsoft.com/office/drawing/2014/main" id="{434A74EA-7BAC-4E17-0BBD-75F959E30791}"/>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75;p32">
              <a:extLst>
                <a:ext uri="{FF2B5EF4-FFF2-40B4-BE49-F238E27FC236}">
                  <a16:creationId xmlns:a16="http://schemas.microsoft.com/office/drawing/2014/main" id="{8743377E-A45E-806D-668A-7DC76BFAD7DB}"/>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76;p32">
              <a:extLst>
                <a:ext uri="{FF2B5EF4-FFF2-40B4-BE49-F238E27FC236}">
                  <a16:creationId xmlns:a16="http://schemas.microsoft.com/office/drawing/2014/main" id="{FC349479-5664-7588-74C8-B6443735E5CE}"/>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77;p32">
              <a:extLst>
                <a:ext uri="{FF2B5EF4-FFF2-40B4-BE49-F238E27FC236}">
                  <a16:creationId xmlns:a16="http://schemas.microsoft.com/office/drawing/2014/main" id="{63BC54BE-0C35-FA87-2B23-29036326CAD6}"/>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942285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0F64FC0B-5E61-7D13-B485-430C21C883C9}"/>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35558E18-373E-8694-4BEB-479CED18632B}"/>
              </a:ext>
            </a:extLst>
          </p:cNvPr>
          <p:cNvSpPr txBox="1">
            <a:spLocks noGrp="1"/>
          </p:cNvSpPr>
          <p:nvPr>
            <p:ph type="title"/>
          </p:nvPr>
        </p:nvSpPr>
        <p:spPr>
          <a:xfrm>
            <a:off x="918120" y="66904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sz="3200" dirty="0"/>
              <a:t>Message Authentication Code (MAC)</a:t>
            </a:r>
            <a:endParaRPr sz="3200" dirty="0">
              <a:solidFill>
                <a:schemeClr val="accent1"/>
              </a:solidFill>
            </a:endParaRPr>
          </a:p>
        </p:txBody>
      </p:sp>
      <p:sp>
        <p:nvSpPr>
          <p:cNvPr id="237" name="Google Shape;237;p31">
            <a:extLst>
              <a:ext uri="{FF2B5EF4-FFF2-40B4-BE49-F238E27FC236}">
                <a16:creationId xmlns:a16="http://schemas.microsoft.com/office/drawing/2014/main" id="{57493171-D71B-5E95-D051-90B7DBE2DA2D}"/>
              </a:ext>
            </a:extLst>
          </p:cNvPr>
          <p:cNvSpPr txBox="1">
            <a:spLocks noGrp="1"/>
          </p:cNvSpPr>
          <p:nvPr>
            <p:ph type="body" idx="1"/>
          </p:nvPr>
        </p:nvSpPr>
        <p:spPr>
          <a:xfrm>
            <a:off x="918120" y="1241740"/>
            <a:ext cx="7704000" cy="3496500"/>
          </a:xfrm>
          <a:prstGeom prst="rect">
            <a:avLst/>
          </a:prstGeom>
        </p:spPr>
        <p:txBody>
          <a:bodyPr spcFirstLastPara="1" wrap="square" lIns="91425" tIns="91425" rIns="91425" bIns="91425" anchor="t" anchorCtr="0">
            <a:noAutofit/>
          </a:bodyPr>
          <a:lstStyle/>
          <a:p>
            <a:pPr marL="152400" indent="0">
              <a:buNone/>
            </a:pPr>
            <a:r>
              <a:rPr lang="en-US" dirty="0"/>
              <a:t>A </a:t>
            </a:r>
            <a:r>
              <a:rPr lang="en-US" b="1" dirty="0"/>
              <a:t>Message Authentication Code (MAC)</a:t>
            </a:r>
            <a:r>
              <a:rPr lang="en-US" dirty="0"/>
              <a:t> ensures a message’s </a:t>
            </a:r>
            <a:r>
              <a:rPr lang="en-US" b="1" dirty="0"/>
              <a:t>integrity</a:t>
            </a:r>
            <a:r>
              <a:rPr lang="en-US" dirty="0"/>
              <a:t> and </a:t>
            </a:r>
            <a:r>
              <a:rPr lang="en-US" b="1" dirty="0"/>
              <a:t>authenticity</a:t>
            </a:r>
            <a:r>
              <a:rPr lang="en-US" dirty="0"/>
              <a:t> using a secret key. The sender generates the MAC, and the receiver verifies it with the same key, protecting against tampering and unauthorized changes.</a:t>
            </a:r>
            <a:endParaRPr lang="en-US" dirty="0">
              <a:solidFill>
                <a:schemeClr val="tx1"/>
              </a:solidFill>
              <a:latin typeface="DM Sans" pitchFamily="2" charset="0"/>
            </a:endParaRPr>
          </a:p>
        </p:txBody>
      </p:sp>
      <p:pic>
        <p:nvPicPr>
          <p:cNvPr id="6" name="Picture 5" descr="A computer screen shot of a computer&#10;&#10;Description automatically generated">
            <a:extLst>
              <a:ext uri="{FF2B5EF4-FFF2-40B4-BE49-F238E27FC236}">
                <a16:creationId xmlns:a16="http://schemas.microsoft.com/office/drawing/2014/main" id="{E726363E-F5B8-D871-51F7-320966F7B6D9}"/>
              </a:ext>
            </a:extLst>
          </p:cNvPr>
          <p:cNvPicPr>
            <a:picLocks noChangeAspect="1"/>
          </p:cNvPicPr>
          <p:nvPr/>
        </p:nvPicPr>
        <p:blipFill>
          <a:blip r:embed="rId3"/>
          <a:stretch>
            <a:fillRect/>
          </a:stretch>
        </p:blipFill>
        <p:spPr>
          <a:xfrm>
            <a:off x="2081126" y="2000203"/>
            <a:ext cx="5377988" cy="3016920"/>
          </a:xfrm>
          <a:prstGeom prst="rect">
            <a:avLst/>
          </a:prstGeom>
        </p:spPr>
      </p:pic>
    </p:spTree>
    <p:extLst>
      <p:ext uri="{BB962C8B-B14F-4D97-AF65-F5344CB8AC3E}">
        <p14:creationId xmlns:p14="http://schemas.microsoft.com/office/powerpoint/2010/main" val="3488135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1061BF47-C882-343D-67CA-A5AF322E06CB}"/>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52FC4BE1-94F5-44A1-4797-0DAC80967335}"/>
              </a:ext>
            </a:extLst>
          </p:cNvPr>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sz="3200" dirty="0">
                <a:solidFill>
                  <a:schemeClr val="tx1"/>
                </a:solidFill>
                <a:latin typeface="DM Sans" pitchFamily="2" charset="0"/>
              </a:rPr>
              <a:t>MAC Algorithms</a:t>
            </a:r>
            <a:br>
              <a:rPr lang="en-US" sz="3200" dirty="0">
                <a:solidFill>
                  <a:schemeClr val="tx1"/>
                </a:solidFill>
                <a:latin typeface="DM Sans" pitchFamily="2" charset="0"/>
              </a:rPr>
            </a:br>
            <a:endParaRPr sz="3200" dirty="0">
              <a:solidFill>
                <a:schemeClr val="tx1"/>
              </a:solidFill>
              <a:latin typeface="DM Sans" pitchFamily="2" charset="0"/>
            </a:endParaRPr>
          </a:p>
        </p:txBody>
      </p:sp>
      <p:sp>
        <p:nvSpPr>
          <p:cNvPr id="237" name="Google Shape;237;p31">
            <a:extLst>
              <a:ext uri="{FF2B5EF4-FFF2-40B4-BE49-F238E27FC236}">
                <a16:creationId xmlns:a16="http://schemas.microsoft.com/office/drawing/2014/main" id="{FB6D466D-7576-0B00-3E24-BB7E72FDB161}"/>
              </a:ext>
            </a:extLst>
          </p:cNvPr>
          <p:cNvSpPr txBox="1">
            <a:spLocks noGrp="1"/>
          </p:cNvSpPr>
          <p:nvPr>
            <p:ph type="body" idx="1"/>
          </p:nvPr>
        </p:nvSpPr>
        <p:spPr>
          <a:xfrm>
            <a:off x="720000" y="730546"/>
            <a:ext cx="7704000" cy="4490156"/>
          </a:xfrm>
          <a:prstGeom prst="rect">
            <a:avLst/>
          </a:prstGeom>
        </p:spPr>
        <p:txBody>
          <a:bodyPr spcFirstLastPara="1" wrap="square" lIns="91425" tIns="91425" rIns="91425" bIns="91425" anchor="t" anchorCtr="0">
            <a:noAutofit/>
          </a:bodyPr>
          <a:lstStyle/>
          <a:p>
            <a:pPr marL="139700" lvl="0" indent="0" algn="l" rtl="0">
              <a:lnSpc>
                <a:spcPct val="150000"/>
              </a:lnSpc>
              <a:spcBef>
                <a:spcPts val="0"/>
              </a:spcBef>
              <a:spcAft>
                <a:spcPts val="0"/>
              </a:spcAft>
              <a:buSzPts val="1400"/>
              <a:buNone/>
            </a:pPr>
            <a:endParaRPr lang="en-US" sz="1400" dirty="0"/>
          </a:p>
          <a:p>
            <a:pPr marL="457200" lvl="0" indent="-317500" algn="l" rtl="0">
              <a:lnSpc>
                <a:spcPct val="150000"/>
              </a:lnSpc>
              <a:spcBef>
                <a:spcPts val="0"/>
              </a:spcBef>
              <a:spcAft>
                <a:spcPts val="0"/>
              </a:spcAft>
              <a:buSzPts val="1400"/>
              <a:buChar char="⏣"/>
            </a:pPr>
            <a:r>
              <a:rPr lang="en-US" sz="1400" dirty="0"/>
              <a:t>HMAC (Hash-based MAC)</a:t>
            </a:r>
          </a:p>
          <a:p>
            <a:pPr marL="596900" lvl="1" indent="0">
              <a:lnSpc>
                <a:spcPct val="150000"/>
              </a:lnSpc>
              <a:buSzPts val="1400"/>
              <a:buNone/>
            </a:pPr>
            <a:r>
              <a:rPr lang="en-US" sz="1200" dirty="0"/>
              <a:t>HMAC combines a cryptographic hash function (e.g., SHA-256) with a secret key to generate a secure authentication code. It is widely used for its simplicity, flexibility, and strong integrity guarantees, appearing in protocols like TLS and securing API requests. HMAC is efficient and suitable for both software and hardware.</a:t>
            </a:r>
          </a:p>
          <a:p>
            <a:pPr marL="457200" lvl="0" indent="-317500" algn="l" rtl="0">
              <a:lnSpc>
                <a:spcPct val="150000"/>
              </a:lnSpc>
              <a:spcBef>
                <a:spcPts val="0"/>
              </a:spcBef>
              <a:spcAft>
                <a:spcPts val="0"/>
              </a:spcAft>
              <a:buSzPts val="1400"/>
              <a:buChar char="⏣"/>
            </a:pPr>
            <a:r>
              <a:rPr lang="en-US" sz="1400" dirty="0"/>
              <a:t>CBC-MAC (Cipher Block Chaining MAC)</a:t>
            </a:r>
          </a:p>
          <a:p>
            <a:pPr marL="596900" lvl="1" indent="0">
              <a:lnSpc>
                <a:spcPct val="150000"/>
              </a:lnSpc>
              <a:buSzPts val="1400"/>
              <a:buNone/>
            </a:pPr>
            <a:r>
              <a:rPr lang="en-US" sz="1200" dirty="0"/>
              <a:t>CBC-MAC uses a block cipher (e.g., AES) in CBC mode to authenticate messages. The final block of the ciphertext serves as the MAC. It is secure for fixed-length messages but requires extra precautions for variable-length ones. CBC-MAC is efficient where block ciphers are already in use.</a:t>
            </a:r>
          </a:p>
          <a:p>
            <a:pPr marL="139700" lvl="0" indent="0" algn="l" rtl="0">
              <a:lnSpc>
                <a:spcPct val="150000"/>
              </a:lnSpc>
              <a:spcBef>
                <a:spcPts val="0"/>
              </a:spcBef>
              <a:spcAft>
                <a:spcPts val="0"/>
              </a:spcAft>
              <a:buSzPts val="1400"/>
              <a:buNone/>
            </a:pPr>
            <a:br>
              <a:rPr lang="en-US" sz="1400" dirty="0"/>
            </a:br>
            <a:br>
              <a:rPr lang="en-US" sz="1400" dirty="0">
                <a:latin typeface="DM Sans" pitchFamily="2" charset="0"/>
              </a:rPr>
            </a:br>
            <a:endParaRPr lang="en-US" sz="1400" dirty="0">
              <a:latin typeface="DM Sans" pitchFamily="2" charset="0"/>
            </a:endParaRPr>
          </a:p>
        </p:txBody>
      </p:sp>
      <p:grpSp>
        <p:nvGrpSpPr>
          <p:cNvPr id="11" name="Google Shape;269;p32">
            <a:extLst>
              <a:ext uri="{FF2B5EF4-FFF2-40B4-BE49-F238E27FC236}">
                <a16:creationId xmlns:a16="http://schemas.microsoft.com/office/drawing/2014/main" id="{D1497296-7D1C-07B3-D1AE-1FA12C57DE3E}"/>
              </a:ext>
            </a:extLst>
          </p:cNvPr>
          <p:cNvGrpSpPr/>
          <p:nvPr/>
        </p:nvGrpSpPr>
        <p:grpSpPr>
          <a:xfrm rot="5400000">
            <a:off x="7363145" y="-686153"/>
            <a:ext cx="1182802" cy="2555083"/>
            <a:chOff x="7350442" y="2608992"/>
            <a:chExt cx="777239" cy="1673160"/>
          </a:xfrm>
        </p:grpSpPr>
        <p:sp>
          <p:nvSpPr>
            <p:cNvPr id="12" name="Google Shape;270;p32">
              <a:extLst>
                <a:ext uri="{FF2B5EF4-FFF2-40B4-BE49-F238E27FC236}">
                  <a16:creationId xmlns:a16="http://schemas.microsoft.com/office/drawing/2014/main" id="{DD1AB050-1E9D-74F2-78E1-A80C54E31814}"/>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71;p32">
              <a:extLst>
                <a:ext uri="{FF2B5EF4-FFF2-40B4-BE49-F238E27FC236}">
                  <a16:creationId xmlns:a16="http://schemas.microsoft.com/office/drawing/2014/main" id="{B3B1763C-30C8-36F1-C2CC-6DAED6D589A2}"/>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72;p32">
              <a:extLst>
                <a:ext uri="{FF2B5EF4-FFF2-40B4-BE49-F238E27FC236}">
                  <a16:creationId xmlns:a16="http://schemas.microsoft.com/office/drawing/2014/main" id="{A6E8FEA5-3D02-E59D-225E-23F5F1FF6602}"/>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73;p32">
              <a:extLst>
                <a:ext uri="{FF2B5EF4-FFF2-40B4-BE49-F238E27FC236}">
                  <a16:creationId xmlns:a16="http://schemas.microsoft.com/office/drawing/2014/main" id="{E957CC17-1246-B08A-542D-36BD537D6C2D}"/>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74;p32">
              <a:extLst>
                <a:ext uri="{FF2B5EF4-FFF2-40B4-BE49-F238E27FC236}">
                  <a16:creationId xmlns:a16="http://schemas.microsoft.com/office/drawing/2014/main" id="{EBB1D4CD-F975-4F9D-E4E4-CF200E447336}"/>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75;p32">
              <a:extLst>
                <a:ext uri="{FF2B5EF4-FFF2-40B4-BE49-F238E27FC236}">
                  <a16:creationId xmlns:a16="http://schemas.microsoft.com/office/drawing/2014/main" id="{5300BCBB-54A6-F9F8-48FB-AB3E73927A76}"/>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76;p32">
              <a:extLst>
                <a:ext uri="{FF2B5EF4-FFF2-40B4-BE49-F238E27FC236}">
                  <a16:creationId xmlns:a16="http://schemas.microsoft.com/office/drawing/2014/main" id="{A5D9C8CA-3565-C862-47D3-D6D495F97F6D}"/>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77;p32">
              <a:extLst>
                <a:ext uri="{FF2B5EF4-FFF2-40B4-BE49-F238E27FC236}">
                  <a16:creationId xmlns:a16="http://schemas.microsoft.com/office/drawing/2014/main" id="{438A0BED-A883-3384-7B4F-6A9A3489F718}"/>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1309237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BEC2790A-2297-EC9B-DD7A-43185ED1B1B9}"/>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3101EF51-552D-F23E-EEFB-9D3B52BF06AA}"/>
              </a:ext>
            </a:extLst>
          </p:cNvPr>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sz="3200" dirty="0">
                <a:solidFill>
                  <a:schemeClr val="tx1"/>
                </a:solidFill>
                <a:latin typeface="DM Sans" pitchFamily="2" charset="0"/>
              </a:rPr>
              <a:t>MAC Algorithms</a:t>
            </a:r>
            <a:br>
              <a:rPr lang="en-US" sz="3200" dirty="0">
                <a:solidFill>
                  <a:schemeClr val="tx1"/>
                </a:solidFill>
                <a:latin typeface="DM Sans" pitchFamily="2" charset="0"/>
              </a:rPr>
            </a:br>
            <a:endParaRPr sz="3200" dirty="0">
              <a:solidFill>
                <a:schemeClr val="tx1"/>
              </a:solidFill>
              <a:latin typeface="DM Sans" pitchFamily="2" charset="0"/>
            </a:endParaRPr>
          </a:p>
        </p:txBody>
      </p:sp>
      <p:sp>
        <p:nvSpPr>
          <p:cNvPr id="237" name="Google Shape;237;p31">
            <a:extLst>
              <a:ext uri="{FF2B5EF4-FFF2-40B4-BE49-F238E27FC236}">
                <a16:creationId xmlns:a16="http://schemas.microsoft.com/office/drawing/2014/main" id="{C98D4355-570B-9037-AC6E-EE0D381FF361}"/>
              </a:ext>
            </a:extLst>
          </p:cNvPr>
          <p:cNvSpPr txBox="1">
            <a:spLocks noGrp="1"/>
          </p:cNvSpPr>
          <p:nvPr>
            <p:ph type="body" idx="1"/>
          </p:nvPr>
        </p:nvSpPr>
        <p:spPr>
          <a:xfrm>
            <a:off x="720000" y="730546"/>
            <a:ext cx="7704000" cy="4490156"/>
          </a:xfrm>
          <a:prstGeom prst="rect">
            <a:avLst/>
          </a:prstGeom>
        </p:spPr>
        <p:txBody>
          <a:bodyPr spcFirstLastPara="1" wrap="square" lIns="91425" tIns="91425" rIns="91425" bIns="91425" anchor="t" anchorCtr="0">
            <a:noAutofit/>
          </a:bodyPr>
          <a:lstStyle/>
          <a:p>
            <a:pPr marL="139700" lvl="0" indent="0" algn="l" rtl="0">
              <a:lnSpc>
                <a:spcPct val="150000"/>
              </a:lnSpc>
              <a:spcBef>
                <a:spcPts val="0"/>
              </a:spcBef>
              <a:spcAft>
                <a:spcPts val="0"/>
              </a:spcAft>
              <a:buSzPts val="1400"/>
              <a:buNone/>
            </a:pPr>
            <a:endParaRPr lang="en-US" sz="1400" dirty="0"/>
          </a:p>
          <a:p>
            <a:pPr marL="457200" lvl="0" indent="-317500" algn="l" rtl="0">
              <a:lnSpc>
                <a:spcPct val="150000"/>
              </a:lnSpc>
              <a:spcBef>
                <a:spcPts val="0"/>
              </a:spcBef>
              <a:spcAft>
                <a:spcPts val="0"/>
              </a:spcAft>
              <a:buSzPts val="1400"/>
              <a:buChar char="⏣"/>
            </a:pPr>
            <a:r>
              <a:rPr lang="en-US" sz="1400" dirty="0"/>
              <a:t>CMAC (Cipher-based MAC)</a:t>
            </a:r>
          </a:p>
          <a:p>
            <a:pPr marL="596900" lvl="1" indent="0">
              <a:lnSpc>
                <a:spcPct val="150000"/>
              </a:lnSpc>
              <a:buSzPts val="1400"/>
              <a:buNone/>
            </a:pPr>
            <a:r>
              <a:rPr lang="en-US" sz="1200" dirty="0"/>
              <a:t>CMAC improves CBC-MAC by securely handling variable-length messages using additional key transformations. Based on block ciphers like AES, CMAC is efficient, secure, and standardized, making it suitable for protocols like wireless communication and DRM.</a:t>
            </a:r>
          </a:p>
          <a:p>
            <a:pPr marL="457200" lvl="0" indent="-317500" algn="l" rtl="0">
              <a:lnSpc>
                <a:spcPct val="150000"/>
              </a:lnSpc>
              <a:spcBef>
                <a:spcPts val="0"/>
              </a:spcBef>
              <a:spcAft>
                <a:spcPts val="0"/>
              </a:spcAft>
              <a:buSzPts val="1400"/>
              <a:buChar char="⏣"/>
            </a:pPr>
            <a:r>
              <a:rPr lang="en-US" sz="1400" dirty="0"/>
              <a:t>PMAC (Parallelizable MAC)</a:t>
            </a:r>
          </a:p>
          <a:p>
            <a:pPr marL="596900" lvl="1" indent="0">
              <a:lnSpc>
                <a:spcPct val="150000"/>
              </a:lnSpc>
              <a:buSzPts val="1400"/>
              <a:buNone/>
            </a:pPr>
            <a:r>
              <a:rPr lang="en-US" sz="1200" dirty="0"/>
              <a:t>PMAC is a block cipher-based MAC designed for parallel processing, allowing faster computation compared to CBC-MAC. It securely handles variable-length messages and is ideal for high-performance applications that support parallelism.</a:t>
            </a:r>
            <a:br>
              <a:rPr lang="en-US" sz="1400" dirty="0"/>
            </a:br>
            <a:br>
              <a:rPr lang="en-US" sz="1400" dirty="0">
                <a:latin typeface="DM Sans" pitchFamily="2" charset="0"/>
              </a:rPr>
            </a:br>
            <a:endParaRPr lang="en-US" sz="1400" dirty="0">
              <a:latin typeface="DM Sans" pitchFamily="2" charset="0"/>
            </a:endParaRPr>
          </a:p>
        </p:txBody>
      </p:sp>
      <p:grpSp>
        <p:nvGrpSpPr>
          <p:cNvPr id="11" name="Google Shape;269;p32">
            <a:extLst>
              <a:ext uri="{FF2B5EF4-FFF2-40B4-BE49-F238E27FC236}">
                <a16:creationId xmlns:a16="http://schemas.microsoft.com/office/drawing/2014/main" id="{77A4442F-1804-616E-1AD9-E26D062CAA62}"/>
              </a:ext>
            </a:extLst>
          </p:cNvPr>
          <p:cNvGrpSpPr/>
          <p:nvPr/>
        </p:nvGrpSpPr>
        <p:grpSpPr>
          <a:xfrm rot="5400000">
            <a:off x="7363145" y="-686153"/>
            <a:ext cx="1182802" cy="2555083"/>
            <a:chOff x="7350442" y="2608992"/>
            <a:chExt cx="777239" cy="1673160"/>
          </a:xfrm>
        </p:grpSpPr>
        <p:sp>
          <p:nvSpPr>
            <p:cNvPr id="12" name="Google Shape;270;p32">
              <a:extLst>
                <a:ext uri="{FF2B5EF4-FFF2-40B4-BE49-F238E27FC236}">
                  <a16:creationId xmlns:a16="http://schemas.microsoft.com/office/drawing/2014/main" id="{55A572E5-D6D1-D6EA-227C-F18903C9FCFE}"/>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71;p32">
              <a:extLst>
                <a:ext uri="{FF2B5EF4-FFF2-40B4-BE49-F238E27FC236}">
                  <a16:creationId xmlns:a16="http://schemas.microsoft.com/office/drawing/2014/main" id="{F2FB30BD-8D8B-8318-7BF5-823BC2EA63FA}"/>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72;p32">
              <a:extLst>
                <a:ext uri="{FF2B5EF4-FFF2-40B4-BE49-F238E27FC236}">
                  <a16:creationId xmlns:a16="http://schemas.microsoft.com/office/drawing/2014/main" id="{3158FF86-F969-BAF9-8AF4-3207D1DD075B}"/>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73;p32">
              <a:extLst>
                <a:ext uri="{FF2B5EF4-FFF2-40B4-BE49-F238E27FC236}">
                  <a16:creationId xmlns:a16="http://schemas.microsoft.com/office/drawing/2014/main" id="{8912A238-C716-F603-CC7D-DB71EEB287A4}"/>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74;p32">
              <a:extLst>
                <a:ext uri="{FF2B5EF4-FFF2-40B4-BE49-F238E27FC236}">
                  <a16:creationId xmlns:a16="http://schemas.microsoft.com/office/drawing/2014/main" id="{22FF67ED-86D1-A297-E7D2-2CADD0225A39}"/>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75;p32">
              <a:extLst>
                <a:ext uri="{FF2B5EF4-FFF2-40B4-BE49-F238E27FC236}">
                  <a16:creationId xmlns:a16="http://schemas.microsoft.com/office/drawing/2014/main" id="{14CD32BB-1914-74A2-5A78-43B186B9F325}"/>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76;p32">
              <a:extLst>
                <a:ext uri="{FF2B5EF4-FFF2-40B4-BE49-F238E27FC236}">
                  <a16:creationId xmlns:a16="http://schemas.microsoft.com/office/drawing/2014/main" id="{8D68C9AA-C4F1-E01C-673D-0CAAC79DE607}"/>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77;p32">
              <a:extLst>
                <a:ext uri="{FF2B5EF4-FFF2-40B4-BE49-F238E27FC236}">
                  <a16:creationId xmlns:a16="http://schemas.microsoft.com/office/drawing/2014/main" id="{E3BA6493-3ED9-97D6-C5CE-84B57FCB1FA4}"/>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1465277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D0F12035-F4AE-DE04-7CD2-6BAE4BB1E870}"/>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90CDA4EE-92AE-7260-509F-8A1A28723E8C}"/>
              </a:ext>
            </a:extLst>
          </p:cNvPr>
          <p:cNvSpPr txBox="1">
            <a:spLocks noGrp="1"/>
          </p:cNvSpPr>
          <p:nvPr>
            <p:ph type="title"/>
          </p:nvPr>
        </p:nvSpPr>
        <p:spPr>
          <a:xfrm>
            <a:off x="918120" y="669040"/>
            <a:ext cx="7704000" cy="572700"/>
          </a:xfrm>
          <a:prstGeom prst="rect">
            <a:avLst/>
          </a:prstGeom>
        </p:spPr>
        <p:txBody>
          <a:bodyPr spcFirstLastPara="1" wrap="square" lIns="0" tIns="0" rIns="0" bIns="0" anchor="t" anchorCtr="0">
            <a:noAutofit/>
          </a:bodyPr>
          <a:lstStyle/>
          <a:p>
            <a:r>
              <a:rPr lang="en-US" sz="2800" dirty="0"/>
              <a:t>Hash based Message Authentication Code (HMAC)</a:t>
            </a:r>
            <a:br>
              <a:rPr lang="en-US" sz="2800" dirty="0"/>
            </a:br>
            <a:endParaRPr sz="2800" dirty="0">
              <a:solidFill>
                <a:schemeClr val="accent1"/>
              </a:solidFill>
            </a:endParaRPr>
          </a:p>
        </p:txBody>
      </p:sp>
      <p:pic>
        <p:nvPicPr>
          <p:cNvPr id="3" name="Picture 2" descr="A diagram of a secret key&#10;&#10;Description automatically generated">
            <a:extLst>
              <a:ext uri="{FF2B5EF4-FFF2-40B4-BE49-F238E27FC236}">
                <a16:creationId xmlns:a16="http://schemas.microsoft.com/office/drawing/2014/main" id="{4A2DC53A-F1A3-A2F5-25A0-07A588BA1838}"/>
              </a:ext>
            </a:extLst>
          </p:cNvPr>
          <p:cNvPicPr>
            <a:picLocks noChangeAspect="1"/>
          </p:cNvPicPr>
          <p:nvPr/>
        </p:nvPicPr>
        <p:blipFill>
          <a:blip r:embed="rId3"/>
          <a:stretch>
            <a:fillRect/>
          </a:stretch>
        </p:blipFill>
        <p:spPr>
          <a:xfrm>
            <a:off x="1477404" y="1537851"/>
            <a:ext cx="6189192" cy="2736783"/>
          </a:xfrm>
          <a:prstGeom prst="rect">
            <a:avLst/>
          </a:prstGeom>
        </p:spPr>
      </p:pic>
    </p:spTree>
    <p:extLst>
      <p:ext uri="{BB962C8B-B14F-4D97-AF65-F5344CB8AC3E}">
        <p14:creationId xmlns:p14="http://schemas.microsoft.com/office/powerpoint/2010/main" val="4040918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1272ED10-C415-71E4-231D-B290B25D144E}"/>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28F8EF55-18D3-684E-0B96-074307A67531}"/>
              </a:ext>
            </a:extLst>
          </p:cNvPr>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dirty="0"/>
              <a:t>Nonces in HMAC</a:t>
            </a:r>
            <a:endParaRPr dirty="0">
              <a:solidFill>
                <a:schemeClr val="tx1"/>
              </a:solidFill>
              <a:latin typeface="DM Sans" pitchFamily="2" charset="0"/>
            </a:endParaRPr>
          </a:p>
        </p:txBody>
      </p:sp>
      <p:sp>
        <p:nvSpPr>
          <p:cNvPr id="237" name="Google Shape;237;p31">
            <a:extLst>
              <a:ext uri="{FF2B5EF4-FFF2-40B4-BE49-F238E27FC236}">
                <a16:creationId xmlns:a16="http://schemas.microsoft.com/office/drawing/2014/main" id="{B6F29C01-A78C-3FD5-98A6-B2A9FD17D020}"/>
              </a:ext>
            </a:extLst>
          </p:cNvPr>
          <p:cNvSpPr txBox="1">
            <a:spLocks noGrp="1"/>
          </p:cNvSpPr>
          <p:nvPr>
            <p:ph type="body" idx="1"/>
          </p:nvPr>
        </p:nvSpPr>
        <p:spPr>
          <a:xfrm>
            <a:off x="720000" y="1247444"/>
            <a:ext cx="7704000" cy="3496500"/>
          </a:xfrm>
          <a:prstGeom prst="rect">
            <a:avLst/>
          </a:prstGeom>
        </p:spPr>
        <p:txBody>
          <a:bodyPr spcFirstLastPara="1" wrap="square" lIns="91425" tIns="91425" rIns="91425" bIns="91425" anchor="t" anchorCtr="0">
            <a:noAutofit/>
          </a:bodyPr>
          <a:lstStyle/>
          <a:p>
            <a:pPr marL="139700" lvl="0" indent="0" algn="l" rtl="0">
              <a:lnSpc>
                <a:spcPct val="150000"/>
              </a:lnSpc>
              <a:spcBef>
                <a:spcPts val="0"/>
              </a:spcBef>
              <a:spcAft>
                <a:spcPts val="0"/>
              </a:spcAft>
              <a:buSzPts val="1400"/>
              <a:buNone/>
            </a:pPr>
            <a:r>
              <a:rPr lang="en-US" sz="1400" dirty="0"/>
              <a:t>Nonces in HMAC are unique, one-time values included in the message to prevent replay attacks by ensuring each message is distinct, even if the content is repeated. A nonce can be generated by either the sender (e.g., SIM) or the receiver (e.g., server) and is typically included as part of the message before the HMAC calculation. The receiver verifies the nonce to ensure it hasn’t been reused, maintaining the integrity and freshness of the communication. Proper management of nonces, such as storing them to detect reuse or using them in conjunction with timestamps or counters, is critical to securing the system against attacks.</a:t>
            </a:r>
            <a:endParaRPr lang="en-US" sz="1400" dirty="0">
              <a:latin typeface="DM Sans" pitchFamily="2" charset="0"/>
            </a:endParaRPr>
          </a:p>
        </p:txBody>
      </p:sp>
      <p:grpSp>
        <p:nvGrpSpPr>
          <p:cNvPr id="11" name="Google Shape;269;p32">
            <a:extLst>
              <a:ext uri="{FF2B5EF4-FFF2-40B4-BE49-F238E27FC236}">
                <a16:creationId xmlns:a16="http://schemas.microsoft.com/office/drawing/2014/main" id="{E7768084-8F02-258F-3E86-F896820C040B}"/>
              </a:ext>
            </a:extLst>
          </p:cNvPr>
          <p:cNvGrpSpPr/>
          <p:nvPr/>
        </p:nvGrpSpPr>
        <p:grpSpPr>
          <a:xfrm rot="5400000">
            <a:off x="7363145" y="-686153"/>
            <a:ext cx="1182802" cy="2555083"/>
            <a:chOff x="7350442" y="2608992"/>
            <a:chExt cx="777239" cy="1673160"/>
          </a:xfrm>
        </p:grpSpPr>
        <p:sp>
          <p:nvSpPr>
            <p:cNvPr id="12" name="Google Shape;270;p32">
              <a:extLst>
                <a:ext uri="{FF2B5EF4-FFF2-40B4-BE49-F238E27FC236}">
                  <a16:creationId xmlns:a16="http://schemas.microsoft.com/office/drawing/2014/main" id="{E91E71A9-0B1A-AD0F-5384-E97E16767611}"/>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71;p32">
              <a:extLst>
                <a:ext uri="{FF2B5EF4-FFF2-40B4-BE49-F238E27FC236}">
                  <a16:creationId xmlns:a16="http://schemas.microsoft.com/office/drawing/2014/main" id="{7D158E60-EE72-E219-FA66-D791CB5650BC}"/>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72;p32">
              <a:extLst>
                <a:ext uri="{FF2B5EF4-FFF2-40B4-BE49-F238E27FC236}">
                  <a16:creationId xmlns:a16="http://schemas.microsoft.com/office/drawing/2014/main" id="{325B4F2D-E025-7FCE-7C79-C4D586C09F7B}"/>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73;p32">
              <a:extLst>
                <a:ext uri="{FF2B5EF4-FFF2-40B4-BE49-F238E27FC236}">
                  <a16:creationId xmlns:a16="http://schemas.microsoft.com/office/drawing/2014/main" id="{84D79F2D-C1E8-CE7C-2839-9E5D8F71AFB0}"/>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74;p32">
              <a:extLst>
                <a:ext uri="{FF2B5EF4-FFF2-40B4-BE49-F238E27FC236}">
                  <a16:creationId xmlns:a16="http://schemas.microsoft.com/office/drawing/2014/main" id="{737141C3-51F1-8512-0588-BCE9DB1D8DC0}"/>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75;p32">
              <a:extLst>
                <a:ext uri="{FF2B5EF4-FFF2-40B4-BE49-F238E27FC236}">
                  <a16:creationId xmlns:a16="http://schemas.microsoft.com/office/drawing/2014/main" id="{DE5235A6-7176-A94F-1E05-0BC9E56161D4}"/>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76;p32">
              <a:extLst>
                <a:ext uri="{FF2B5EF4-FFF2-40B4-BE49-F238E27FC236}">
                  <a16:creationId xmlns:a16="http://schemas.microsoft.com/office/drawing/2014/main" id="{E48F7A84-51B5-2FAF-C577-76F061B5A44F}"/>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77;p32">
              <a:extLst>
                <a:ext uri="{FF2B5EF4-FFF2-40B4-BE49-F238E27FC236}">
                  <a16:creationId xmlns:a16="http://schemas.microsoft.com/office/drawing/2014/main" id="{F2EAE38B-9DDB-EB55-EA9A-809011869688}"/>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1970444433"/>
      </p:ext>
    </p:extLst>
  </p:cSld>
  <p:clrMapOvr>
    <a:masterClrMapping/>
  </p:clrMapOvr>
</p:sld>
</file>

<file path=ppt/theme/theme1.xml><?xml version="1.0" encoding="utf-8"?>
<a:theme xmlns:a="http://schemas.openxmlformats.org/drawingml/2006/main" name="Technology Project Proposal Minitheme by Slidesgo">
  <a:themeElements>
    <a:clrScheme name="Simple Light">
      <a:dk1>
        <a:srgbClr val="FFFFFF"/>
      </a:dk1>
      <a:lt1>
        <a:srgbClr val="E0E0E0"/>
      </a:lt1>
      <a:dk2>
        <a:srgbClr val="666666"/>
      </a:dk2>
      <a:lt2>
        <a:srgbClr val="000000"/>
      </a:lt2>
      <a:accent1>
        <a:srgbClr val="96FFF3"/>
      </a:accent1>
      <a:accent2>
        <a:srgbClr val="8F1EA0"/>
      </a:accent2>
      <a:accent3>
        <a:srgbClr val="3DC6FF"/>
      </a:accent3>
      <a:accent4>
        <a:srgbClr val="2619AA"/>
      </a:accent4>
      <a:accent5>
        <a:srgbClr val="190057"/>
      </a:accent5>
      <a:accent6>
        <a:srgbClr val="F139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3258</TotalTime>
  <Words>684</Words>
  <Application>Microsoft Office PowerPoint</Application>
  <PresentationFormat>On-screen Show (16:9)</PresentationFormat>
  <Paragraphs>31</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DM Sans</vt:lpstr>
      <vt:lpstr>Roboto Condensed Light</vt:lpstr>
      <vt:lpstr>Oswald</vt:lpstr>
      <vt:lpstr>Arial</vt:lpstr>
      <vt:lpstr>Calibri</vt:lpstr>
      <vt:lpstr>Technology Project Proposal Minitheme by Slidesgo</vt:lpstr>
      <vt:lpstr>Verification Algorithms</vt:lpstr>
      <vt:lpstr>Explanation of the problem </vt:lpstr>
      <vt:lpstr>Challenges</vt:lpstr>
      <vt:lpstr>Basic Components in the Scenario</vt:lpstr>
      <vt:lpstr>Message Authentication Code (MAC)</vt:lpstr>
      <vt:lpstr>MAC Algorithms </vt:lpstr>
      <vt:lpstr>MAC Algorithms </vt:lpstr>
      <vt:lpstr>Hash based Message Authentication Code (HMAC) </vt:lpstr>
      <vt:lpstr>Nonces in HMAC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MohammadHosein Shafiee</cp:lastModifiedBy>
  <cp:revision>160</cp:revision>
  <dcterms:modified xsi:type="dcterms:W3CDTF">2025-02-05T07:22:27Z</dcterms:modified>
</cp:coreProperties>
</file>