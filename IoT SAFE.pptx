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22"/>
  </p:notesMasterIdLst>
  <p:sldIdLst>
    <p:sldId id="256" r:id="rId2"/>
    <p:sldId id="257" r:id="rId3"/>
    <p:sldId id="319" r:id="rId4"/>
    <p:sldId id="320" r:id="rId5"/>
    <p:sldId id="321" r:id="rId6"/>
    <p:sldId id="322" r:id="rId7"/>
    <p:sldId id="323" r:id="rId8"/>
    <p:sldId id="324" r:id="rId9"/>
    <p:sldId id="302" r:id="rId10"/>
    <p:sldId id="325" r:id="rId11"/>
    <p:sldId id="326" r:id="rId12"/>
    <p:sldId id="327" r:id="rId13"/>
    <p:sldId id="328" r:id="rId14"/>
    <p:sldId id="317" r:id="rId15"/>
    <p:sldId id="333" r:id="rId16"/>
    <p:sldId id="330" r:id="rId17"/>
    <p:sldId id="329" r:id="rId18"/>
    <p:sldId id="331" r:id="rId19"/>
    <p:sldId id="334" r:id="rId20"/>
    <p:sldId id="309" r:id="rId21"/>
  </p:sldIdLst>
  <p:sldSz cx="9144000" cy="5143500" type="screen16x9"/>
  <p:notesSz cx="6858000" cy="9144000"/>
  <p:embeddedFontLst>
    <p:embeddedFont>
      <p:font typeface="DM Sans" pitchFamily="2" charset="0"/>
      <p:regular r:id="rId23"/>
      <p:bold r:id="rId24"/>
      <p:italic r:id="rId25"/>
      <p:boldItalic r:id="rId26"/>
    </p:embeddedFont>
    <p:embeddedFont>
      <p:font typeface="Oswald" panose="00000500000000000000" pitchFamily="2" charset="0"/>
      <p:regular r:id="rId27"/>
      <p:bold r:id="rId28"/>
    </p:embeddedFont>
    <p:embeddedFont>
      <p:font typeface="Roboto Condensed Light" panose="02000000000000000000" pitchFamily="2" charset="0"/>
      <p:regular r:id="rId29"/>
      <p: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01">
          <p15:clr>
            <a:srgbClr val="9AA0A6"/>
          </p15:clr>
        </p15:guide>
        <p15:guide id="2" orient="horz" pos="733">
          <p15:clr>
            <a:srgbClr val="9AA0A6"/>
          </p15:clr>
        </p15:guide>
        <p15:guide id="3"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54D5C0F-1A84-42F2-801B-3AE2B2B06C94}">
  <a:tblStyle styleId="{754D5C0F-1A84-42F2-801B-3AE2B2B06C9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60"/>
  </p:normalViewPr>
  <p:slideViewPr>
    <p:cSldViewPr snapToGrid="0">
      <p:cViewPr varScale="1">
        <p:scale>
          <a:sx n="103" d="100"/>
          <a:sy n="103" d="100"/>
        </p:scale>
        <p:origin x="874" y="58"/>
      </p:cViewPr>
      <p:guideLst>
        <p:guide orient="horz" pos="601"/>
        <p:guide orient="horz" pos="733"/>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10e91f73e2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5E2A241E-5EC1-35F3-22D0-7C5321C31266}"/>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304C96B2-3936-E24D-8AA0-B9080D62C5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F10DDD9B-4E42-0FD9-E3EB-F69F0DAA9B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948106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5856FD28-ECC4-A8F6-2D63-68A4AF69A46F}"/>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D9759DC3-2492-55AE-943E-22087E62F9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D81FF123-CA98-067C-C2F6-1420CA868F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021353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5FDFF3D6-3E85-F46E-147F-899804178BC2}"/>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31BBD77B-82C0-B170-7ED9-B42CC96762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71EF17D3-7511-2B59-0303-24184489B2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50850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F4B1F765-F436-6594-9F19-CA9FCBC2E349}"/>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03C15533-455D-7AFC-8CD1-F5F36E44A5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52BC8539-EE10-1F58-AB85-A5BACC05BE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73394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2EC15481-3480-DB05-5925-5336A61C4C0A}"/>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15A8F4A3-DB04-6E4E-C76E-B6D2B375C8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EC617EF3-1555-072E-FC59-1A34F7D744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460747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CF9FCA00-BFE9-B1C4-EEA6-41761DC85CB3}"/>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CAA5ACDE-A259-FB98-CD04-6320142D60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E2D5824F-335A-990F-40E4-EAC283FC4D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193591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97103C4C-863B-E708-98CA-C425C31E6F28}"/>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D2118D0B-D33C-72CA-D265-59F6A31079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A0925B3D-C202-E45F-5C2F-A2853CA864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87465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168E678C-EE67-6DF4-4371-1E4A77A67996}"/>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50F71917-E08C-503C-1A8F-F15F34B0D9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024C718F-2F8F-2A11-6FA4-0E0EAB9DB5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88332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92FED675-9E10-6DC7-34A1-236BA7900250}"/>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709BAC0F-9AC9-3D35-FDF1-C9D27C71E1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9B86B9CD-1528-72E3-8EB4-AB977DF3F0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277233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9EA5ADD2-E141-D68B-A7E0-6C2D54D651C1}"/>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63A6C1F8-3A84-E6A0-3E81-E22DDB1625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4D174565-3553-EF80-CCE4-9BB7BF6FDA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039677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98CF6FBE-72E9-B428-508E-25E738A2AB54}"/>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22D66479-F8EC-1CDA-54A7-FFE10C8B58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52EF40A4-60F9-2DA6-975E-7B58FC9C6E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23025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chemeClr val="accent5"/>
            </a:gs>
            <a:gs pos="48000">
              <a:schemeClr val="accent4"/>
            </a:gs>
            <a:gs pos="100000">
              <a:schemeClr val="accent2"/>
            </a:gs>
          </a:gsLst>
          <a:lin ang="2698631" scaled="0"/>
        </a:gra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967650"/>
            <a:ext cx="3972000" cy="30276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Clr>
                <a:schemeClr val="dk1"/>
              </a:buClr>
              <a:buSzPts val="4900"/>
              <a:buNone/>
              <a:defRPr sz="5000">
                <a:solidFill>
                  <a:schemeClr val="dk1"/>
                </a:solidFill>
              </a:defRPr>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995250"/>
            <a:ext cx="4359000" cy="409500"/>
          </a:xfrm>
          <a:prstGeom prst="rect">
            <a:avLst/>
          </a:prstGeom>
          <a:noFill/>
          <a:ln>
            <a:noFill/>
          </a:ln>
        </p:spPr>
        <p:txBody>
          <a:bodyPr spcFirstLastPara="1" wrap="square" lIns="0" tIns="0" rIns="0" bIns="0" anchor="ctr" anchorCtr="0">
            <a:noAutofit/>
          </a:bodyPr>
          <a:lstStyle>
            <a:lvl1pPr lvl="0"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1pPr>
            <a:lvl2pPr lvl="1"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2pPr>
            <a:lvl3pPr lvl="2"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3pPr>
            <a:lvl4pPr lvl="3"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4pPr>
            <a:lvl5pPr lvl="4"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5pPr>
            <a:lvl6pPr lvl="5"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6pPr>
            <a:lvl7pPr lvl="6"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7pPr>
            <a:lvl8pPr lvl="7"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8pPr>
            <a:lvl9pPr lvl="8"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9pPr>
          </a:lstStyle>
          <a:p>
            <a:endParaRPr/>
          </a:p>
        </p:txBody>
      </p:sp>
      <p:grpSp>
        <p:nvGrpSpPr>
          <p:cNvPr id="11" name="Google Shape;11;p2"/>
          <p:cNvGrpSpPr/>
          <p:nvPr/>
        </p:nvGrpSpPr>
        <p:grpSpPr>
          <a:xfrm rot="5400000">
            <a:off x="7002555" y="-662466"/>
            <a:ext cx="1673084" cy="3614193"/>
            <a:chOff x="7350442" y="2608992"/>
            <a:chExt cx="777239" cy="1673160"/>
          </a:xfrm>
        </p:grpSpPr>
        <p:sp>
          <p:nvSpPr>
            <p:cNvPr id="12" name="Google Shape;12;p2"/>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13;p2"/>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14;p2"/>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15;p2"/>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16;p2"/>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17;p2"/>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18;p2"/>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19;p2"/>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2"/>
        <p:cNvGrpSpPr/>
        <p:nvPr/>
      </p:nvGrpSpPr>
      <p:grpSpPr>
        <a:xfrm>
          <a:off x="0" y="0"/>
          <a:ext cx="0" cy="0"/>
          <a:chOff x="0" y="0"/>
          <a:chExt cx="0" cy="0"/>
        </a:xfrm>
      </p:grpSpPr>
      <p:sp>
        <p:nvSpPr>
          <p:cNvPr id="43" name="Google Shape;43;p4"/>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lvl1pPr lvl="0" rtl="0">
              <a:spcBef>
                <a:spcPts val="0"/>
              </a:spcBef>
              <a:spcAft>
                <a:spcPts val="0"/>
              </a:spcAft>
              <a:buSzPts val="34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4" name="Google Shape;44;p4"/>
          <p:cNvSpPr txBox="1">
            <a:spLocks noGrp="1"/>
          </p:cNvSpPr>
          <p:nvPr>
            <p:ph type="body" idx="1"/>
          </p:nvPr>
        </p:nvSpPr>
        <p:spPr>
          <a:xfrm>
            <a:off x="720000" y="1112200"/>
            <a:ext cx="7704000" cy="34965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rgbClr val="434343"/>
              </a:buClr>
              <a:buSzPts val="1200"/>
              <a:buAutoNum type="arabicPeriod"/>
              <a:defRPr sz="1200"/>
            </a:lvl1pPr>
            <a:lvl2pPr marL="914400" lvl="1" indent="-304800" rtl="0">
              <a:lnSpc>
                <a:spcPct val="115000"/>
              </a:lnSpc>
              <a:spcBef>
                <a:spcPts val="0"/>
              </a:spcBef>
              <a:spcAft>
                <a:spcPts val="0"/>
              </a:spcAft>
              <a:buClr>
                <a:srgbClr val="434343"/>
              </a:buClr>
              <a:buSzPts val="1200"/>
              <a:buFont typeface="Roboto Condensed Light"/>
              <a:buAutoNum type="alphaLcPeriod"/>
              <a:defRPr/>
            </a:lvl2pPr>
            <a:lvl3pPr marL="1371600" lvl="2" indent="-304800" rtl="0">
              <a:lnSpc>
                <a:spcPct val="115000"/>
              </a:lnSpc>
              <a:spcBef>
                <a:spcPts val="0"/>
              </a:spcBef>
              <a:spcAft>
                <a:spcPts val="0"/>
              </a:spcAft>
              <a:buClr>
                <a:srgbClr val="434343"/>
              </a:buClr>
              <a:buSzPts val="1200"/>
              <a:buFont typeface="Roboto Condensed Light"/>
              <a:buAutoNum type="romanLcPeriod"/>
              <a:defRPr/>
            </a:lvl3pPr>
            <a:lvl4pPr marL="1828800" lvl="3" indent="-304800" rtl="0">
              <a:lnSpc>
                <a:spcPct val="115000"/>
              </a:lnSpc>
              <a:spcBef>
                <a:spcPts val="0"/>
              </a:spcBef>
              <a:spcAft>
                <a:spcPts val="0"/>
              </a:spcAft>
              <a:buClr>
                <a:srgbClr val="434343"/>
              </a:buClr>
              <a:buSzPts val="1200"/>
              <a:buFont typeface="Roboto Condensed Light"/>
              <a:buAutoNum type="arabicPeriod"/>
              <a:defRPr/>
            </a:lvl4pPr>
            <a:lvl5pPr marL="2286000" lvl="4" indent="-304800" rtl="0">
              <a:lnSpc>
                <a:spcPct val="115000"/>
              </a:lnSpc>
              <a:spcBef>
                <a:spcPts val="0"/>
              </a:spcBef>
              <a:spcAft>
                <a:spcPts val="0"/>
              </a:spcAft>
              <a:buClr>
                <a:srgbClr val="434343"/>
              </a:buClr>
              <a:buSzPts val="1200"/>
              <a:buFont typeface="Roboto Condensed Light"/>
              <a:buAutoNum type="alphaLcPeriod"/>
              <a:defRPr/>
            </a:lvl5pPr>
            <a:lvl6pPr marL="2743200" lvl="5" indent="-304800" rtl="0">
              <a:lnSpc>
                <a:spcPct val="115000"/>
              </a:lnSpc>
              <a:spcBef>
                <a:spcPts val="0"/>
              </a:spcBef>
              <a:spcAft>
                <a:spcPts val="0"/>
              </a:spcAft>
              <a:buClr>
                <a:srgbClr val="434343"/>
              </a:buClr>
              <a:buSzPts val="1200"/>
              <a:buFont typeface="Roboto Condensed Light"/>
              <a:buAutoNum type="romanLcPeriod"/>
              <a:defRPr/>
            </a:lvl6pPr>
            <a:lvl7pPr marL="3200400" lvl="6" indent="-304800" rtl="0">
              <a:lnSpc>
                <a:spcPct val="115000"/>
              </a:lnSpc>
              <a:spcBef>
                <a:spcPts val="0"/>
              </a:spcBef>
              <a:spcAft>
                <a:spcPts val="0"/>
              </a:spcAft>
              <a:buClr>
                <a:srgbClr val="434343"/>
              </a:buClr>
              <a:buSzPts val="1200"/>
              <a:buFont typeface="Roboto Condensed Light"/>
              <a:buAutoNum type="arabicPeriod"/>
              <a:defRPr/>
            </a:lvl7pPr>
            <a:lvl8pPr marL="3657600" lvl="7" indent="-304800" rtl="0">
              <a:lnSpc>
                <a:spcPct val="115000"/>
              </a:lnSpc>
              <a:spcBef>
                <a:spcPts val="0"/>
              </a:spcBef>
              <a:spcAft>
                <a:spcPts val="0"/>
              </a:spcAft>
              <a:buClr>
                <a:srgbClr val="434343"/>
              </a:buClr>
              <a:buSzPts val="1200"/>
              <a:buFont typeface="Roboto Condensed Light"/>
              <a:buAutoNum type="alphaLcPeriod"/>
              <a:defRPr/>
            </a:lvl8pPr>
            <a:lvl9pPr marL="4114800" lvl="8" indent="-304800" rtl="0">
              <a:lnSpc>
                <a:spcPct val="115000"/>
              </a:lnSpc>
              <a:spcBef>
                <a:spcPts val="0"/>
              </a:spcBef>
              <a:spcAft>
                <a:spcPts val="0"/>
              </a:spcAft>
              <a:buClr>
                <a:srgbClr val="434343"/>
              </a:buClr>
              <a:buSzPts val="1200"/>
              <a:buFont typeface="Roboto Condensed Light"/>
              <a:buAutoNum type="romanLcPeriod"/>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7"/>
        <p:cNvGrpSpPr/>
        <p:nvPr/>
      </p:nvGrpSpPr>
      <p:grpSpPr>
        <a:xfrm>
          <a:off x="0" y="0"/>
          <a:ext cx="0" cy="0"/>
          <a:chOff x="0" y="0"/>
          <a:chExt cx="0" cy="0"/>
        </a:xfrm>
      </p:grpSpPr>
      <p:sp>
        <p:nvSpPr>
          <p:cNvPr id="68" name="Google Shape;68;p9"/>
          <p:cNvSpPr txBox="1">
            <a:spLocks noGrp="1"/>
          </p:cNvSpPr>
          <p:nvPr>
            <p:ph type="title"/>
          </p:nvPr>
        </p:nvSpPr>
        <p:spPr>
          <a:xfrm>
            <a:off x="2916875" y="1499525"/>
            <a:ext cx="3357900" cy="576000"/>
          </a:xfrm>
          <a:prstGeom prst="rect">
            <a:avLst/>
          </a:prstGeom>
        </p:spPr>
        <p:txBody>
          <a:bodyPr spcFirstLastPara="1" wrap="square" lIns="0" tIns="0" rIns="0" bIns="0" anchor="ctr" anchorCtr="0">
            <a:noAutofit/>
          </a:bodyPr>
          <a:lstStyle>
            <a:lvl1pPr lvl="0" algn="ctr"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69" name="Google Shape;69;p9"/>
          <p:cNvSpPr txBox="1">
            <a:spLocks noGrp="1"/>
          </p:cNvSpPr>
          <p:nvPr>
            <p:ph type="subTitle" idx="1"/>
          </p:nvPr>
        </p:nvSpPr>
        <p:spPr>
          <a:xfrm>
            <a:off x="2916875" y="2308375"/>
            <a:ext cx="3357900" cy="1335600"/>
          </a:xfrm>
          <a:prstGeom prst="rect">
            <a:avLst/>
          </a:prstGeom>
          <a:noFill/>
          <a:ln>
            <a:noFill/>
          </a:ln>
        </p:spPr>
        <p:txBody>
          <a:bodyPr spcFirstLastPara="1" wrap="square" lIns="0" tIns="0" rIns="0" bIns="0" anchor="ctr" anchorCtr="0">
            <a:noAutofit/>
          </a:bodyPr>
          <a:lstStyle>
            <a:lvl1pPr lvl="0" algn="ctr" rtl="0">
              <a:lnSpc>
                <a:spcPct val="100000"/>
              </a:lnSpc>
              <a:spcBef>
                <a:spcPts val="0"/>
              </a:spcBef>
              <a:spcAft>
                <a:spcPts val="0"/>
              </a:spcAft>
              <a:buClr>
                <a:schemeClr val="dk1"/>
              </a:buClr>
              <a:buSzPts val="2400"/>
              <a:buFont typeface="DM Sans"/>
              <a:buNone/>
              <a:defRPr sz="1600">
                <a:solidFill>
                  <a:schemeClr val="dk1"/>
                </a:solidFill>
                <a:latin typeface="DM Sans"/>
                <a:ea typeface="DM Sans"/>
                <a:cs typeface="DM Sans"/>
                <a:sym typeface="DM Sans"/>
              </a:defRPr>
            </a:lvl1pPr>
            <a:lvl2pPr lvl="1" rtl="0">
              <a:lnSpc>
                <a:spcPct val="100000"/>
              </a:lnSpc>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2pPr>
            <a:lvl3pPr lvl="2" rtl="0">
              <a:lnSpc>
                <a:spcPct val="100000"/>
              </a:lnSpc>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3pPr>
            <a:lvl4pPr lvl="3" rtl="0">
              <a:lnSpc>
                <a:spcPct val="100000"/>
              </a:lnSpc>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4pPr>
            <a:lvl5pPr lvl="4" rtl="0">
              <a:lnSpc>
                <a:spcPct val="100000"/>
              </a:lnSpc>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5pPr>
            <a:lvl6pPr lvl="5" rtl="0">
              <a:lnSpc>
                <a:spcPct val="100000"/>
              </a:lnSpc>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6pPr>
            <a:lvl7pPr lvl="6" rtl="0">
              <a:lnSpc>
                <a:spcPct val="100000"/>
              </a:lnSpc>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7pPr>
            <a:lvl8pPr lvl="7" rtl="0">
              <a:lnSpc>
                <a:spcPct val="100000"/>
              </a:lnSpc>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8pPr>
            <a:lvl9pPr lvl="8" rtl="0">
              <a:lnSpc>
                <a:spcPct val="100000"/>
              </a:lnSpc>
              <a:spcBef>
                <a:spcPts val="0"/>
              </a:spcBef>
              <a:spcAft>
                <a:spcPts val="0"/>
              </a:spcAft>
              <a:buClr>
                <a:schemeClr val="lt1"/>
              </a:buClr>
              <a:buSzPts val="2400"/>
              <a:buFont typeface="DM Sans"/>
              <a:buNone/>
              <a:defRPr sz="2400">
                <a:solidFill>
                  <a:schemeClr val="lt1"/>
                </a:solidFill>
                <a:latin typeface="DM Sans"/>
                <a:ea typeface="DM Sans"/>
                <a:cs typeface="DM Sans"/>
                <a:sym typeface="DM Sans"/>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10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BLANK_1_1_1_1_1_1_1_1_1_1_1">
    <p:bg>
      <p:bgPr>
        <a:gradFill>
          <a:gsLst>
            <a:gs pos="0">
              <a:schemeClr val="accent3"/>
            </a:gs>
            <a:gs pos="44000">
              <a:schemeClr val="accent4"/>
            </a:gs>
            <a:gs pos="100000">
              <a:schemeClr val="accent5"/>
            </a:gs>
          </a:gsLst>
          <a:lin ang="2698631" scaled="0"/>
        </a:gradFill>
        <a:effectLst/>
      </p:bgPr>
    </p:bg>
    <p:spTree>
      <p:nvGrpSpPr>
        <p:cNvPr id="1" name="Shape 217"/>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BLANK_1_1_1_1_1_1_1_1_1_1_1_2">
    <p:bg>
      <p:bgPr>
        <a:gradFill>
          <a:gsLst>
            <a:gs pos="0">
              <a:schemeClr val="accent2"/>
            </a:gs>
            <a:gs pos="36000">
              <a:schemeClr val="accent4"/>
            </a:gs>
            <a:gs pos="100000">
              <a:schemeClr val="accent4"/>
            </a:gs>
          </a:gsLst>
          <a:lin ang="2698631" scaled="0"/>
        </a:gradFill>
        <a:effectLst/>
      </p:bgPr>
    </p:bg>
    <p:spTree>
      <p:nvGrpSpPr>
        <p:cNvPr id="1" name="Shape 2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accent5"/>
            </a:gs>
            <a:gs pos="48000">
              <a:schemeClr val="accent4"/>
            </a:gs>
            <a:gs pos="100000">
              <a:schemeClr val="accent2"/>
            </a:gs>
          </a:gsLst>
          <a:lin ang="2698631"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496"/>
            <a:ext cx="7708500" cy="5760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3400"/>
              <a:buFont typeface="Oswald"/>
              <a:buNone/>
              <a:defRPr sz="3400">
                <a:solidFill>
                  <a:schemeClr val="dk1"/>
                </a:solidFill>
                <a:latin typeface="Oswald"/>
                <a:ea typeface="Oswald"/>
                <a:cs typeface="Oswald"/>
                <a:sym typeface="Oswald"/>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rtl="0">
              <a:lnSpc>
                <a:spcPct val="115000"/>
              </a:lnSpc>
              <a:spcBef>
                <a:spcPts val="1600"/>
              </a:spcBef>
              <a:spcAft>
                <a:spcPts val="160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5" r:id="rId3"/>
    <p:sldLayoutId id="2147483658" r:id="rId4"/>
    <p:sldLayoutId id="2147483671" r:id="rId5"/>
    <p:sldLayoutId id="2147483672"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0"/>
          <p:cNvSpPr txBox="1">
            <a:spLocks noGrp="1"/>
          </p:cNvSpPr>
          <p:nvPr>
            <p:ph type="ctrTitle"/>
          </p:nvPr>
        </p:nvSpPr>
        <p:spPr>
          <a:xfrm>
            <a:off x="713225" y="967650"/>
            <a:ext cx="3972000" cy="3027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solidFill>
                  <a:schemeClr val="accent1"/>
                </a:solidFill>
              </a:rPr>
              <a:t>IoT SAFE</a:t>
            </a:r>
            <a:endParaRPr dirty="0"/>
          </a:p>
        </p:txBody>
      </p:sp>
      <p:sp>
        <p:nvSpPr>
          <p:cNvPr id="230" name="Google Shape;230;p30"/>
          <p:cNvSpPr txBox="1">
            <a:spLocks noGrp="1"/>
          </p:cNvSpPr>
          <p:nvPr>
            <p:ph type="subTitle" idx="1"/>
          </p:nvPr>
        </p:nvSpPr>
        <p:spPr>
          <a:xfrm>
            <a:off x="713225" y="3995250"/>
            <a:ext cx="4359000" cy="4095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1400" dirty="0"/>
              <a:t>Researcher:  Mohammad Hossein Shafiee</a:t>
            </a:r>
            <a:br>
              <a:rPr lang="en-US" sz="1400" dirty="0"/>
            </a:br>
            <a:endParaRPr dirty="0"/>
          </a:p>
        </p:txBody>
      </p:sp>
      <p:pic>
        <p:nvPicPr>
          <p:cNvPr id="231" name="Google Shape;231;p30"/>
          <p:cNvPicPr preferRelativeResize="0"/>
          <p:nvPr/>
        </p:nvPicPr>
        <p:blipFill>
          <a:blip r:embed="rId3">
            <a:alphaModFix/>
          </a:blip>
          <a:stretch>
            <a:fillRect/>
          </a:stretch>
        </p:blipFill>
        <p:spPr>
          <a:xfrm>
            <a:off x="4463625" y="0"/>
            <a:ext cx="4392392"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1"/>
          <p:cNvSpPr txBox="1">
            <a:spLocks noGrp="1"/>
          </p:cNvSpPr>
          <p:nvPr>
            <p:ph type="title"/>
          </p:nvPr>
        </p:nvSpPr>
        <p:spPr>
          <a:xfrm>
            <a:off x="918120" y="66904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Introduction</a:t>
            </a:r>
            <a:endParaRPr dirty="0">
              <a:solidFill>
                <a:schemeClr val="accent1"/>
              </a:solidFill>
            </a:endParaRPr>
          </a:p>
        </p:txBody>
      </p:sp>
      <p:sp>
        <p:nvSpPr>
          <p:cNvPr id="237" name="Google Shape;237;p31"/>
          <p:cNvSpPr txBox="1">
            <a:spLocks noGrp="1"/>
          </p:cNvSpPr>
          <p:nvPr>
            <p:ph type="body" idx="1"/>
          </p:nvPr>
        </p:nvSpPr>
        <p:spPr>
          <a:xfrm>
            <a:off x="918120" y="1569400"/>
            <a:ext cx="7704000" cy="3496500"/>
          </a:xfrm>
          <a:prstGeom prst="rect">
            <a:avLst/>
          </a:prstGeom>
        </p:spPr>
        <p:txBody>
          <a:bodyPr spcFirstLastPara="1" wrap="square" lIns="91425" tIns="91425" rIns="91425" bIns="91425" anchor="t" anchorCtr="0">
            <a:noAutofit/>
          </a:bodyPr>
          <a:lstStyle/>
          <a:p>
            <a:pPr marL="152400" indent="0">
              <a:buNone/>
            </a:pPr>
            <a:r>
              <a:rPr lang="en-US" sz="1600" dirty="0"/>
              <a:t>IoT SAFE (IoT SIM Applet for Secure End-to-End Communication) offers a standardized, SIM-based solution to secure IoT devices. This lecture covers IoT SAFE's architecture, key components like the Secure Element (SE), APDUs, and its application in scenarios such as device authentication and secure communication. It also discusses key lifecycle management and compares IoT SAFE to traditional, less integrated security approaches, highlighting its advantages in scalability, simplicity, and robustness.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BACA3-6C98-CDB0-90A5-04E0DA7B4C43}"/>
              </a:ext>
            </a:extLst>
          </p:cNvPr>
          <p:cNvSpPr>
            <a:spLocks noGrp="1"/>
          </p:cNvSpPr>
          <p:nvPr>
            <p:ph type="title"/>
          </p:nvPr>
        </p:nvSpPr>
        <p:spPr/>
        <p:txBody>
          <a:bodyPr/>
          <a:lstStyle/>
          <a:p>
            <a:r>
              <a:rPr lang="en-GB" dirty="0"/>
              <a:t>Overview of The Solution</a:t>
            </a:r>
            <a:endParaRPr lang="en-US" dirty="0"/>
          </a:p>
        </p:txBody>
      </p:sp>
      <p:pic>
        <p:nvPicPr>
          <p:cNvPr id="5" name="Picture 4">
            <a:extLst>
              <a:ext uri="{FF2B5EF4-FFF2-40B4-BE49-F238E27FC236}">
                <a16:creationId xmlns:a16="http://schemas.microsoft.com/office/drawing/2014/main" id="{5924CDEA-AF43-E7BF-8335-BCE4250B35A1}"/>
              </a:ext>
            </a:extLst>
          </p:cNvPr>
          <p:cNvPicPr>
            <a:picLocks noChangeAspect="1"/>
          </p:cNvPicPr>
          <p:nvPr/>
        </p:nvPicPr>
        <p:blipFill>
          <a:blip r:embed="rId2"/>
          <a:stretch>
            <a:fillRect/>
          </a:stretch>
        </p:blipFill>
        <p:spPr>
          <a:xfrm>
            <a:off x="2044365" y="1439302"/>
            <a:ext cx="5055270" cy="3052430"/>
          </a:xfrm>
          <a:prstGeom prst="rect">
            <a:avLst/>
          </a:prstGeom>
        </p:spPr>
      </p:pic>
    </p:spTree>
    <p:extLst>
      <p:ext uri="{BB962C8B-B14F-4D97-AF65-F5344CB8AC3E}">
        <p14:creationId xmlns:p14="http://schemas.microsoft.com/office/powerpoint/2010/main" val="1873978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838AC-3014-4A61-9E3B-8C5361B321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B9EE0A-EBE5-C8BD-5704-A435384F7B09}"/>
              </a:ext>
            </a:extLst>
          </p:cNvPr>
          <p:cNvSpPr>
            <a:spLocks noGrp="1"/>
          </p:cNvSpPr>
          <p:nvPr>
            <p:ph type="title"/>
          </p:nvPr>
        </p:nvSpPr>
        <p:spPr/>
        <p:txBody>
          <a:bodyPr/>
          <a:lstStyle/>
          <a:p>
            <a:r>
              <a:rPr lang="en-US" sz="2800" b="1" i="0" dirty="0">
                <a:solidFill>
                  <a:schemeClr val="tx1"/>
                </a:solidFill>
                <a:effectLst/>
                <a:latin typeface="Oswald" panose="00000500000000000000" pitchFamily="2" charset="0"/>
              </a:rPr>
              <a:t>How to access the IoT SAFE applet from the device?</a:t>
            </a:r>
            <a:r>
              <a:rPr lang="en-US" sz="2800" dirty="0">
                <a:solidFill>
                  <a:schemeClr val="tx1"/>
                </a:solidFill>
                <a:latin typeface="Oswald" panose="00000500000000000000" pitchFamily="2" charset="0"/>
              </a:rPr>
              <a:t> </a:t>
            </a:r>
            <a:br>
              <a:rPr lang="en-US" sz="2800" dirty="0">
                <a:solidFill>
                  <a:schemeClr val="tx1"/>
                </a:solidFill>
                <a:latin typeface="Oswald" panose="00000500000000000000" pitchFamily="2" charset="0"/>
              </a:rPr>
            </a:br>
            <a:endParaRPr lang="en-US" sz="2800" dirty="0">
              <a:solidFill>
                <a:schemeClr val="tx1"/>
              </a:solidFill>
              <a:latin typeface="Oswald" panose="00000500000000000000" pitchFamily="2" charset="0"/>
            </a:endParaRPr>
          </a:p>
        </p:txBody>
      </p:sp>
      <p:pic>
        <p:nvPicPr>
          <p:cNvPr id="4" name="Picture 3">
            <a:extLst>
              <a:ext uri="{FF2B5EF4-FFF2-40B4-BE49-F238E27FC236}">
                <a16:creationId xmlns:a16="http://schemas.microsoft.com/office/drawing/2014/main" id="{7C9CE982-749A-B5BB-DF7B-11C4F737AEC0}"/>
              </a:ext>
            </a:extLst>
          </p:cNvPr>
          <p:cNvPicPr>
            <a:picLocks noChangeAspect="1"/>
          </p:cNvPicPr>
          <p:nvPr/>
        </p:nvPicPr>
        <p:blipFill>
          <a:blip r:embed="rId2"/>
          <a:stretch>
            <a:fillRect/>
          </a:stretch>
        </p:blipFill>
        <p:spPr>
          <a:xfrm>
            <a:off x="2889686" y="1112200"/>
            <a:ext cx="3364627" cy="3620006"/>
          </a:xfrm>
          <a:prstGeom prst="rect">
            <a:avLst/>
          </a:prstGeom>
        </p:spPr>
      </p:pic>
    </p:spTree>
    <p:extLst>
      <p:ext uri="{BB962C8B-B14F-4D97-AF65-F5344CB8AC3E}">
        <p14:creationId xmlns:p14="http://schemas.microsoft.com/office/powerpoint/2010/main" val="4223363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0F64FC0B-5E61-7D13-B485-430C21C883C9}"/>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35558E18-373E-8694-4BEB-479CED18632B}"/>
              </a:ext>
            </a:extLst>
          </p:cNvPr>
          <p:cNvSpPr txBox="1">
            <a:spLocks noGrp="1"/>
          </p:cNvSpPr>
          <p:nvPr>
            <p:ph type="title"/>
          </p:nvPr>
        </p:nvSpPr>
        <p:spPr>
          <a:xfrm>
            <a:off x="918120" y="66904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AT Commands</a:t>
            </a:r>
            <a:endParaRPr dirty="0">
              <a:solidFill>
                <a:schemeClr val="accent1"/>
              </a:solidFill>
            </a:endParaRPr>
          </a:p>
        </p:txBody>
      </p:sp>
      <p:sp>
        <p:nvSpPr>
          <p:cNvPr id="237" name="Google Shape;237;p31">
            <a:extLst>
              <a:ext uri="{FF2B5EF4-FFF2-40B4-BE49-F238E27FC236}">
                <a16:creationId xmlns:a16="http://schemas.microsoft.com/office/drawing/2014/main" id="{57493171-D71B-5E95-D051-90B7DBE2DA2D}"/>
              </a:ext>
            </a:extLst>
          </p:cNvPr>
          <p:cNvSpPr txBox="1">
            <a:spLocks noGrp="1"/>
          </p:cNvSpPr>
          <p:nvPr>
            <p:ph type="body" idx="1"/>
          </p:nvPr>
        </p:nvSpPr>
        <p:spPr>
          <a:xfrm>
            <a:off x="918120" y="1569400"/>
            <a:ext cx="7704000" cy="3496500"/>
          </a:xfrm>
          <a:prstGeom prst="rect">
            <a:avLst/>
          </a:prstGeom>
        </p:spPr>
        <p:txBody>
          <a:bodyPr spcFirstLastPara="1" wrap="square" lIns="91425" tIns="91425" rIns="91425" bIns="91425" anchor="t" anchorCtr="0">
            <a:noAutofit/>
          </a:bodyPr>
          <a:lstStyle/>
          <a:p>
            <a:pPr marL="152400" indent="0">
              <a:buNone/>
            </a:pPr>
            <a:r>
              <a:rPr lang="en-US" b="1" dirty="0"/>
              <a:t>AT commands</a:t>
            </a:r>
            <a:r>
              <a:rPr lang="en-US" dirty="0"/>
              <a:t> (short for </a:t>
            </a:r>
            <a:r>
              <a:rPr lang="en-US" b="1" dirty="0"/>
              <a:t>Attention commands</a:t>
            </a:r>
            <a:r>
              <a:rPr lang="en-US" dirty="0"/>
              <a:t>) are a set of instructions used to control and communicate with devices like </a:t>
            </a:r>
            <a:r>
              <a:rPr lang="en-US" b="1" dirty="0"/>
              <a:t>modems</a:t>
            </a:r>
            <a:r>
              <a:rPr lang="en-US" dirty="0"/>
              <a:t>, </a:t>
            </a:r>
            <a:r>
              <a:rPr lang="en-US" b="1" dirty="0"/>
              <a:t>cellular modules</a:t>
            </a:r>
            <a:r>
              <a:rPr lang="en-US" dirty="0"/>
              <a:t>, and other communication devices. They were originally developed for </a:t>
            </a:r>
            <a:r>
              <a:rPr lang="en-US" b="1" dirty="0"/>
              <a:t>modem control</a:t>
            </a:r>
            <a:r>
              <a:rPr lang="en-US" dirty="0"/>
              <a:t> but are now widely used for controlling various types of communication modules, including </a:t>
            </a:r>
            <a:r>
              <a:rPr lang="en-US" b="1" dirty="0"/>
              <a:t>cellular</a:t>
            </a:r>
            <a:r>
              <a:rPr lang="en-US" dirty="0"/>
              <a:t>, </a:t>
            </a:r>
            <a:r>
              <a:rPr lang="en-US" b="1" dirty="0"/>
              <a:t>GSM</a:t>
            </a:r>
            <a:r>
              <a:rPr lang="en-US" dirty="0"/>
              <a:t>, </a:t>
            </a:r>
            <a:r>
              <a:rPr lang="en-US" b="1" dirty="0"/>
              <a:t>GPS</a:t>
            </a:r>
            <a:r>
              <a:rPr lang="en-US" dirty="0"/>
              <a:t>, </a:t>
            </a:r>
            <a:r>
              <a:rPr lang="en-US" b="1" dirty="0"/>
              <a:t>Wi-Fi</a:t>
            </a:r>
            <a:r>
              <a:rPr lang="en-US" dirty="0"/>
              <a:t>, and </a:t>
            </a:r>
            <a:r>
              <a:rPr lang="en-US" b="1" dirty="0"/>
              <a:t>Bluetooth</a:t>
            </a:r>
            <a:r>
              <a:rPr lang="en-US" dirty="0"/>
              <a:t> modules.</a:t>
            </a:r>
          </a:p>
          <a:p>
            <a:pPr marL="152400" indent="0">
              <a:buNone/>
            </a:pPr>
            <a:r>
              <a:rPr lang="en-US" b="0" i="0" dirty="0">
                <a:solidFill>
                  <a:schemeClr val="tx1"/>
                </a:solidFill>
                <a:effectLst/>
                <a:latin typeface="DM Sans" pitchFamily="2" charset="0"/>
              </a:rPr>
              <a:t>AT commands (described in [3GPP_AT]) provides a mean to forward messages to the SIM.</a:t>
            </a:r>
            <a:br>
              <a:rPr lang="en-US" dirty="0">
                <a:solidFill>
                  <a:schemeClr val="tx1"/>
                </a:solidFill>
                <a:latin typeface="DM Sans" pitchFamily="2" charset="0"/>
              </a:rPr>
            </a:br>
            <a:endParaRPr lang="en-US" dirty="0">
              <a:solidFill>
                <a:schemeClr val="tx1"/>
              </a:solidFill>
              <a:latin typeface="DM Sans" pitchFamily="2" charset="0"/>
            </a:endParaRPr>
          </a:p>
        </p:txBody>
      </p:sp>
      <p:pic>
        <p:nvPicPr>
          <p:cNvPr id="3" name="Picture 2" descr="A diagram of a diagram&#10;&#10;Description automatically generated">
            <a:extLst>
              <a:ext uri="{FF2B5EF4-FFF2-40B4-BE49-F238E27FC236}">
                <a16:creationId xmlns:a16="http://schemas.microsoft.com/office/drawing/2014/main" id="{DA59C717-2E2D-82C9-281A-51C95A4D3829}"/>
              </a:ext>
            </a:extLst>
          </p:cNvPr>
          <p:cNvPicPr>
            <a:picLocks noChangeAspect="1"/>
          </p:cNvPicPr>
          <p:nvPr/>
        </p:nvPicPr>
        <p:blipFill>
          <a:blip r:embed="rId3"/>
          <a:stretch>
            <a:fillRect/>
          </a:stretch>
        </p:blipFill>
        <p:spPr>
          <a:xfrm>
            <a:off x="2615946" y="2571750"/>
            <a:ext cx="3912108" cy="1956054"/>
          </a:xfrm>
          <a:prstGeom prst="rect">
            <a:avLst/>
          </a:prstGeom>
        </p:spPr>
      </p:pic>
    </p:spTree>
    <p:extLst>
      <p:ext uri="{BB962C8B-B14F-4D97-AF65-F5344CB8AC3E}">
        <p14:creationId xmlns:p14="http://schemas.microsoft.com/office/powerpoint/2010/main" val="3488135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EAF484D5-9FD5-A165-9464-74ABCC76BB4D}"/>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34D44EE3-1981-00CE-03EA-FC945BF5576C}"/>
              </a:ext>
            </a:extLst>
          </p:cNvPr>
          <p:cNvSpPr txBox="1">
            <a:spLocks noGrp="1"/>
          </p:cNvSpPr>
          <p:nvPr>
            <p:ph type="title"/>
          </p:nvPr>
        </p:nvSpPr>
        <p:spPr>
          <a:xfrm>
            <a:off x="918120" y="66904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APDU</a:t>
            </a:r>
            <a:endParaRPr dirty="0">
              <a:solidFill>
                <a:schemeClr val="accent1"/>
              </a:solidFill>
            </a:endParaRPr>
          </a:p>
        </p:txBody>
      </p:sp>
      <p:sp>
        <p:nvSpPr>
          <p:cNvPr id="237" name="Google Shape;237;p31">
            <a:extLst>
              <a:ext uri="{FF2B5EF4-FFF2-40B4-BE49-F238E27FC236}">
                <a16:creationId xmlns:a16="http://schemas.microsoft.com/office/drawing/2014/main" id="{F423725D-46F7-2100-C529-1C8DA54AF46E}"/>
              </a:ext>
            </a:extLst>
          </p:cNvPr>
          <p:cNvSpPr txBox="1">
            <a:spLocks noGrp="1"/>
          </p:cNvSpPr>
          <p:nvPr>
            <p:ph type="body" idx="1"/>
          </p:nvPr>
        </p:nvSpPr>
        <p:spPr>
          <a:xfrm>
            <a:off x="918120" y="1569400"/>
            <a:ext cx="7704000" cy="3496500"/>
          </a:xfrm>
          <a:prstGeom prst="rect">
            <a:avLst/>
          </a:prstGeom>
        </p:spPr>
        <p:txBody>
          <a:bodyPr spcFirstLastPara="1" wrap="square" lIns="91425" tIns="91425" rIns="91425" bIns="91425" anchor="t" anchorCtr="0">
            <a:noAutofit/>
          </a:bodyPr>
          <a:lstStyle/>
          <a:p>
            <a:pPr marL="152400" indent="0">
              <a:buNone/>
            </a:pPr>
            <a:r>
              <a:rPr lang="en-US" b="1" dirty="0"/>
              <a:t>APDU</a:t>
            </a:r>
            <a:r>
              <a:rPr lang="en-US" dirty="0"/>
              <a:t> (Application Protocol Data Unit) is a communication protocol used to interact with </a:t>
            </a:r>
            <a:r>
              <a:rPr lang="en-US" b="1" dirty="0"/>
              <a:t>smart cards</a:t>
            </a:r>
            <a:r>
              <a:rPr lang="en-US" dirty="0"/>
              <a:t>, </a:t>
            </a:r>
            <a:r>
              <a:rPr lang="en-US" b="1" dirty="0"/>
              <a:t>SIM cards</a:t>
            </a:r>
            <a:r>
              <a:rPr lang="en-US" dirty="0"/>
              <a:t>, and other secure elements (such as security tokens). APDU is a set of commands and responses that allow for communication between a </a:t>
            </a:r>
            <a:r>
              <a:rPr lang="en-US" b="1" dirty="0"/>
              <a:t>smart card reader</a:t>
            </a:r>
            <a:r>
              <a:rPr lang="en-US" dirty="0"/>
              <a:t> (or any other terminal) and a </a:t>
            </a:r>
            <a:r>
              <a:rPr lang="en-US" b="1" dirty="0"/>
              <a:t>smart card</a:t>
            </a:r>
            <a:r>
              <a:rPr lang="en-US" dirty="0"/>
              <a:t> or </a:t>
            </a:r>
            <a:r>
              <a:rPr lang="en-US" b="1" dirty="0"/>
              <a:t>secure chip</a:t>
            </a:r>
            <a:r>
              <a:rPr lang="en-US" dirty="0"/>
              <a:t>. These commands are typically used for tasks such as authentication, encryption, storing data, and other security-related operations.</a:t>
            </a:r>
            <a:r>
              <a:rPr lang="en-US" dirty="0">
                <a:solidFill>
                  <a:schemeClr val="tx1"/>
                </a:solidFill>
                <a:latin typeface="DM Sans" pitchFamily="2" charset="0"/>
              </a:rPr>
              <a:t> It uses </a:t>
            </a:r>
            <a:r>
              <a:rPr lang="en-US" b="1" dirty="0"/>
              <a:t>ISO/IEC 7816</a:t>
            </a:r>
            <a:r>
              <a:rPr lang="en-US" b="1" dirty="0">
                <a:solidFill>
                  <a:schemeClr val="tx1"/>
                </a:solidFill>
                <a:latin typeface="DM Sans" pitchFamily="2" charset="0"/>
              </a:rPr>
              <a:t> </a:t>
            </a:r>
            <a:r>
              <a:rPr lang="en-US" dirty="0">
                <a:solidFill>
                  <a:schemeClr val="tx1"/>
                </a:solidFill>
                <a:latin typeface="DM Sans" pitchFamily="2" charset="0"/>
              </a:rPr>
              <a:t>standard to communicate with SIM.</a:t>
            </a:r>
            <a:endParaRPr lang="en-US" dirty="0"/>
          </a:p>
        </p:txBody>
      </p:sp>
    </p:spTree>
    <p:extLst>
      <p:ext uri="{BB962C8B-B14F-4D97-AF65-F5344CB8AC3E}">
        <p14:creationId xmlns:p14="http://schemas.microsoft.com/office/powerpoint/2010/main" val="2552195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41FF5407-BB1F-11AA-8F37-CC92B970B7B5}"/>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2CE658FE-3C22-E4EF-CB30-31458E4D583A}"/>
              </a:ext>
            </a:extLst>
          </p:cNvPr>
          <p:cNvSpPr txBox="1">
            <a:spLocks noGrp="1"/>
          </p:cNvSpPr>
          <p:nvPr>
            <p:ph type="title"/>
          </p:nvPr>
        </p:nvSpPr>
        <p:spPr>
          <a:xfrm>
            <a:off x="918120" y="66904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APDU Command Structure</a:t>
            </a:r>
            <a:endParaRPr dirty="0">
              <a:solidFill>
                <a:schemeClr val="accent1"/>
              </a:solidFill>
            </a:endParaRPr>
          </a:p>
        </p:txBody>
      </p:sp>
      <p:pic>
        <p:nvPicPr>
          <p:cNvPr id="4" name="Picture 3">
            <a:extLst>
              <a:ext uri="{FF2B5EF4-FFF2-40B4-BE49-F238E27FC236}">
                <a16:creationId xmlns:a16="http://schemas.microsoft.com/office/drawing/2014/main" id="{F2BA4E48-16B8-1CEF-C911-67517B9F9A27}"/>
              </a:ext>
            </a:extLst>
          </p:cNvPr>
          <p:cNvPicPr>
            <a:picLocks noChangeAspect="1"/>
          </p:cNvPicPr>
          <p:nvPr/>
        </p:nvPicPr>
        <p:blipFill>
          <a:blip r:embed="rId3"/>
          <a:stretch>
            <a:fillRect/>
          </a:stretch>
        </p:blipFill>
        <p:spPr>
          <a:xfrm>
            <a:off x="2245366" y="1409828"/>
            <a:ext cx="4653268" cy="3130806"/>
          </a:xfrm>
          <a:prstGeom prst="rect">
            <a:avLst/>
          </a:prstGeom>
        </p:spPr>
      </p:pic>
    </p:spTree>
    <p:extLst>
      <p:ext uri="{BB962C8B-B14F-4D97-AF65-F5344CB8AC3E}">
        <p14:creationId xmlns:p14="http://schemas.microsoft.com/office/powerpoint/2010/main" val="2823765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973F549F-F6E3-1ADE-9A1F-F385742CA3B1}"/>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54742DD9-9D5E-3D41-B98D-04C9F4FBDA9C}"/>
              </a:ext>
            </a:extLst>
          </p:cNvPr>
          <p:cNvSpPr txBox="1">
            <a:spLocks noGrp="1"/>
          </p:cNvSpPr>
          <p:nvPr>
            <p:ph type="title"/>
          </p:nvPr>
        </p:nvSpPr>
        <p:spPr>
          <a:xfrm>
            <a:off x="918120" y="66904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Example of Reading Public Key</a:t>
            </a:r>
            <a:endParaRPr dirty="0">
              <a:solidFill>
                <a:schemeClr val="accent1"/>
              </a:solidFill>
            </a:endParaRPr>
          </a:p>
        </p:txBody>
      </p:sp>
      <p:pic>
        <p:nvPicPr>
          <p:cNvPr id="6" name="Picture 5">
            <a:extLst>
              <a:ext uri="{FF2B5EF4-FFF2-40B4-BE49-F238E27FC236}">
                <a16:creationId xmlns:a16="http://schemas.microsoft.com/office/drawing/2014/main" id="{51862BDB-120C-F66C-3DE1-0C415C69FCC1}"/>
              </a:ext>
            </a:extLst>
          </p:cNvPr>
          <p:cNvPicPr>
            <a:picLocks noChangeAspect="1"/>
          </p:cNvPicPr>
          <p:nvPr/>
        </p:nvPicPr>
        <p:blipFill>
          <a:blip r:embed="rId3"/>
          <a:stretch>
            <a:fillRect/>
          </a:stretch>
        </p:blipFill>
        <p:spPr>
          <a:xfrm>
            <a:off x="1477734" y="1658975"/>
            <a:ext cx="6188531" cy="2426997"/>
          </a:xfrm>
          <a:prstGeom prst="rect">
            <a:avLst/>
          </a:prstGeom>
        </p:spPr>
      </p:pic>
    </p:spTree>
    <p:extLst>
      <p:ext uri="{BB962C8B-B14F-4D97-AF65-F5344CB8AC3E}">
        <p14:creationId xmlns:p14="http://schemas.microsoft.com/office/powerpoint/2010/main" val="1722649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8CEB2-A400-0B82-B43D-5582E958A74E}"/>
            </a:ext>
          </a:extLst>
        </p:cNvPr>
        <p:cNvGrpSpPr/>
        <p:nvPr/>
      </p:nvGrpSpPr>
      <p:grpSpPr>
        <a:xfrm>
          <a:off x="0" y="0"/>
          <a:ext cx="0" cy="0"/>
          <a:chOff x="0" y="0"/>
          <a:chExt cx="0" cy="0"/>
        </a:xfrm>
      </p:grpSpPr>
      <p:grpSp>
        <p:nvGrpSpPr>
          <p:cNvPr id="3" name="Google Shape;326;p34">
            <a:extLst>
              <a:ext uri="{FF2B5EF4-FFF2-40B4-BE49-F238E27FC236}">
                <a16:creationId xmlns:a16="http://schemas.microsoft.com/office/drawing/2014/main" id="{38332B72-7476-6001-7103-CB192E74E30F}"/>
              </a:ext>
            </a:extLst>
          </p:cNvPr>
          <p:cNvGrpSpPr/>
          <p:nvPr/>
        </p:nvGrpSpPr>
        <p:grpSpPr>
          <a:xfrm rot="5400000" flipH="1">
            <a:off x="642710" y="2353952"/>
            <a:ext cx="1923589" cy="4155628"/>
            <a:chOff x="7350442" y="2608992"/>
            <a:chExt cx="777239" cy="1673160"/>
          </a:xfrm>
        </p:grpSpPr>
        <p:sp>
          <p:nvSpPr>
            <p:cNvPr id="4" name="Google Shape;327;p34">
              <a:extLst>
                <a:ext uri="{FF2B5EF4-FFF2-40B4-BE49-F238E27FC236}">
                  <a16:creationId xmlns:a16="http://schemas.microsoft.com/office/drawing/2014/main" id="{F96F1D5A-923A-697A-8155-79BB5DCF96C7}"/>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 name="Google Shape;328;p34">
              <a:extLst>
                <a:ext uri="{FF2B5EF4-FFF2-40B4-BE49-F238E27FC236}">
                  <a16:creationId xmlns:a16="http://schemas.microsoft.com/office/drawing/2014/main" id="{4BBDF635-818E-8F73-291D-88C4593CE70E}"/>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 name="Google Shape;329;p34">
              <a:extLst>
                <a:ext uri="{FF2B5EF4-FFF2-40B4-BE49-F238E27FC236}">
                  <a16:creationId xmlns:a16="http://schemas.microsoft.com/office/drawing/2014/main" id="{D2041BCB-AD5D-6EDA-3E6B-ADB9F3713D7C}"/>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330;p34">
              <a:extLst>
                <a:ext uri="{FF2B5EF4-FFF2-40B4-BE49-F238E27FC236}">
                  <a16:creationId xmlns:a16="http://schemas.microsoft.com/office/drawing/2014/main" id="{7A8C1A3F-EEF6-D5C7-08C9-A1ED43758E79}"/>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331;p34">
              <a:extLst>
                <a:ext uri="{FF2B5EF4-FFF2-40B4-BE49-F238E27FC236}">
                  <a16:creationId xmlns:a16="http://schemas.microsoft.com/office/drawing/2014/main" id="{2E7182EA-E1A4-B79C-9A9E-4F3D9465DDA6}"/>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332;p34">
              <a:extLst>
                <a:ext uri="{FF2B5EF4-FFF2-40B4-BE49-F238E27FC236}">
                  <a16:creationId xmlns:a16="http://schemas.microsoft.com/office/drawing/2014/main" id="{EBC07F45-B475-C2A9-6797-724EBB3EE720}"/>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333;p34">
              <a:extLst>
                <a:ext uri="{FF2B5EF4-FFF2-40B4-BE49-F238E27FC236}">
                  <a16:creationId xmlns:a16="http://schemas.microsoft.com/office/drawing/2014/main" id="{06AAB387-711E-6183-B9A4-7503E5F98624}"/>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334;p34">
              <a:extLst>
                <a:ext uri="{FF2B5EF4-FFF2-40B4-BE49-F238E27FC236}">
                  <a16:creationId xmlns:a16="http://schemas.microsoft.com/office/drawing/2014/main" id="{471D15E8-9436-FAD2-1A72-C4E6F4765655}"/>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 name="Google Shape;269;p32">
            <a:extLst>
              <a:ext uri="{FF2B5EF4-FFF2-40B4-BE49-F238E27FC236}">
                <a16:creationId xmlns:a16="http://schemas.microsoft.com/office/drawing/2014/main" id="{11670116-4D75-56D1-7208-A22B2BDF2ACC}"/>
              </a:ext>
            </a:extLst>
          </p:cNvPr>
          <p:cNvGrpSpPr/>
          <p:nvPr/>
        </p:nvGrpSpPr>
        <p:grpSpPr>
          <a:xfrm rot="5400000">
            <a:off x="7363145" y="-686153"/>
            <a:ext cx="1182802" cy="2555083"/>
            <a:chOff x="7350442" y="2608992"/>
            <a:chExt cx="777239" cy="1673160"/>
          </a:xfrm>
        </p:grpSpPr>
        <p:sp>
          <p:nvSpPr>
            <p:cNvPr id="23" name="Google Shape;270;p32">
              <a:extLst>
                <a:ext uri="{FF2B5EF4-FFF2-40B4-BE49-F238E27FC236}">
                  <a16:creationId xmlns:a16="http://schemas.microsoft.com/office/drawing/2014/main" id="{EA6B62C7-AB94-BB40-3288-7FC0092AFF75}"/>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271;p32">
              <a:extLst>
                <a:ext uri="{FF2B5EF4-FFF2-40B4-BE49-F238E27FC236}">
                  <a16:creationId xmlns:a16="http://schemas.microsoft.com/office/drawing/2014/main" id="{A2823B14-0BEB-3831-9BD2-686EA8DE6B73}"/>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272;p32">
              <a:extLst>
                <a:ext uri="{FF2B5EF4-FFF2-40B4-BE49-F238E27FC236}">
                  <a16:creationId xmlns:a16="http://schemas.microsoft.com/office/drawing/2014/main" id="{71EECDD3-586A-6433-BEE6-200ABE5EE63B}"/>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73;p32">
              <a:extLst>
                <a:ext uri="{FF2B5EF4-FFF2-40B4-BE49-F238E27FC236}">
                  <a16:creationId xmlns:a16="http://schemas.microsoft.com/office/drawing/2014/main" id="{E4E23741-7032-2B81-91CB-CFAE64058A1F}"/>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274;p32">
              <a:extLst>
                <a:ext uri="{FF2B5EF4-FFF2-40B4-BE49-F238E27FC236}">
                  <a16:creationId xmlns:a16="http://schemas.microsoft.com/office/drawing/2014/main" id="{A9A278EB-5C40-491F-FF3E-FB6DE6ECAF31}"/>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275;p32">
              <a:extLst>
                <a:ext uri="{FF2B5EF4-FFF2-40B4-BE49-F238E27FC236}">
                  <a16:creationId xmlns:a16="http://schemas.microsoft.com/office/drawing/2014/main" id="{631B8BA4-CAA7-020A-0744-0B40C64F25A4}"/>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76;p32">
              <a:extLst>
                <a:ext uri="{FF2B5EF4-FFF2-40B4-BE49-F238E27FC236}">
                  <a16:creationId xmlns:a16="http://schemas.microsoft.com/office/drawing/2014/main" id="{08AB5752-86A8-493E-AAF5-511CF3E2312E}"/>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277;p32">
              <a:extLst>
                <a:ext uri="{FF2B5EF4-FFF2-40B4-BE49-F238E27FC236}">
                  <a16:creationId xmlns:a16="http://schemas.microsoft.com/office/drawing/2014/main" id="{3F48DB30-1463-1470-1FA8-30C06E2C71E6}"/>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1" name="Picture 30">
            <a:extLst>
              <a:ext uri="{FF2B5EF4-FFF2-40B4-BE49-F238E27FC236}">
                <a16:creationId xmlns:a16="http://schemas.microsoft.com/office/drawing/2014/main" id="{78BBB976-1960-EDF1-8EE8-1D2E838014F1}"/>
              </a:ext>
            </a:extLst>
          </p:cNvPr>
          <p:cNvPicPr>
            <a:picLocks noChangeAspect="1"/>
          </p:cNvPicPr>
          <p:nvPr/>
        </p:nvPicPr>
        <p:blipFill>
          <a:blip r:embed="rId2"/>
          <a:stretch>
            <a:fillRect/>
          </a:stretch>
        </p:blipFill>
        <p:spPr>
          <a:xfrm>
            <a:off x="2800219" y="1012767"/>
            <a:ext cx="3543562" cy="3920098"/>
          </a:xfrm>
          <a:prstGeom prst="rect">
            <a:avLst/>
          </a:prstGeom>
        </p:spPr>
      </p:pic>
      <p:graphicFrame>
        <p:nvGraphicFramePr>
          <p:cNvPr id="20" name="Table 19">
            <a:extLst>
              <a:ext uri="{FF2B5EF4-FFF2-40B4-BE49-F238E27FC236}">
                <a16:creationId xmlns:a16="http://schemas.microsoft.com/office/drawing/2014/main" id="{43837FE9-8B69-4608-F61E-F730B5434660}"/>
              </a:ext>
            </a:extLst>
          </p:cNvPr>
          <p:cNvGraphicFramePr>
            <a:graphicFrameLocks noGrp="1"/>
          </p:cNvGraphicFramePr>
          <p:nvPr>
            <p:extLst>
              <p:ext uri="{D42A27DB-BD31-4B8C-83A1-F6EECF244321}">
                <p14:modId xmlns:p14="http://schemas.microsoft.com/office/powerpoint/2010/main" val="1875865870"/>
              </p:ext>
            </p:extLst>
          </p:nvPr>
        </p:nvGraphicFramePr>
        <p:xfrm>
          <a:off x="1886483" y="364350"/>
          <a:ext cx="5708495" cy="579120"/>
        </p:xfrm>
        <a:graphic>
          <a:graphicData uri="http://schemas.openxmlformats.org/drawingml/2006/table">
            <a:tbl>
              <a:tblPr/>
              <a:tblGrid>
                <a:gridCol w="5708495">
                  <a:extLst>
                    <a:ext uri="{9D8B030D-6E8A-4147-A177-3AD203B41FA5}">
                      <a16:colId xmlns:a16="http://schemas.microsoft.com/office/drawing/2014/main" val="567482476"/>
                    </a:ext>
                  </a:extLst>
                </a:gridCol>
              </a:tblGrid>
              <a:tr h="202044">
                <a:tc>
                  <a:txBody>
                    <a:bodyPr/>
                    <a:lstStyle/>
                    <a:p>
                      <a:r>
                        <a:rPr lang="en-US" sz="1600" b="1" i="0" dirty="0">
                          <a:solidFill>
                            <a:schemeClr val="tx1"/>
                          </a:solidFill>
                          <a:effectLst/>
                          <a:latin typeface="DM Sans" pitchFamily="2" charset="0"/>
                        </a:rPr>
                        <a:t>Scenario 1 (UICC manufactured with asymmetric keys generated at </a:t>
                      </a:r>
                      <a:r>
                        <a:rPr lang="en-US" sz="1600" b="1" i="0" dirty="0" err="1">
                          <a:solidFill>
                            <a:schemeClr val="tx1"/>
                          </a:solidFill>
                          <a:effectLst/>
                          <a:latin typeface="DM Sans" pitchFamily="2" charset="0"/>
                        </a:rPr>
                        <a:t>personalisation</a:t>
                      </a:r>
                      <a:r>
                        <a:rPr lang="en-US" sz="1600" b="1" i="0" dirty="0">
                          <a:solidFill>
                            <a:schemeClr val="tx1"/>
                          </a:solidFill>
                          <a:effectLst/>
                          <a:latin typeface="DM Sans" pitchFamily="2" charset="0"/>
                        </a:rPr>
                        <a:t> step)</a:t>
                      </a:r>
                      <a:endParaRPr lang="en-US" sz="1800" dirty="0">
                        <a:solidFill>
                          <a:schemeClr val="tx1"/>
                        </a:solidFill>
                        <a:effectLst/>
                        <a:latin typeface="DM Sans" pitchFamily="2" charset="0"/>
                      </a:endParaRPr>
                    </a:p>
                  </a:txBody>
                  <a:tcPr anchor="ctr">
                    <a:lnL>
                      <a:noFill/>
                    </a:lnL>
                    <a:lnR>
                      <a:noFill/>
                    </a:lnR>
                    <a:lnT>
                      <a:noFill/>
                    </a:lnT>
                    <a:lnB>
                      <a:noFill/>
                    </a:lnB>
                    <a:noFill/>
                  </a:tcPr>
                </a:tc>
                <a:extLst>
                  <a:ext uri="{0D108BD9-81ED-4DB2-BD59-A6C34878D82A}">
                    <a16:rowId xmlns:a16="http://schemas.microsoft.com/office/drawing/2014/main" val="3241834470"/>
                  </a:ext>
                </a:extLst>
              </a:tr>
            </a:tbl>
          </a:graphicData>
        </a:graphic>
      </p:graphicFrame>
      <p:sp>
        <p:nvSpPr>
          <p:cNvPr id="21" name="Rectangle 5">
            <a:extLst>
              <a:ext uri="{FF2B5EF4-FFF2-40B4-BE49-F238E27FC236}">
                <a16:creationId xmlns:a16="http://schemas.microsoft.com/office/drawing/2014/main" id="{D8FE98D5-E2E8-613A-1F16-884EA8F52ECF}"/>
              </a:ext>
            </a:extLst>
          </p:cNvPr>
          <p:cNvSpPr>
            <a:spLocks noGrp="1" noChangeArrowheads="1"/>
          </p:cNvSpPr>
          <p:nvPr>
            <p:ph type="title"/>
          </p:nvPr>
        </p:nvSpPr>
        <p:spPr bwMode="auto">
          <a:xfrm>
            <a:off x="885557" y="-346115"/>
            <a:ext cx="3359150"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66838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5818D-1FBB-7814-31F8-08421ED7E7A2}"/>
            </a:ext>
          </a:extLst>
        </p:cNvPr>
        <p:cNvGrpSpPr/>
        <p:nvPr/>
      </p:nvGrpSpPr>
      <p:grpSpPr>
        <a:xfrm>
          <a:off x="0" y="0"/>
          <a:ext cx="0" cy="0"/>
          <a:chOff x="0" y="0"/>
          <a:chExt cx="0" cy="0"/>
        </a:xfrm>
      </p:grpSpPr>
      <p:grpSp>
        <p:nvGrpSpPr>
          <p:cNvPr id="3" name="Google Shape;326;p34">
            <a:extLst>
              <a:ext uri="{FF2B5EF4-FFF2-40B4-BE49-F238E27FC236}">
                <a16:creationId xmlns:a16="http://schemas.microsoft.com/office/drawing/2014/main" id="{7709614D-DD10-7363-27B9-DB9821ACF934}"/>
              </a:ext>
            </a:extLst>
          </p:cNvPr>
          <p:cNvGrpSpPr/>
          <p:nvPr/>
        </p:nvGrpSpPr>
        <p:grpSpPr>
          <a:xfrm rot="5400000" flipH="1">
            <a:off x="642710" y="2353952"/>
            <a:ext cx="1923589" cy="4155628"/>
            <a:chOff x="7350442" y="2608992"/>
            <a:chExt cx="777239" cy="1673160"/>
          </a:xfrm>
        </p:grpSpPr>
        <p:sp>
          <p:nvSpPr>
            <p:cNvPr id="4" name="Google Shape;327;p34">
              <a:extLst>
                <a:ext uri="{FF2B5EF4-FFF2-40B4-BE49-F238E27FC236}">
                  <a16:creationId xmlns:a16="http://schemas.microsoft.com/office/drawing/2014/main" id="{AA5816D7-C32E-A4E9-0977-AFBA383EEA6A}"/>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 name="Google Shape;328;p34">
              <a:extLst>
                <a:ext uri="{FF2B5EF4-FFF2-40B4-BE49-F238E27FC236}">
                  <a16:creationId xmlns:a16="http://schemas.microsoft.com/office/drawing/2014/main" id="{CA831092-A45D-F261-E596-52E0C318B703}"/>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 name="Google Shape;329;p34">
              <a:extLst>
                <a:ext uri="{FF2B5EF4-FFF2-40B4-BE49-F238E27FC236}">
                  <a16:creationId xmlns:a16="http://schemas.microsoft.com/office/drawing/2014/main" id="{0519778B-2BF5-5F74-5B1A-093290060B38}"/>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330;p34">
              <a:extLst>
                <a:ext uri="{FF2B5EF4-FFF2-40B4-BE49-F238E27FC236}">
                  <a16:creationId xmlns:a16="http://schemas.microsoft.com/office/drawing/2014/main" id="{D4CFFFB9-B541-68B7-3E98-55E6DA2AB8B9}"/>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331;p34">
              <a:extLst>
                <a:ext uri="{FF2B5EF4-FFF2-40B4-BE49-F238E27FC236}">
                  <a16:creationId xmlns:a16="http://schemas.microsoft.com/office/drawing/2014/main" id="{1BE58478-26E8-4D90-4A73-4D8748C29AC9}"/>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332;p34">
              <a:extLst>
                <a:ext uri="{FF2B5EF4-FFF2-40B4-BE49-F238E27FC236}">
                  <a16:creationId xmlns:a16="http://schemas.microsoft.com/office/drawing/2014/main" id="{05D4993F-B693-3BFA-D24F-66EF7555BC60}"/>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333;p34">
              <a:extLst>
                <a:ext uri="{FF2B5EF4-FFF2-40B4-BE49-F238E27FC236}">
                  <a16:creationId xmlns:a16="http://schemas.microsoft.com/office/drawing/2014/main" id="{3E057B58-A616-E886-7EB5-555C071CCB37}"/>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334;p34">
              <a:extLst>
                <a:ext uri="{FF2B5EF4-FFF2-40B4-BE49-F238E27FC236}">
                  <a16:creationId xmlns:a16="http://schemas.microsoft.com/office/drawing/2014/main" id="{D297A431-E11C-0366-ACF0-5223873EDDD1}"/>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 name="Google Shape;269;p32">
            <a:extLst>
              <a:ext uri="{FF2B5EF4-FFF2-40B4-BE49-F238E27FC236}">
                <a16:creationId xmlns:a16="http://schemas.microsoft.com/office/drawing/2014/main" id="{5B850EF2-807C-2B5C-D9F9-88A18E65E7FB}"/>
              </a:ext>
            </a:extLst>
          </p:cNvPr>
          <p:cNvGrpSpPr/>
          <p:nvPr/>
        </p:nvGrpSpPr>
        <p:grpSpPr>
          <a:xfrm rot="5400000">
            <a:off x="7363145" y="-686153"/>
            <a:ext cx="1182802" cy="2555083"/>
            <a:chOff x="7350442" y="2608992"/>
            <a:chExt cx="777239" cy="1673160"/>
          </a:xfrm>
        </p:grpSpPr>
        <p:sp>
          <p:nvSpPr>
            <p:cNvPr id="23" name="Google Shape;270;p32">
              <a:extLst>
                <a:ext uri="{FF2B5EF4-FFF2-40B4-BE49-F238E27FC236}">
                  <a16:creationId xmlns:a16="http://schemas.microsoft.com/office/drawing/2014/main" id="{63E5B07F-00BE-4C47-3501-3BB9F8F801C7}"/>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271;p32">
              <a:extLst>
                <a:ext uri="{FF2B5EF4-FFF2-40B4-BE49-F238E27FC236}">
                  <a16:creationId xmlns:a16="http://schemas.microsoft.com/office/drawing/2014/main" id="{E7195B36-60EE-4A0C-230E-D514C4B2D2D1}"/>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272;p32">
              <a:extLst>
                <a:ext uri="{FF2B5EF4-FFF2-40B4-BE49-F238E27FC236}">
                  <a16:creationId xmlns:a16="http://schemas.microsoft.com/office/drawing/2014/main" id="{83256A98-D32E-1179-31AD-B25A131F3BDD}"/>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73;p32">
              <a:extLst>
                <a:ext uri="{FF2B5EF4-FFF2-40B4-BE49-F238E27FC236}">
                  <a16:creationId xmlns:a16="http://schemas.microsoft.com/office/drawing/2014/main" id="{CEAD0D5E-BFB9-2145-EED3-F8EF743C11DB}"/>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274;p32">
              <a:extLst>
                <a:ext uri="{FF2B5EF4-FFF2-40B4-BE49-F238E27FC236}">
                  <a16:creationId xmlns:a16="http://schemas.microsoft.com/office/drawing/2014/main" id="{0DE4F65D-DA43-231F-F7F1-A9CBDF97B846}"/>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275;p32">
              <a:extLst>
                <a:ext uri="{FF2B5EF4-FFF2-40B4-BE49-F238E27FC236}">
                  <a16:creationId xmlns:a16="http://schemas.microsoft.com/office/drawing/2014/main" id="{04422FFF-08F2-1848-A05D-66A422FDF418}"/>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76;p32">
              <a:extLst>
                <a:ext uri="{FF2B5EF4-FFF2-40B4-BE49-F238E27FC236}">
                  <a16:creationId xmlns:a16="http://schemas.microsoft.com/office/drawing/2014/main" id="{3A7E8C00-89AC-B079-01FD-22701F0F5E5B}"/>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277;p32">
              <a:extLst>
                <a:ext uri="{FF2B5EF4-FFF2-40B4-BE49-F238E27FC236}">
                  <a16:creationId xmlns:a16="http://schemas.microsoft.com/office/drawing/2014/main" id="{1C3BA5CF-2933-2407-002F-EF1CC47F3CC9}"/>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aphicFrame>
        <p:nvGraphicFramePr>
          <p:cNvPr id="20" name="Table 19">
            <a:extLst>
              <a:ext uri="{FF2B5EF4-FFF2-40B4-BE49-F238E27FC236}">
                <a16:creationId xmlns:a16="http://schemas.microsoft.com/office/drawing/2014/main" id="{DB3ABAD7-CF6B-EDAF-3229-FF4541804A54}"/>
              </a:ext>
            </a:extLst>
          </p:cNvPr>
          <p:cNvGraphicFramePr>
            <a:graphicFrameLocks noGrp="1"/>
          </p:cNvGraphicFramePr>
          <p:nvPr>
            <p:extLst>
              <p:ext uri="{D42A27DB-BD31-4B8C-83A1-F6EECF244321}">
                <p14:modId xmlns:p14="http://schemas.microsoft.com/office/powerpoint/2010/main" val="868462698"/>
              </p:ext>
            </p:extLst>
          </p:nvPr>
        </p:nvGraphicFramePr>
        <p:xfrm>
          <a:off x="1886483" y="364350"/>
          <a:ext cx="5708495" cy="579120"/>
        </p:xfrm>
        <a:graphic>
          <a:graphicData uri="http://schemas.openxmlformats.org/drawingml/2006/table">
            <a:tbl>
              <a:tblPr/>
              <a:tblGrid>
                <a:gridCol w="5708495">
                  <a:extLst>
                    <a:ext uri="{9D8B030D-6E8A-4147-A177-3AD203B41FA5}">
                      <a16:colId xmlns:a16="http://schemas.microsoft.com/office/drawing/2014/main" val="567482476"/>
                    </a:ext>
                  </a:extLst>
                </a:gridCol>
              </a:tblGrid>
              <a:tr h="202044">
                <a:tc>
                  <a:txBody>
                    <a:bodyPr/>
                    <a:lstStyle/>
                    <a:p>
                      <a:r>
                        <a:rPr lang="en-US" sz="1600" b="1" i="0" dirty="0">
                          <a:solidFill>
                            <a:schemeClr val="tx1"/>
                          </a:solidFill>
                          <a:effectLst/>
                          <a:latin typeface="DM Sans" pitchFamily="2" charset="0"/>
                        </a:rPr>
                        <a:t>Scenario 2 (</a:t>
                      </a:r>
                      <a:r>
                        <a:rPr lang="en-US" sz="1600" b="1" i="0" dirty="0" err="1">
                          <a:solidFill>
                            <a:schemeClr val="tx1"/>
                          </a:solidFill>
                          <a:effectLst/>
                          <a:latin typeface="DM Sans" pitchFamily="2" charset="0"/>
                        </a:rPr>
                        <a:t>eUICC</a:t>
                      </a:r>
                      <a:r>
                        <a:rPr lang="en-US" sz="1600" b="1" i="0" dirty="0">
                          <a:solidFill>
                            <a:schemeClr val="tx1"/>
                          </a:solidFill>
                          <a:effectLst/>
                          <a:latin typeface="DM Sans" pitchFamily="2" charset="0"/>
                        </a:rPr>
                        <a:t> with on-board asymmetric key generation, signing certificate)</a:t>
                      </a:r>
                      <a:endParaRPr lang="en-US" sz="1800" dirty="0">
                        <a:solidFill>
                          <a:schemeClr val="tx1"/>
                        </a:solidFill>
                        <a:effectLst/>
                        <a:latin typeface="DM Sans" pitchFamily="2" charset="0"/>
                      </a:endParaRPr>
                    </a:p>
                  </a:txBody>
                  <a:tcPr anchor="ctr">
                    <a:lnL>
                      <a:noFill/>
                    </a:lnL>
                    <a:lnR>
                      <a:noFill/>
                    </a:lnR>
                    <a:lnT>
                      <a:noFill/>
                    </a:lnT>
                    <a:lnB>
                      <a:noFill/>
                    </a:lnB>
                    <a:noFill/>
                  </a:tcPr>
                </a:tc>
                <a:extLst>
                  <a:ext uri="{0D108BD9-81ED-4DB2-BD59-A6C34878D82A}">
                    <a16:rowId xmlns:a16="http://schemas.microsoft.com/office/drawing/2014/main" val="3241834470"/>
                  </a:ext>
                </a:extLst>
              </a:tr>
            </a:tbl>
          </a:graphicData>
        </a:graphic>
      </p:graphicFrame>
      <p:sp>
        <p:nvSpPr>
          <p:cNvPr id="21" name="Rectangle 5">
            <a:extLst>
              <a:ext uri="{FF2B5EF4-FFF2-40B4-BE49-F238E27FC236}">
                <a16:creationId xmlns:a16="http://schemas.microsoft.com/office/drawing/2014/main" id="{5A723C82-8FC1-E4EB-7F8F-B15667F6BF42}"/>
              </a:ext>
            </a:extLst>
          </p:cNvPr>
          <p:cNvSpPr>
            <a:spLocks noGrp="1" noChangeArrowheads="1"/>
          </p:cNvSpPr>
          <p:nvPr>
            <p:ph type="title"/>
          </p:nvPr>
        </p:nvSpPr>
        <p:spPr bwMode="auto">
          <a:xfrm>
            <a:off x="885557" y="-346115"/>
            <a:ext cx="3359150"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1ED8820A-8759-C4F3-D2D9-2D587890B558}"/>
              </a:ext>
            </a:extLst>
          </p:cNvPr>
          <p:cNvPicPr>
            <a:picLocks noChangeAspect="1"/>
          </p:cNvPicPr>
          <p:nvPr/>
        </p:nvPicPr>
        <p:blipFill>
          <a:blip r:embed="rId2"/>
          <a:stretch>
            <a:fillRect/>
          </a:stretch>
        </p:blipFill>
        <p:spPr>
          <a:xfrm>
            <a:off x="2830363" y="1058999"/>
            <a:ext cx="3483273" cy="3821131"/>
          </a:xfrm>
          <a:prstGeom prst="rect">
            <a:avLst/>
          </a:prstGeom>
        </p:spPr>
      </p:pic>
    </p:spTree>
    <p:extLst>
      <p:ext uri="{BB962C8B-B14F-4D97-AF65-F5344CB8AC3E}">
        <p14:creationId xmlns:p14="http://schemas.microsoft.com/office/powerpoint/2010/main" val="1275037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AC665-FEF1-9AAA-40EB-AC11FA6A0359}"/>
            </a:ext>
          </a:extLst>
        </p:cNvPr>
        <p:cNvGrpSpPr/>
        <p:nvPr/>
      </p:nvGrpSpPr>
      <p:grpSpPr>
        <a:xfrm>
          <a:off x="0" y="0"/>
          <a:ext cx="0" cy="0"/>
          <a:chOff x="0" y="0"/>
          <a:chExt cx="0" cy="0"/>
        </a:xfrm>
      </p:grpSpPr>
      <p:grpSp>
        <p:nvGrpSpPr>
          <p:cNvPr id="3" name="Google Shape;326;p34">
            <a:extLst>
              <a:ext uri="{FF2B5EF4-FFF2-40B4-BE49-F238E27FC236}">
                <a16:creationId xmlns:a16="http://schemas.microsoft.com/office/drawing/2014/main" id="{24913C35-576B-8202-6EF6-D6EE98B39BF0}"/>
              </a:ext>
            </a:extLst>
          </p:cNvPr>
          <p:cNvGrpSpPr/>
          <p:nvPr/>
        </p:nvGrpSpPr>
        <p:grpSpPr>
          <a:xfrm rot="5400000" flipH="1">
            <a:off x="642710" y="2353952"/>
            <a:ext cx="1923589" cy="4155628"/>
            <a:chOff x="7350442" y="2608992"/>
            <a:chExt cx="777239" cy="1673160"/>
          </a:xfrm>
        </p:grpSpPr>
        <p:sp>
          <p:nvSpPr>
            <p:cNvPr id="4" name="Google Shape;327;p34">
              <a:extLst>
                <a:ext uri="{FF2B5EF4-FFF2-40B4-BE49-F238E27FC236}">
                  <a16:creationId xmlns:a16="http://schemas.microsoft.com/office/drawing/2014/main" id="{ADEDFE41-7C67-0305-9491-F1CF0A62E78F}"/>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 name="Google Shape;328;p34">
              <a:extLst>
                <a:ext uri="{FF2B5EF4-FFF2-40B4-BE49-F238E27FC236}">
                  <a16:creationId xmlns:a16="http://schemas.microsoft.com/office/drawing/2014/main" id="{C039E111-1E14-ECF5-2705-1284D1314094}"/>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 name="Google Shape;329;p34">
              <a:extLst>
                <a:ext uri="{FF2B5EF4-FFF2-40B4-BE49-F238E27FC236}">
                  <a16:creationId xmlns:a16="http://schemas.microsoft.com/office/drawing/2014/main" id="{7084B638-D4AD-D72E-819F-BC5BA4BB3E1B}"/>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330;p34">
              <a:extLst>
                <a:ext uri="{FF2B5EF4-FFF2-40B4-BE49-F238E27FC236}">
                  <a16:creationId xmlns:a16="http://schemas.microsoft.com/office/drawing/2014/main" id="{64AEFE5F-9EF3-C30A-2267-72B4736B55A6}"/>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331;p34">
              <a:extLst>
                <a:ext uri="{FF2B5EF4-FFF2-40B4-BE49-F238E27FC236}">
                  <a16:creationId xmlns:a16="http://schemas.microsoft.com/office/drawing/2014/main" id="{A491AC0F-B789-A482-D19F-C4A2E9058722}"/>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332;p34">
              <a:extLst>
                <a:ext uri="{FF2B5EF4-FFF2-40B4-BE49-F238E27FC236}">
                  <a16:creationId xmlns:a16="http://schemas.microsoft.com/office/drawing/2014/main" id="{73954B31-EAC9-1634-7377-D10B62359A14}"/>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333;p34">
              <a:extLst>
                <a:ext uri="{FF2B5EF4-FFF2-40B4-BE49-F238E27FC236}">
                  <a16:creationId xmlns:a16="http://schemas.microsoft.com/office/drawing/2014/main" id="{93917D06-1C3F-27DF-8395-10001E8185C0}"/>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334;p34">
              <a:extLst>
                <a:ext uri="{FF2B5EF4-FFF2-40B4-BE49-F238E27FC236}">
                  <a16:creationId xmlns:a16="http://schemas.microsoft.com/office/drawing/2014/main" id="{6B5D92C5-B721-B059-CA7B-2E362BDB1A32}"/>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 name="Google Shape;269;p32">
            <a:extLst>
              <a:ext uri="{FF2B5EF4-FFF2-40B4-BE49-F238E27FC236}">
                <a16:creationId xmlns:a16="http://schemas.microsoft.com/office/drawing/2014/main" id="{B00911BA-8229-A538-979D-AE3E70A4508D}"/>
              </a:ext>
            </a:extLst>
          </p:cNvPr>
          <p:cNvGrpSpPr/>
          <p:nvPr/>
        </p:nvGrpSpPr>
        <p:grpSpPr>
          <a:xfrm rot="5400000">
            <a:off x="7363145" y="-686153"/>
            <a:ext cx="1182802" cy="2555083"/>
            <a:chOff x="7350442" y="2608992"/>
            <a:chExt cx="777239" cy="1673160"/>
          </a:xfrm>
        </p:grpSpPr>
        <p:sp>
          <p:nvSpPr>
            <p:cNvPr id="23" name="Google Shape;270;p32">
              <a:extLst>
                <a:ext uri="{FF2B5EF4-FFF2-40B4-BE49-F238E27FC236}">
                  <a16:creationId xmlns:a16="http://schemas.microsoft.com/office/drawing/2014/main" id="{2180749D-2E6D-14CF-5966-B2ED872528C1}"/>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271;p32">
              <a:extLst>
                <a:ext uri="{FF2B5EF4-FFF2-40B4-BE49-F238E27FC236}">
                  <a16:creationId xmlns:a16="http://schemas.microsoft.com/office/drawing/2014/main" id="{0E7C3912-E04D-E4C1-D569-62828F450961}"/>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272;p32">
              <a:extLst>
                <a:ext uri="{FF2B5EF4-FFF2-40B4-BE49-F238E27FC236}">
                  <a16:creationId xmlns:a16="http://schemas.microsoft.com/office/drawing/2014/main" id="{BBC69FD4-5647-88F8-06A5-79FDC0266723}"/>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73;p32">
              <a:extLst>
                <a:ext uri="{FF2B5EF4-FFF2-40B4-BE49-F238E27FC236}">
                  <a16:creationId xmlns:a16="http://schemas.microsoft.com/office/drawing/2014/main" id="{B1F2E121-92F5-7EF9-EC0F-A85B7769002C}"/>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274;p32">
              <a:extLst>
                <a:ext uri="{FF2B5EF4-FFF2-40B4-BE49-F238E27FC236}">
                  <a16:creationId xmlns:a16="http://schemas.microsoft.com/office/drawing/2014/main" id="{7012AAED-555E-1732-A693-3356E3A13A27}"/>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275;p32">
              <a:extLst>
                <a:ext uri="{FF2B5EF4-FFF2-40B4-BE49-F238E27FC236}">
                  <a16:creationId xmlns:a16="http://schemas.microsoft.com/office/drawing/2014/main" id="{69C84253-5072-D1BF-A5BD-E8378E939BC4}"/>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76;p32">
              <a:extLst>
                <a:ext uri="{FF2B5EF4-FFF2-40B4-BE49-F238E27FC236}">
                  <a16:creationId xmlns:a16="http://schemas.microsoft.com/office/drawing/2014/main" id="{BBBDBC08-C2C1-DE90-6D60-2940A3C6CAAA}"/>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277;p32">
              <a:extLst>
                <a:ext uri="{FF2B5EF4-FFF2-40B4-BE49-F238E27FC236}">
                  <a16:creationId xmlns:a16="http://schemas.microsoft.com/office/drawing/2014/main" id="{347BF608-ED03-8EE0-743B-56A9276DB401}"/>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aphicFrame>
        <p:nvGraphicFramePr>
          <p:cNvPr id="20" name="Table 19">
            <a:extLst>
              <a:ext uri="{FF2B5EF4-FFF2-40B4-BE49-F238E27FC236}">
                <a16:creationId xmlns:a16="http://schemas.microsoft.com/office/drawing/2014/main" id="{1FC0C940-58F9-B154-145D-4C0FCFFF6937}"/>
              </a:ext>
            </a:extLst>
          </p:cNvPr>
          <p:cNvGraphicFramePr>
            <a:graphicFrameLocks noGrp="1"/>
          </p:cNvGraphicFramePr>
          <p:nvPr>
            <p:extLst>
              <p:ext uri="{D42A27DB-BD31-4B8C-83A1-F6EECF244321}">
                <p14:modId xmlns:p14="http://schemas.microsoft.com/office/powerpoint/2010/main" val="3014616141"/>
              </p:ext>
            </p:extLst>
          </p:nvPr>
        </p:nvGraphicFramePr>
        <p:xfrm>
          <a:off x="1788153" y="364350"/>
          <a:ext cx="5911260" cy="518160"/>
        </p:xfrm>
        <a:graphic>
          <a:graphicData uri="http://schemas.openxmlformats.org/drawingml/2006/table">
            <a:tbl>
              <a:tblPr/>
              <a:tblGrid>
                <a:gridCol w="5911260">
                  <a:extLst>
                    <a:ext uri="{9D8B030D-6E8A-4147-A177-3AD203B41FA5}">
                      <a16:colId xmlns:a16="http://schemas.microsoft.com/office/drawing/2014/main" val="567482476"/>
                    </a:ext>
                  </a:extLst>
                </a:gridCol>
              </a:tblGrid>
              <a:tr h="202044">
                <a:tc>
                  <a:txBody>
                    <a:bodyPr/>
                    <a:lstStyle/>
                    <a:p>
                      <a:r>
                        <a:rPr lang="en-US" sz="1400" b="1" i="0" dirty="0">
                          <a:solidFill>
                            <a:schemeClr val="tx1"/>
                          </a:solidFill>
                          <a:effectLst/>
                          <a:latin typeface="DM Sans" pitchFamily="2" charset="0"/>
                        </a:rPr>
                        <a:t>Scenario 3 (PSK#1: UICC manufactured and pre-loaded with set of </a:t>
                      </a:r>
                      <a:r>
                        <a:rPr lang="en-US" sz="1400" b="1" i="0" dirty="0" err="1">
                          <a:solidFill>
                            <a:schemeClr val="tx1"/>
                          </a:solidFill>
                          <a:effectLst/>
                          <a:latin typeface="DM Sans" pitchFamily="2" charset="0"/>
                        </a:rPr>
                        <a:t>keyloading</a:t>
                      </a:r>
                      <a:r>
                        <a:rPr lang="en-US" sz="1400" b="1" i="0" dirty="0">
                          <a:solidFill>
                            <a:schemeClr val="tx1"/>
                          </a:solidFill>
                          <a:effectLst/>
                          <a:latin typeface="DM Sans" pitchFamily="2" charset="0"/>
                        </a:rPr>
                        <a:t> keys for application owner to manage their own keys</a:t>
                      </a:r>
                      <a:endParaRPr lang="en-US" sz="1600" dirty="0">
                        <a:solidFill>
                          <a:schemeClr val="tx1"/>
                        </a:solidFill>
                        <a:effectLst/>
                        <a:latin typeface="DM Sans" pitchFamily="2" charset="0"/>
                      </a:endParaRPr>
                    </a:p>
                  </a:txBody>
                  <a:tcPr anchor="ctr">
                    <a:lnL>
                      <a:noFill/>
                    </a:lnL>
                    <a:lnR>
                      <a:noFill/>
                    </a:lnR>
                    <a:lnT>
                      <a:noFill/>
                    </a:lnT>
                    <a:lnB>
                      <a:noFill/>
                    </a:lnB>
                    <a:noFill/>
                  </a:tcPr>
                </a:tc>
                <a:extLst>
                  <a:ext uri="{0D108BD9-81ED-4DB2-BD59-A6C34878D82A}">
                    <a16:rowId xmlns:a16="http://schemas.microsoft.com/office/drawing/2014/main" val="3241834470"/>
                  </a:ext>
                </a:extLst>
              </a:tr>
            </a:tbl>
          </a:graphicData>
        </a:graphic>
      </p:graphicFrame>
      <p:sp>
        <p:nvSpPr>
          <p:cNvPr id="21" name="Rectangle 5">
            <a:extLst>
              <a:ext uri="{FF2B5EF4-FFF2-40B4-BE49-F238E27FC236}">
                <a16:creationId xmlns:a16="http://schemas.microsoft.com/office/drawing/2014/main" id="{FF1ADC03-165E-4934-1CBD-179189ABFC70}"/>
              </a:ext>
            </a:extLst>
          </p:cNvPr>
          <p:cNvSpPr>
            <a:spLocks noGrp="1" noChangeArrowheads="1"/>
          </p:cNvSpPr>
          <p:nvPr>
            <p:ph type="title"/>
          </p:nvPr>
        </p:nvSpPr>
        <p:spPr bwMode="auto">
          <a:xfrm>
            <a:off x="885557" y="-346115"/>
            <a:ext cx="3359150"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FA668DC1-9F2E-7B59-85F6-4E085C5014DB}"/>
              </a:ext>
            </a:extLst>
          </p:cNvPr>
          <p:cNvPicPr>
            <a:picLocks noChangeAspect="1"/>
          </p:cNvPicPr>
          <p:nvPr/>
        </p:nvPicPr>
        <p:blipFill>
          <a:blip r:embed="rId2"/>
          <a:stretch>
            <a:fillRect/>
          </a:stretch>
        </p:blipFill>
        <p:spPr>
          <a:xfrm>
            <a:off x="2747274" y="882510"/>
            <a:ext cx="3988054" cy="4098979"/>
          </a:xfrm>
          <a:prstGeom prst="rect">
            <a:avLst/>
          </a:prstGeom>
        </p:spPr>
      </p:pic>
    </p:spTree>
    <p:extLst>
      <p:ext uri="{BB962C8B-B14F-4D97-AF65-F5344CB8AC3E}">
        <p14:creationId xmlns:p14="http://schemas.microsoft.com/office/powerpoint/2010/main" val="176682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437C-5594-6514-07E4-BCBD9B28F12D}"/>
            </a:ext>
          </a:extLst>
        </p:cNvPr>
        <p:cNvGrpSpPr/>
        <p:nvPr/>
      </p:nvGrpSpPr>
      <p:grpSpPr>
        <a:xfrm>
          <a:off x="0" y="0"/>
          <a:ext cx="0" cy="0"/>
          <a:chOff x="0" y="0"/>
          <a:chExt cx="0" cy="0"/>
        </a:xfrm>
      </p:grpSpPr>
      <p:grpSp>
        <p:nvGrpSpPr>
          <p:cNvPr id="3" name="Google Shape;326;p34">
            <a:extLst>
              <a:ext uri="{FF2B5EF4-FFF2-40B4-BE49-F238E27FC236}">
                <a16:creationId xmlns:a16="http://schemas.microsoft.com/office/drawing/2014/main" id="{68AAC942-7970-9A6E-3CAB-1457C3108CC7}"/>
              </a:ext>
            </a:extLst>
          </p:cNvPr>
          <p:cNvGrpSpPr/>
          <p:nvPr/>
        </p:nvGrpSpPr>
        <p:grpSpPr>
          <a:xfrm rot="5400000" flipH="1">
            <a:off x="642710" y="2353952"/>
            <a:ext cx="1923589" cy="4155628"/>
            <a:chOff x="7350442" y="2608992"/>
            <a:chExt cx="777239" cy="1673160"/>
          </a:xfrm>
        </p:grpSpPr>
        <p:sp>
          <p:nvSpPr>
            <p:cNvPr id="4" name="Google Shape;327;p34">
              <a:extLst>
                <a:ext uri="{FF2B5EF4-FFF2-40B4-BE49-F238E27FC236}">
                  <a16:creationId xmlns:a16="http://schemas.microsoft.com/office/drawing/2014/main" id="{6B971C0E-8DDA-2E3D-70D5-B9F1667272E1}"/>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 name="Google Shape;328;p34">
              <a:extLst>
                <a:ext uri="{FF2B5EF4-FFF2-40B4-BE49-F238E27FC236}">
                  <a16:creationId xmlns:a16="http://schemas.microsoft.com/office/drawing/2014/main" id="{A4576101-F539-7160-232D-40BBD613AAE5}"/>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 name="Google Shape;329;p34">
              <a:extLst>
                <a:ext uri="{FF2B5EF4-FFF2-40B4-BE49-F238E27FC236}">
                  <a16:creationId xmlns:a16="http://schemas.microsoft.com/office/drawing/2014/main" id="{DAC4E11E-EB4E-7E4C-D49D-AEBAF5D11D7D}"/>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330;p34">
              <a:extLst>
                <a:ext uri="{FF2B5EF4-FFF2-40B4-BE49-F238E27FC236}">
                  <a16:creationId xmlns:a16="http://schemas.microsoft.com/office/drawing/2014/main" id="{C4F71C6A-5D1E-5FAA-6EBC-D677BDFC5F97}"/>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331;p34">
              <a:extLst>
                <a:ext uri="{FF2B5EF4-FFF2-40B4-BE49-F238E27FC236}">
                  <a16:creationId xmlns:a16="http://schemas.microsoft.com/office/drawing/2014/main" id="{2432B0F8-D205-5054-E603-3872933329DE}"/>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332;p34">
              <a:extLst>
                <a:ext uri="{FF2B5EF4-FFF2-40B4-BE49-F238E27FC236}">
                  <a16:creationId xmlns:a16="http://schemas.microsoft.com/office/drawing/2014/main" id="{E46E132B-DF93-5514-0469-F5CFB6A887E0}"/>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333;p34">
              <a:extLst>
                <a:ext uri="{FF2B5EF4-FFF2-40B4-BE49-F238E27FC236}">
                  <a16:creationId xmlns:a16="http://schemas.microsoft.com/office/drawing/2014/main" id="{B6A7E4A6-1156-A0AE-FA68-769DA3C17975}"/>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334;p34">
              <a:extLst>
                <a:ext uri="{FF2B5EF4-FFF2-40B4-BE49-F238E27FC236}">
                  <a16:creationId xmlns:a16="http://schemas.microsoft.com/office/drawing/2014/main" id="{F4D79B0B-99F3-05F8-5FA0-81C364E295FE}"/>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 name="Google Shape;269;p32">
            <a:extLst>
              <a:ext uri="{FF2B5EF4-FFF2-40B4-BE49-F238E27FC236}">
                <a16:creationId xmlns:a16="http://schemas.microsoft.com/office/drawing/2014/main" id="{3752CE4E-6D21-1245-9F14-D08EF6914EDC}"/>
              </a:ext>
            </a:extLst>
          </p:cNvPr>
          <p:cNvGrpSpPr/>
          <p:nvPr/>
        </p:nvGrpSpPr>
        <p:grpSpPr>
          <a:xfrm rot="5400000">
            <a:off x="7363145" y="-686153"/>
            <a:ext cx="1182802" cy="2555083"/>
            <a:chOff x="7350442" y="2608992"/>
            <a:chExt cx="777239" cy="1673160"/>
          </a:xfrm>
        </p:grpSpPr>
        <p:sp>
          <p:nvSpPr>
            <p:cNvPr id="23" name="Google Shape;270;p32">
              <a:extLst>
                <a:ext uri="{FF2B5EF4-FFF2-40B4-BE49-F238E27FC236}">
                  <a16:creationId xmlns:a16="http://schemas.microsoft.com/office/drawing/2014/main" id="{269D864B-4E61-F061-DFDE-5A9CFD0E1FE4}"/>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271;p32">
              <a:extLst>
                <a:ext uri="{FF2B5EF4-FFF2-40B4-BE49-F238E27FC236}">
                  <a16:creationId xmlns:a16="http://schemas.microsoft.com/office/drawing/2014/main" id="{50559C7E-7154-755E-B158-E2453E532511}"/>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272;p32">
              <a:extLst>
                <a:ext uri="{FF2B5EF4-FFF2-40B4-BE49-F238E27FC236}">
                  <a16:creationId xmlns:a16="http://schemas.microsoft.com/office/drawing/2014/main" id="{5B6B5709-4773-793E-D633-9115BE3AB6B9}"/>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73;p32">
              <a:extLst>
                <a:ext uri="{FF2B5EF4-FFF2-40B4-BE49-F238E27FC236}">
                  <a16:creationId xmlns:a16="http://schemas.microsoft.com/office/drawing/2014/main" id="{D5CF6526-4052-8CC7-2605-58C8449F9F42}"/>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274;p32">
              <a:extLst>
                <a:ext uri="{FF2B5EF4-FFF2-40B4-BE49-F238E27FC236}">
                  <a16:creationId xmlns:a16="http://schemas.microsoft.com/office/drawing/2014/main" id="{36FDC6EB-ACA6-4F1F-7044-359E07B4FC3E}"/>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275;p32">
              <a:extLst>
                <a:ext uri="{FF2B5EF4-FFF2-40B4-BE49-F238E27FC236}">
                  <a16:creationId xmlns:a16="http://schemas.microsoft.com/office/drawing/2014/main" id="{8D13D1B2-B92E-8070-AB46-C587FF34C403}"/>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76;p32">
              <a:extLst>
                <a:ext uri="{FF2B5EF4-FFF2-40B4-BE49-F238E27FC236}">
                  <a16:creationId xmlns:a16="http://schemas.microsoft.com/office/drawing/2014/main" id="{E9DFFFDF-45CB-626E-6AEF-2E7E5B73F1B7}"/>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277;p32">
              <a:extLst>
                <a:ext uri="{FF2B5EF4-FFF2-40B4-BE49-F238E27FC236}">
                  <a16:creationId xmlns:a16="http://schemas.microsoft.com/office/drawing/2014/main" id="{FEB3F72D-D352-C9E6-542F-7A0873C4C274}"/>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aphicFrame>
        <p:nvGraphicFramePr>
          <p:cNvPr id="20" name="Table 19">
            <a:extLst>
              <a:ext uri="{FF2B5EF4-FFF2-40B4-BE49-F238E27FC236}">
                <a16:creationId xmlns:a16="http://schemas.microsoft.com/office/drawing/2014/main" id="{EA6D6B67-DFA2-E13A-5EDD-F5C8789E846A}"/>
              </a:ext>
            </a:extLst>
          </p:cNvPr>
          <p:cNvGraphicFramePr>
            <a:graphicFrameLocks noGrp="1"/>
          </p:cNvGraphicFramePr>
          <p:nvPr>
            <p:extLst>
              <p:ext uri="{D42A27DB-BD31-4B8C-83A1-F6EECF244321}">
                <p14:modId xmlns:p14="http://schemas.microsoft.com/office/powerpoint/2010/main" val="3404019392"/>
              </p:ext>
            </p:extLst>
          </p:nvPr>
        </p:nvGraphicFramePr>
        <p:xfrm>
          <a:off x="1886483" y="364350"/>
          <a:ext cx="5708495" cy="518160"/>
        </p:xfrm>
        <a:graphic>
          <a:graphicData uri="http://schemas.openxmlformats.org/drawingml/2006/table">
            <a:tbl>
              <a:tblPr/>
              <a:tblGrid>
                <a:gridCol w="5708495">
                  <a:extLst>
                    <a:ext uri="{9D8B030D-6E8A-4147-A177-3AD203B41FA5}">
                      <a16:colId xmlns:a16="http://schemas.microsoft.com/office/drawing/2014/main" val="567482476"/>
                    </a:ext>
                  </a:extLst>
                </a:gridCol>
              </a:tblGrid>
              <a:tr h="202044">
                <a:tc>
                  <a:txBody>
                    <a:bodyPr/>
                    <a:lstStyle/>
                    <a:p>
                      <a:r>
                        <a:rPr lang="en-US" sz="1400" b="1" i="0" dirty="0">
                          <a:solidFill>
                            <a:schemeClr val="tx1"/>
                          </a:solidFill>
                          <a:effectLst/>
                          <a:latin typeface="DM Sans" pitchFamily="2" charset="0"/>
                        </a:rPr>
                        <a:t>Scenario 4 (PSK#2: Trusted third party manages transport and application security on behalf of application owner)</a:t>
                      </a:r>
                      <a:endParaRPr lang="en-US" sz="1600" dirty="0">
                        <a:solidFill>
                          <a:schemeClr val="tx1"/>
                        </a:solidFill>
                        <a:effectLst/>
                        <a:latin typeface="DM Sans" pitchFamily="2" charset="0"/>
                      </a:endParaRPr>
                    </a:p>
                  </a:txBody>
                  <a:tcPr anchor="ctr">
                    <a:lnL>
                      <a:noFill/>
                    </a:lnL>
                    <a:lnR>
                      <a:noFill/>
                    </a:lnR>
                    <a:lnT>
                      <a:noFill/>
                    </a:lnT>
                    <a:lnB>
                      <a:noFill/>
                    </a:lnB>
                    <a:noFill/>
                  </a:tcPr>
                </a:tc>
                <a:extLst>
                  <a:ext uri="{0D108BD9-81ED-4DB2-BD59-A6C34878D82A}">
                    <a16:rowId xmlns:a16="http://schemas.microsoft.com/office/drawing/2014/main" val="3241834470"/>
                  </a:ext>
                </a:extLst>
              </a:tr>
            </a:tbl>
          </a:graphicData>
        </a:graphic>
      </p:graphicFrame>
      <p:sp>
        <p:nvSpPr>
          <p:cNvPr id="21" name="Rectangle 5">
            <a:extLst>
              <a:ext uri="{FF2B5EF4-FFF2-40B4-BE49-F238E27FC236}">
                <a16:creationId xmlns:a16="http://schemas.microsoft.com/office/drawing/2014/main" id="{7ECEBCFD-2CC3-BA66-85D4-B99474F6772C}"/>
              </a:ext>
            </a:extLst>
          </p:cNvPr>
          <p:cNvSpPr>
            <a:spLocks noGrp="1" noChangeArrowheads="1"/>
          </p:cNvSpPr>
          <p:nvPr>
            <p:ph type="title"/>
          </p:nvPr>
        </p:nvSpPr>
        <p:spPr bwMode="auto">
          <a:xfrm>
            <a:off x="885557" y="-346115"/>
            <a:ext cx="3359150"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61129D2C-C312-48F5-2124-A35E7270B2E1}"/>
              </a:ext>
            </a:extLst>
          </p:cNvPr>
          <p:cNvPicPr>
            <a:picLocks noChangeAspect="1"/>
          </p:cNvPicPr>
          <p:nvPr/>
        </p:nvPicPr>
        <p:blipFill>
          <a:blip r:embed="rId2"/>
          <a:stretch>
            <a:fillRect/>
          </a:stretch>
        </p:blipFill>
        <p:spPr>
          <a:xfrm>
            <a:off x="2850332" y="987724"/>
            <a:ext cx="3785285" cy="3885957"/>
          </a:xfrm>
          <a:prstGeom prst="rect">
            <a:avLst/>
          </a:prstGeom>
        </p:spPr>
      </p:pic>
    </p:spTree>
    <p:extLst>
      <p:ext uri="{BB962C8B-B14F-4D97-AF65-F5344CB8AC3E}">
        <p14:creationId xmlns:p14="http://schemas.microsoft.com/office/powerpoint/2010/main" val="3697044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D8BD6-EEBE-9919-6482-E602B856BC95}"/>
            </a:ext>
          </a:extLst>
        </p:cNvPr>
        <p:cNvGrpSpPr/>
        <p:nvPr/>
      </p:nvGrpSpPr>
      <p:grpSpPr>
        <a:xfrm>
          <a:off x="0" y="0"/>
          <a:ext cx="0" cy="0"/>
          <a:chOff x="0" y="0"/>
          <a:chExt cx="0" cy="0"/>
        </a:xfrm>
      </p:grpSpPr>
      <p:grpSp>
        <p:nvGrpSpPr>
          <p:cNvPr id="3" name="Google Shape;326;p34">
            <a:extLst>
              <a:ext uri="{FF2B5EF4-FFF2-40B4-BE49-F238E27FC236}">
                <a16:creationId xmlns:a16="http://schemas.microsoft.com/office/drawing/2014/main" id="{22ED97A2-AC92-FBDF-DEB9-034562B89537}"/>
              </a:ext>
            </a:extLst>
          </p:cNvPr>
          <p:cNvGrpSpPr/>
          <p:nvPr/>
        </p:nvGrpSpPr>
        <p:grpSpPr>
          <a:xfrm rot="5400000" flipH="1">
            <a:off x="642710" y="2353952"/>
            <a:ext cx="1923589" cy="4155628"/>
            <a:chOff x="7350442" y="2608992"/>
            <a:chExt cx="777239" cy="1673160"/>
          </a:xfrm>
        </p:grpSpPr>
        <p:sp>
          <p:nvSpPr>
            <p:cNvPr id="4" name="Google Shape;327;p34">
              <a:extLst>
                <a:ext uri="{FF2B5EF4-FFF2-40B4-BE49-F238E27FC236}">
                  <a16:creationId xmlns:a16="http://schemas.microsoft.com/office/drawing/2014/main" id="{941BCECA-C043-849E-01F3-6B462A64F11E}"/>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 name="Google Shape;328;p34">
              <a:extLst>
                <a:ext uri="{FF2B5EF4-FFF2-40B4-BE49-F238E27FC236}">
                  <a16:creationId xmlns:a16="http://schemas.microsoft.com/office/drawing/2014/main" id="{3AAC3613-F1EA-2FBF-4FA3-2B5067D0EDEA}"/>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 name="Google Shape;329;p34">
              <a:extLst>
                <a:ext uri="{FF2B5EF4-FFF2-40B4-BE49-F238E27FC236}">
                  <a16:creationId xmlns:a16="http://schemas.microsoft.com/office/drawing/2014/main" id="{78A85379-40F0-3A0B-EA94-E2C0C33720CA}"/>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330;p34">
              <a:extLst>
                <a:ext uri="{FF2B5EF4-FFF2-40B4-BE49-F238E27FC236}">
                  <a16:creationId xmlns:a16="http://schemas.microsoft.com/office/drawing/2014/main" id="{FD7BDED1-A0B8-E2BB-E35E-9308A0D26CEA}"/>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331;p34">
              <a:extLst>
                <a:ext uri="{FF2B5EF4-FFF2-40B4-BE49-F238E27FC236}">
                  <a16:creationId xmlns:a16="http://schemas.microsoft.com/office/drawing/2014/main" id="{3FE65BBF-5BDC-0DF0-97FD-9BB74AE1DA3A}"/>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332;p34">
              <a:extLst>
                <a:ext uri="{FF2B5EF4-FFF2-40B4-BE49-F238E27FC236}">
                  <a16:creationId xmlns:a16="http://schemas.microsoft.com/office/drawing/2014/main" id="{B3AE8A07-11C5-5F27-FB37-3994C287DFE8}"/>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333;p34">
              <a:extLst>
                <a:ext uri="{FF2B5EF4-FFF2-40B4-BE49-F238E27FC236}">
                  <a16:creationId xmlns:a16="http://schemas.microsoft.com/office/drawing/2014/main" id="{54EA6950-D798-500F-F156-45D9A6F8B310}"/>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334;p34">
              <a:extLst>
                <a:ext uri="{FF2B5EF4-FFF2-40B4-BE49-F238E27FC236}">
                  <a16:creationId xmlns:a16="http://schemas.microsoft.com/office/drawing/2014/main" id="{9710E581-9C0F-B361-9DBD-EDBAE3000F86}"/>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 name="Google Shape;269;p32">
            <a:extLst>
              <a:ext uri="{FF2B5EF4-FFF2-40B4-BE49-F238E27FC236}">
                <a16:creationId xmlns:a16="http://schemas.microsoft.com/office/drawing/2014/main" id="{D8833487-92F3-F5E2-9E6F-EF305BAE2052}"/>
              </a:ext>
            </a:extLst>
          </p:cNvPr>
          <p:cNvGrpSpPr/>
          <p:nvPr/>
        </p:nvGrpSpPr>
        <p:grpSpPr>
          <a:xfrm rot="5400000">
            <a:off x="7363145" y="-686153"/>
            <a:ext cx="1182802" cy="2555083"/>
            <a:chOff x="7350442" y="2608992"/>
            <a:chExt cx="777239" cy="1673160"/>
          </a:xfrm>
        </p:grpSpPr>
        <p:sp>
          <p:nvSpPr>
            <p:cNvPr id="23" name="Google Shape;270;p32">
              <a:extLst>
                <a:ext uri="{FF2B5EF4-FFF2-40B4-BE49-F238E27FC236}">
                  <a16:creationId xmlns:a16="http://schemas.microsoft.com/office/drawing/2014/main" id="{53A5FA3D-2C36-2BD6-C2CC-EF2D0B196165}"/>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271;p32">
              <a:extLst>
                <a:ext uri="{FF2B5EF4-FFF2-40B4-BE49-F238E27FC236}">
                  <a16:creationId xmlns:a16="http://schemas.microsoft.com/office/drawing/2014/main" id="{E5783EF2-1D9E-F9B9-5A3E-279D90795081}"/>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272;p32">
              <a:extLst>
                <a:ext uri="{FF2B5EF4-FFF2-40B4-BE49-F238E27FC236}">
                  <a16:creationId xmlns:a16="http://schemas.microsoft.com/office/drawing/2014/main" id="{80A91DDE-5E08-AEC0-0DE1-5507B1A053C9}"/>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73;p32">
              <a:extLst>
                <a:ext uri="{FF2B5EF4-FFF2-40B4-BE49-F238E27FC236}">
                  <a16:creationId xmlns:a16="http://schemas.microsoft.com/office/drawing/2014/main" id="{B193B604-20E0-D087-D174-429A0D39DC29}"/>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274;p32">
              <a:extLst>
                <a:ext uri="{FF2B5EF4-FFF2-40B4-BE49-F238E27FC236}">
                  <a16:creationId xmlns:a16="http://schemas.microsoft.com/office/drawing/2014/main" id="{23C9E27B-14DF-518F-7614-B1BBAFA8B50E}"/>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275;p32">
              <a:extLst>
                <a:ext uri="{FF2B5EF4-FFF2-40B4-BE49-F238E27FC236}">
                  <a16:creationId xmlns:a16="http://schemas.microsoft.com/office/drawing/2014/main" id="{49036FD5-8FEC-9C03-BF86-49B3767C4223}"/>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76;p32">
              <a:extLst>
                <a:ext uri="{FF2B5EF4-FFF2-40B4-BE49-F238E27FC236}">
                  <a16:creationId xmlns:a16="http://schemas.microsoft.com/office/drawing/2014/main" id="{F4880F3C-2FAE-9F65-1775-D81FB6D2870F}"/>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277;p32">
              <a:extLst>
                <a:ext uri="{FF2B5EF4-FFF2-40B4-BE49-F238E27FC236}">
                  <a16:creationId xmlns:a16="http://schemas.microsoft.com/office/drawing/2014/main" id="{822375D8-FCD4-A546-8B19-0181BCEEE69B}"/>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aphicFrame>
        <p:nvGraphicFramePr>
          <p:cNvPr id="20" name="Table 19">
            <a:extLst>
              <a:ext uri="{FF2B5EF4-FFF2-40B4-BE49-F238E27FC236}">
                <a16:creationId xmlns:a16="http://schemas.microsoft.com/office/drawing/2014/main" id="{6F0D1B0D-296B-063F-9F62-76D3238AEA30}"/>
              </a:ext>
            </a:extLst>
          </p:cNvPr>
          <p:cNvGraphicFramePr>
            <a:graphicFrameLocks noGrp="1"/>
          </p:cNvGraphicFramePr>
          <p:nvPr>
            <p:extLst>
              <p:ext uri="{D42A27DB-BD31-4B8C-83A1-F6EECF244321}">
                <p14:modId xmlns:p14="http://schemas.microsoft.com/office/powerpoint/2010/main" val="3442163362"/>
              </p:ext>
            </p:extLst>
          </p:nvPr>
        </p:nvGraphicFramePr>
        <p:xfrm>
          <a:off x="1886483" y="364350"/>
          <a:ext cx="5708495" cy="518160"/>
        </p:xfrm>
        <a:graphic>
          <a:graphicData uri="http://schemas.openxmlformats.org/drawingml/2006/table">
            <a:tbl>
              <a:tblPr/>
              <a:tblGrid>
                <a:gridCol w="5708495">
                  <a:extLst>
                    <a:ext uri="{9D8B030D-6E8A-4147-A177-3AD203B41FA5}">
                      <a16:colId xmlns:a16="http://schemas.microsoft.com/office/drawing/2014/main" val="567482476"/>
                    </a:ext>
                  </a:extLst>
                </a:gridCol>
              </a:tblGrid>
              <a:tr h="202044">
                <a:tc>
                  <a:txBody>
                    <a:bodyPr/>
                    <a:lstStyle/>
                    <a:p>
                      <a:r>
                        <a:rPr lang="en-US" sz="1400" b="1" i="0" dirty="0">
                          <a:solidFill>
                            <a:schemeClr val="tx1"/>
                          </a:solidFill>
                          <a:effectLst/>
                          <a:latin typeface="DM Sans" pitchFamily="2" charset="0"/>
                        </a:rPr>
                        <a:t>Scenario 5 (PSK#3: Trusted third party manages security, derived on a per-batch basis, on behalf of application owner)</a:t>
                      </a:r>
                      <a:endParaRPr lang="en-US" sz="1600" dirty="0">
                        <a:solidFill>
                          <a:schemeClr val="tx1"/>
                        </a:solidFill>
                        <a:effectLst/>
                        <a:latin typeface="DM Sans" pitchFamily="2" charset="0"/>
                      </a:endParaRPr>
                    </a:p>
                  </a:txBody>
                  <a:tcPr anchor="ctr">
                    <a:lnL>
                      <a:noFill/>
                    </a:lnL>
                    <a:lnR>
                      <a:noFill/>
                    </a:lnR>
                    <a:lnT>
                      <a:noFill/>
                    </a:lnT>
                    <a:lnB>
                      <a:noFill/>
                    </a:lnB>
                    <a:noFill/>
                  </a:tcPr>
                </a:tc>
                <a:extLst>
                  <a:ext uri="{0D108BD9-81ED-4DB2-BD59-A6C34878D82A}">
                    <a16:rowId xmlns:a16="http://schemas.microsoft.com/office/drawing/2014/main" val="3241834470"/>
                  </a:ext>
                </a:extLst>
              </a:tr>
            </a:tbl>
          </a:graphicData>
        </a:graphic>
      </p:graphicFrame>
      <p:sp>
        <p:nvSpPr>
          <p:cNvPr id="21" name="Rectangle 5">
            <a:extLst>
              <a:ext uri="{FF2B5EF4-FFF2-40B4-BE49-F238E27FC236}">
                <a16:creationId xmlns:a16="http://schemas.microsoft.com/office/drawing/2014/main" id="{6D778D9C-F77E-C68C-6484-410C346F214E}"/>
              </a:ext>
            </a:extLst>
          </p:cNvPr>
          <p:cNvSpPr>
            <a:spLocks noGrp="1" noChangeArrowheads="1"/>
          </p:cNvSpPr>
          <p:nvPr>
            <p:ph type="title"/>
          </p:nvPr>
        </p:nvSpPr>
        <p:spPr bwMode="auto">
          <a:xfrm>
            <a:off x="885557" y="-346115"/>
            <a:ext cx="3359150"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65D8BB56-7D0E-7579-42AE-1678D859511E}"/>
              </a:ext>
            </a:extLst>
          </p:cNvPr>
          <p:cNvPicPr>
            <a:picLocks noChangeAspect="1"/>
          </p:cNvPicPr>
          <p:nvPr/>
        </p:nvPicPr>
        <p:blipFill>
          <a:blip r:embed="rId2"/>
          <a:stretch>
            <a:fillRect/>
          </a:stretch>
        </p:blipFill>
        <p:spPr>
          <a:xfrm>
            <a:off x="2039324" y="979641"/>
            <a:ext cx="5405763" cy="3909960"/>
          </a:xfrm>
          <a:prstGeom prst="rect">
            <a:avLst/>
          </a:prstGeom>
        </p:spPr>
      </p:pic>
    </p:spTree>
    <p:extLst>
      <p:ext uri="{BB962C8B-B14F-4D97-AF65-F5344CB8AC3E}">
        <p14:creationId xmlns:p14="http://schemas.microsoft.com/office/powerpoint/2010/main" val="4159309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6542F4B9-F781-B727-B465-A0048C1EBAD8}"/>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2A6C678A-A1F8-38A1-DA85-4D8284E384F2}"/>
              </a:ext>
            </a:extLst>
          </p:cNvPr>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sz="2400" b="1" i="0" dirty="0">
                <a:solidFill>
                  <a:schemeClr val="tx1"/>
                </a:solidFill>
                <a:effectLst/>
                <a:latin typeface="DM Sans" pitchFamily="2" charset="0"/>
              </a:rPr>
              <a:t>Applet Services to Run a (D)TLS1.2 Handshake</a:t>
            </a:r>
            <a:r>
              <a:rPr lang="en-US" sz="2400" dirty="0">
                <a:solidFill>
                  <a:schemeClr val="tx1"/>
                </a:solidFill>
                <a:latin typeface="DM Sans" pitchFamily="2" charset="0"/>
              </a:rPr>
              <a:t> </a:t>
            </a:r>
            <a:br>
              <a:rPr lang="en-US" sz="2400" dirty="0">
                <a:solidFill>
                  <a:schemeClr val="tx1"/>
                </a:solidFill>
                <a:latin typeface="DM Sans" pitchFamily="2" charset="0"/>
              </a:rPr>
            </a:br>
            <a:endParaRPr sz="2400" dirty="0">
              <a:solidFill>
                <a:schemeClr val="tx1"/>
              </a:solidFill>
              <a:latin typeface="DM Sans" pitchFamily="2" charset="0"/>
            </a:endParaRPr>
          </a:p>
        </p:txBody>
      </p:sp>
      <p:sp>
        <p:nvSpPr>
          <p:cNvPr id="237" name="Google Shape;237;p31">
            <a:extLst>
              <a:ext uri="{FF2B5EF4-FFF2-40B4-BE49-F238E27FC236}">
                <a16:creationId xmlns:a16="http://schemas.microsoft.com/office/drawing/2014/main" id="{C7EE62A3-351E-C6AF-8D2E-1F7AE0302839}"/>
              </a:ext>
            </a:extLst>
          </p:cNvPr>
          <p:cNvSpPr txBox="1">
            <a:spLocks noGrp="1"/>
          </p:cNvSpPr>
          <p:nvPr>
            <p:ph type="body" idx="1"/>
          </p:nvPr>
        </p:nvSpPr>
        <p:spPr>
          <a:xfrm>
            <a:off x="720000" y="874324"/>
            <a:ext cx="7704000" cy="3496500"/>
          </a:xfrm>
          <a:prstGeom prst="rect">
            <a:avLst/>
          </a:prstGeom>
        </p:spPr>
        <p:txBody>
          <a:bodyPr spcFirstLastPara="1" wrap="square" lIns="91425" tIns="91425" rIns="91425" bIns="91425" anchor="t" anchorCtr="0">
            <a:noAutofit/>
          </a:bodyPr>
          <a:lstStyle/>
          <a:p>
            <a:pPr marL="139700" lvl="0" indent="0" algn="l" rtl="0">
              <a:lnSpc>
                <a:spcPct val="150000"/>
              </a:lnSpc>
              <a:spcBef>
                <a:spcPts val="0"/>
              </a:spcBef>
              <a:spcAft>
                <a:spcPts val="0"/>
              </a:spcAft>
              <a:buSzPts val="1400"/>
              <a:buNone/>
            </a:pPr>
            <a:endParaRPr lang="en-US" sz="1600" dirty="0">
              <a:latin typeface="DM Sans" pitchFamily="2" charset="0"/>
            </a:endParaRPr>
          </a:p>
          <a:p>
            <a:pPr marL="457200" lvl="0" indent="-317500" algn="l" rtl="0">
              <a:lnSpc>
                <a:spcPct val="150000"/>
              </a:lnSpc>
              <a:spcBef>
                <a:spcPts val="0"/>
              </a:spcBef>
              <a:spcAft>
                <a:spcPts val="0"/>
              </a:spcAft>
              <a:buSzPts val="1400"/>
              <a:buChar char="⏣"/>
            </a:pPr>
            <a:r>
              <a:rPr lang="en-US" sz="1600" b="0" i="0" dirty="0">
                <a:solidFill>
                  <a:schemeClr val="tx1"/>
                </a:solidFill>
                <a:effectLst/>
                <a:latin typeface="DM Sans" pitchFamily="2" charset="0"/>
              </a:rPr>
              <a:t>Get a random.</a:t>
            </a:r>
          </a:p>
          <a:p>
            <a:pPr marL="457200" lvl="0" indent="-317500" algn="l" rtl="0">
              <a:lnSpc>
                <a:spcPct val="150000"/>
              </a:lnSpc>
              <a:spcBef>
                <a:spcPts val="0"/>
              </a:spcBef>
              <a:spcAft>
                <a:spcPts val="0"/>
              </a:spcAft>
              <a:buSzPts val="1400"/>
              <a:buChar char="⏣"/>
            </a:pPr>
            <a:r>
              <a:rPr lang="en-US" sz="1600" b="0" i="0" dirty="0">
                <a:solidFill>
                  <a:schemeClr val="tx1"/>
                </a:solidFill>
                <a:effectLst/>
                <a:latin typeface="DM Sans" pitchFamily="2" charset="0"/>
              </a:rPr>
              <a:t>Put a public key in the applet store (issuer certificate deployment model).</a:t>
            </a:r>
          </a:p>
          <a:p>
            <a:pPr marL="457200" lvl="0" indent="-317500" algn="l" rtl="0">
              <a:lnSpc>
                <a:spcPct val="150000"/>
              </a:lnSpc>
              <a:spcBef>
                <a:spcPts val="0"/>
              </a:spcBef>
              <a:spcAft>
                <a:spcPts val="0"/>
              </a:spcAft>
              <a:buSzPts val="1400"/>
              <a:buChar char="⏣"/>
            </a:pPr>
            <a:r>
              <a:rPr lang="en-US" sz="1600" b="0" i="0" dirty="0">
                <a:solidFill>
                  <a:schemeClr val="tx1"/>
                </a:solidFill>
                <a:effectLst/>
                <a:latin typeface="DM Sans" pitchFamily="2" charset="0"/>
              </a:rPr>
              <a:t>Verify a signature.</a:t>
            </a:r>
          </a:p>
          <a:p>
            <a:pPr marL="457200" lvl="0" indent="-317500" algn="l" rtl="0">
              <a:lnSpc>
                <a:spcPct val="150000"/>
              </a:lnSpc>
              <a:spcBef>
                <a:spcPts val="0"/>
              </a:spcBef>
              <a:spcAft>
                <a:spcPts val="0"/>
              </a:spcAft>
              <a:buSzPts val="1400"/>
              <a:buChar char="⏣"/>
            </a:pPr>
            <a:r>
              <a:rPr lang="en-US" sz="1600" b="0" i="0" dirty="0">
                <a:solidFill>
                  <a:schemeClr val="tx1"/>
                </a:solidFill>
                <a:effectLst/>
                <a:latin typeface="DM Sans" pitchFamily="2" charset="0"/>
              </a:rPr>
              <a:t>Generate a signature.</a:t>
            </a:r>
          </a:p>
          <a:p>
            <a:pPr marL="457200" lvl="0" indent="-317500" algn="l" rtl="0">
              <a:lnSpc>
                <a:spcPct val="150000"/>
              </a:lnSpc>
              <a:spcBef>
                <a:spcPts val="0"/>
              </a:spcBef>
              <a:spcAft>
                <a:spcPts val="0"/>
              </a:spcAft>
              <a:buSzPts val="1400"/>
              <a:buChar char="⏣"/>
            </a:pPr>
            <a:r>
              <a:rPr lang="en-US" sz="1600" b="0" i="0" dirty="0">
                <a:solidFill>
                  <a:schemeClr val="tx1"/>
                </a:solidFill>
                <a:effectLst/>
                <a:latin typeface="DM Sans" pitchFamily="2" charset="0"/>
              </a:rPr>
              <a:t>Generate an ECC key pair. </a:t>
            </a:r>
          </a:p>
          <a:p>
            <a:pPr marL="457200" lvl="0" indent="-317500" algn="l" rtl="0">
              <a:lnSpc>
                <a:spcPct val="150000"/>
              </a:lnSpc>
              <a:spcBef>
                <a:spcPts val="0"/>
              </a:spcBef>
              <a:spcAft>
                <a:spcPts val="0"/>
              </a:spcAft>
              <a:buSzPts val="1400"/>
              <a:buChar char="⏣"/>
            </a:pPr>
            <a:r>
              <a:rPr lang="en-US" sz="1600" b="0" i="0" dirty="0">
                <a:solidFill>
                  <a:schemeClr val="tx1"/>
                </a:solidFill>
                <a:effectLst/>
                <a:latin typeface="DM Sans" pitchFamily="2" charset="0"/>
              </a:rPr>
              <a:t>Compute the Diffie-Hellman shared secret (pre-master secret).</a:t>
            </a:r>
          </a:p>
          <a:p>
            <a:pPr marL="457200" lvl="0" indent="-317500" algn="l" rtl="0">
              <a:lnSpc>
                <a:spcPct val="150000"/>
              </a:lnSpc>
              <a:spcBef>
                <a:spcPts val="0"/>
              </a:spcBef>
              <a:spcAft>
                <a:spcPts val="0"/>
              </a:spcAft>
              <a:buSzPts val="1400"/>
              <a:buChar char="⏣"/>
            </a:pPr>
            <a:r>
              <a:rPr lang="en-US" sz="1600" b="0" i="0" dirty="0">
                <a:solidFill>
                  <a:schemeClr val="tx1"/>
                </a:solidFill>
                <a:effectLst/>
                <a:latin typeface="DM Sans" pitchFamily="2" charset="0"/>
              </a:rPr>
              <a:t>(optional) Compute the master secret with the PRF function.</a:t>
            </a:r>
            <a:r>
              <a:rPr lang="en-US" sz="1600" dirty="0">
                <a:solidFill>
                  <a:schemeClr val="tx1"/>
                </a:solidFill>
                <a:latin typeface="DM Sans" pitchFamily="2" charset="0"/>
              </a:rPr>
              <a:t> </a:t>
            </a:r>
            <a:br>
              <a:rPr lang="en-US" sz="1600" dirty="0">
                <a:latin typeface="DM Sans" pitchFamily="2" charset="0"/>
              </a:rPr>
            </a:br>
            <a:endParaRPr lang="en-US" sz="1600" dirty="0">
              <a:latin typeface="DM Sans" pitchFamily="2" charset="0"/>
            </a:endParaRPr>
          </a:p>
        </p:txBody>
      </p:sp>
      <p:grpSp>
        <p:nvGrpSpPr>
          <p:cNvPr id="11" name="Google Shape;269;p32">
            <a:extLst>
              <a:ext uri="{FF2B5EF4-FFF2-40B4-BE49-F238E27FC236}">
                <a16:creationId xmlns:a16="http://schemas.microsoft.com/office/drawing/2014/main" id="{46E54906-2B58-9B2C-EBFB-B57ED96F0340}"/>
              </a:ext>
            </a:extLst>
          </p:cNvPr>
          <p:cNvGrpSpPr/>
          <p:nvPr/>
        </p:nvGrpSpPr>
        <p:grpSpPr>
          <a:xfrm rot="5400000">
            <a:off x="7363145" y="-686153"/>
            <a:ext cx="1182802" cy="2555083"/>
            <a:chOff x="7350442" y="2608992"/>
            <a:chExt cx="777239" cy="1673160"/>
          </a:xfrm>
        </p:grpSpPr>
        <p:sp>
          <p:nvSpPr>
            <p:cNvPr id="12" name="Google Shape;270;p32">
              <a:extLst>
                <a:ext uri="{FF2B5EF4-FFF2-40B4-BE49-F238E27FC236}">
                  <a16:creationId xmlns:a16="http://schemas.microsoft.com/office/drawing/2014/main" id="{FC5173A9-1F29-9448-C24C-8D8A09B9E089}"/>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71;p32">
              <a:extLst>
                <a:ext uri="{FF2B5EF4-FFF2-40B4-BE49-F238E27FC236}">
                  <a16:creationId xmlns:a16="http://schemas.microsoft.com/office/drawing/2014/main" id="{C718FA00-8E04-E085-3471-88BDE526BA27}"/>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72;p32">
              <a:extLst>
                <a:ext uri="{FF2B5EF4-FFF2-40B4-BE49-F238E27FC236}">
                  <a16:creationId xmlns:a16="http://schemas.microsoft.com/office/drawing/2014/main" id="{0F9A90AC-944A-FCF0-67D2-E776C637E598}"/>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73;p32">
              <a:extLst>
                <a:ext uri="{FF2B5EF4-FFF2-40B4-BE49-F238E27FC236}">
                  <a16:creationId xmlns:a16="http://schemas.microsoft.com/office/drawing/2014/main" id="{9CAD0407-9724-BF9D-371F-04915AEDC704}"/>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74;p32">
              <a:extLst>
                <a:ext uri="{FF2B5EF4-FFF2-40B4-BE49-F238E27FC236}">
                  <a16:creationId xmlns:a16="http://schemas.microsoft.com/office/drawing/2014/main" id="{434A74EA-7BAC-4E17-0BBD-75F959E30791}"/>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75;p32">
              <a:extLst>
                <a:ext uri="{FF2B5EF4-FFF2-40B4-BE49-F238E27FC236}">
                  <a16:creationId xmlns:a16="http://schemas.microsoft.com/office/drawing/2014/main" id="{8743377E-A45E-806D-668A-7DC76BFAD7DB}"/>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276;p32">
              <a:extLst>
                <a:ext uri="{FF2B5EF4-FFF2-40B4-BE49-F238E27FC236}">
                  <a16:creationId xmlns:a16="http://schemas.microsoft.com/office/drawing/2014/main" id="{FC349479-5664-7588-74C8-B6443735E5CE}"/>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277;p32">
              <a:extLst>
                <a:ext uri="{FF2B5EF4-FFF2-40B4-BE49-F238E27FC236}">
                  <a16:creationId xmlns:a16="http://schemas.microsoft.com/office/drawing/2014/main" id="{63BC54BE-0C35-FA87-2B23-29036326CAD6}"/>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942285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1061BF47-C882-343D-67CA-A5AF322E06CB}"/>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52FC4BE1-94F5-44A1-4797-0DAC80967335}"/>
              </a:ext>
            </a:extLst>
          </p:cNvPr>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sz="2400" b="1" i="0" dirty="0">
                <a:solidFill>
                  <a:schemeClr val="tx1"/>
                </a:solidFill>
                <a:effectLst/>
                <a:latin typeface="DM Sans" pitchFamily="2" charset="0"/>
              </a:rPr>
              <a:t>Applet Services to Run a (D)TLS1.3 Handshake</a:t>
            </a:r>
            <a:r>
              <a:rPr lang="en-US" sz="2400" dirty="0">
                <a:solidFill>
                  <a:schemeClr val="tx1"/>
                </a:solidFill>
                <a:latin typeface="DM Sans" pitchFamily="2" charset="0"/>
              </a:rPr>
              <a:t> </a:t>
            </a:r>
            <a:br>
              <a:rPr lang="en-US" sz="2400" dirty="0">
                <a:solidFill>
                  <a:schemeClr val="tx1"/>
                </a:solidFill>
                <a:latin typeface="DM Sans" pitchFamily="2" charset="0"/>
              </a:rPr>
            </a:br>
            <a:endParaRPr sz="2400" dirty="0">
              <a:solidFill>
                <a:schemeClr val="tx1"/>
              </a:solidFill>
              <a:latin typeface="DM Sans" pitchFamily="2" charset="0"/>
            </a:endParaRPr>
          </a:p>
        </p:txBody>
      </p:sp>
      <p:sp>
        <p:nvSpPr>
          <p:cNvPr id="237" name="Google Shape;237;p31">
            <a:extLst>
              <a:ext uri="{FF2B5EF4-FFF2-40B4-BE49-F238E27FC236}">
                <a16:creationId xmlns:a16="http://schemas.microsoft.com/office/drawing/2014/main" id="{FB6D466D-7576-0B00-3E24-BB7E72FDB161}"/>
              </a:ext>
            </a:extLst>
          </p:cNvPr>
          <p:cNvSpPr txBox="1">
            <a:spLocks noGrp="1"/>
          </p:cNvSpPr>
          <p:nvPr>
            <p:ph type="body" idx="1"/>
          </p:nvPr>
        </p:nvSpPr>
        <p:spPr>
          <a:xfrm>
            <a:off x="720000" y="730546"/>
            <a:ext cx="7704000" cy="4490156"/>
          </a:xfrm>
          <a:prstGeom prst="rect">
            <a:avLst/>
          </a:prstGeom>
        </p:spPr>
        <p:txBody>
          <a:bodyPr spcFirstLastPara="1" wrap="square" lIns="91425" tIns="91425" rIns="91425" bIns="91425" anchor="t" anchorCtr="0">
            <a:noAutofit/>
          </a:bodyPr>
          <a:lstStyle/>
          <a:p>
            <a:pPr marL="139700" lvl="0" indent="0" algn="l" rtl="0">
              <a:lnSpc>
                <a:spcPct val="150000"/>
              </a:lnSpc>
              <a:spcBef>
                <a:spcPts val="0"/>
              </a:spcBef>
              <a:spcAft>
                <a:spcPts val="0"/>
              </a:spcAft>
              <a:buSzPts val="1400"/>
              <a:buNone/>
            </a:pPr>
            <a:endParaRPr lang="en-US" sz="1600" dirty="0"/>
          </a:p>
          <a:p>
            <a:pPr marL="457200" lvl="0" indent="-317500" algn="l" rtl="0">
              <a:lnSpc>
                <a:spcPct val="150000"/>
              </a:lnSpc>
              <a:spcBef>
                <a:spcPts val="0"/>
              </a:spcBef>
              <a:spcAft>
                <a:spcPts val="0"/>
              </a:spcAft>
              <a:buSzPts val="1400"/>
              <a:buChar char="⏣"/>
            </a:pPr>
            <a:r>
              <a:rPr lang="en-US" sz="1600" dirty="0"/>
              <a:t>(Optional) Compute the early secret with the HKDF function</a:t>
            </a:r>
          </a:p>
          <a:p>
            <a:pPr marL="457200" lvl="0" indent="-317500" algn="l" rtl="0">
              <a:lnSpc>
                <a:spcPct val="150000"/>
              </a:lnSpc>
              <a:spcBef>
                <a:spcPts val="0"/>
              </a:spcBef>
              <a:spcAft>
                <a:spcPts val="0"/>
              </a:spcAft>
              <a:buSzPts val="1400"/>
              <a:buChar char="⏣"/>
            </a:pPr>
            <a:r>
              <a:rPr lang="en-US" sz="1600" dirty="0"/>
              <a:t>Get a random.</a:t>
            </a:r>
          </a:p>
          <a:p>
            <a:pPr marL="457200" lvl="0" indent="-317500" algn="l" rtl="0">
              <a:lnSpc>
                <a:spcPct val="150000"/>
              </a:lnSpc>
              <a:spcBef>
                <a:spcPts val="0"/>
              </a:spcBef>
              <a:spcAft>
                <a:spcPts val="0"/>
              </a:spcAft>
              <a:buSzPts val="1400"/>
              <a:buChar char="⏣"/>
            </a:pPr>
            <a:r>
              <a:rPr lang="en-US" sz="1600" dirty="0"/>
              <a:t>Put a public key in the applet store (issuer certificate deployment model).</a:t>
            </a:r>
          </a:p>
          <a:p>
            <a:pPr marL="457200" lvl="0" indent="-317500" algn="l" rtl="0">
              <a:lnSpc>
                <a:spcPct val="150000"/>
              </a:lnSpc>
              <a:spcBef>
                <a:spcPts val="0"/>
              </a:spcBef>
              <a:spcAft>
                <a:spcPts val="0"/>
              </a:spcAft>
              <a:buSzPts val="1400"/>
              <a:buChar char="⏣"/>
            </a:pPr>
            <a:r>
              <a:rPr lang="en-US" sz="1600" dirty="0"/>
              <a:t>Verify a signature.</a:t>
            </a:r>
          </a:p>
          <a:p>
            <a:pPr marL="457200" lvl="0" indent="-317500" algn="l" rtl="0">
              <a:lnSpc>
                <a:spcPct val="150000"/>
              </a:lnSpc>
              <a:spcBef>
                <a:spcPts val="0"/>
              </a:spcBef>
              <a:spcAft>
                <a:spcPts val="0"/>
              </a:spcAft>
              <a:buSzPts val="1400"/>
              <a:buChar char="⏣"/>
            </a:pPr>
            <a:r>
              <a:rPr lang="en-US" sz="1600" dirty="0"/>
              <a:t>Generate a signature.</a:t>
            </a:r>
          </a:p>
          <a:p>
            <a:pPr marL="457200" lvl="0" indent="-317500" algn="l" rtl="0">
              <a:lnSpc>
                <a:spcPct val="150000"/>
              </a:lnSpc>
              <a:spcBef>
                <a:spcPts val="0"/>
              </a:spcBef>
              <a:spcAft>
                <a:spcPts val="0"/>
              </a:spcAft>
              <a:buSzPts val="1400"/>
              <a:buChar char="⏣"/>
            </a:pPr>
            <a:r>
              <a:rPr lang="en-US" sz="1600" dirty="0"/>
              <a:t>Generate an ECC key pair.</a:t>
            </a:r>
          </a:p>
          <a:p>
            <a:pPr marL="457200" lvl="0" indent="-317500" algn="l" rtl="0">
              <a:lnSpc>
                <a:spcPct val="150000"/>
              </a:lnSpc>
              <a:spcBef>
                <a:spcPts val="0"/>
              </a:spcBef>
              <a:spcAft>
                <a:spcPts val="0"/>
              </a:spcAft>
              <a:buSzPts val="1400"/>
              <a:buChar char="⏣"/>
            </a:pPr>
            <a:r>
              <a:rPr lang="en-US" sz="1600" dirty="0"/>
              <a:t>Compute the Diffie-Hellman shared secret.</a:t>
            </a:r>
          </a:p>
          <a:p>
            <a:pPr marL="457200" lvl="0" indent="-317500" algn="l" rtl="0">
              <a:lnSpc>
                <a:spcPct val="150000"/>
              </a:lnSpc>
              <a:spcBef>
                <a:spcPts val="0"/>
              </a:spcBef>
              <a:spcAft>
                <a:spcPts val="0"/>
              </a:spcAft>
              <a:buSzPts val="1400"/>
              <a:buChar char="⏣"/>
            </a:pPr>
            <a:r>
              <a:rPr lang="en-US" sz="1600" dirty="0"/>
              <a:t>(optional) Compute the handshake secret with the HKDF function. </a:t>
            </a:r>
          </a:p>
          <a:p>
            <a:pPr marL="457200" lvl="0" indent="-317500" algn="l" rtl="0">
              <a:lnSpc>
                <a:spcPct val="150000"/>
              </a:lnSpc>
              <a:spcBef>
                <a:spcPts val="0"/>
              </a:spcBef>
              <a:spcAft>
                <a:spcPts val="0"/>
              </a:spcAft>
              <a:buSzPts val="1400"/>
              <a:buChar char="⏣"/>
            </a:pPr>
            <a:r>
              <a:rPr lang="en-US" sz="1600" dirty="0"/>
              <a:t>(optional) Compute the master secret with the HKDF function. </a:t>
            </a:r>
            <a:br>
              <a:rPr lang="en-US" sz="2400" dirty="0"/>
            </a:br>
            <a:br>
              <a:rPr lang="en-US" sz="1600" dirty="0">
                <a:latin typeface="DM Sans" pitchFamily="2" charset="0"/>
              </a:rPr>
            </a:br>
            <a:endParaRPr lang="en-US" sz="1600" dirty="0">
              <a:latin typeface="DM Sans" pitchFamily="2" charset="0"/>
            </a:endParaRPr>
          </a:p>
        </p:txBody>
      </p:sp>
      <p:grpSp>
        <p:nvGrpSpPr>
          <p:cNvPr id="11" name="Google Shape;269;p32">
            <a:extLst>
              <a:ext uri="{FF2B5EF4-FFF2-40B4-BE49-F238E27FC236}">
                <a16:creationId xmlns:a16="http://schemas.microsoft.com/office/drawing/2014/main" id="{D1497296-7D1C-07B3-D1AE-1FA12C57DE3E}"/>
              </a:ext>
            </a:extLst>
          </p:cNvPr>
          <p:cNvGrpSpPr/>
          <p:nvPr/>
        </p:nvGrpSpPr>
        <p:grpSpPr>
          <a:xfrm rot="5400000">
            <a:off x="7363145" y="-686153"/>
            <a:ext cx="1182802" cy="2555083"/>
            <a:chOff x="7350442" y="2608992"/>
            <a:chExt cx="777239" cy="1673160"/>
          </a:xfrm>
        </p:grpSpPr>
        <p:sp>
          <p:nvSpPr>
            <p:cNvPr id="12" name="Google Shape;270;p32">
              <a:extLst>
                <a:ext uri="{FF2B5EF4-FFF2-40B4-BE49-F238E27FC236}">
                  <a16:creationId xmlns:a16="http://schemas.microsoft.com/office/drawing/2014/main" id="{DD1AB050-1E9D-74F2-78E1-A80C54E31814}"/>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71;p32">
              <a:extLst>
                <a:ext uri="{FF2B5EF4-FFF2-40B4-BE49-F238E27FC236}">
                  <a16:creationId xmlns:a16="http://schemas.microsoft.com/office/drawing/2014/main" id="{B3B1763C-30C8-36F1-C2CC-6DAED6D589A2}"/>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72;p32">
              <a:extLst>
                <a:ext uri="{FF2B5EF4-FFF2-40B4-BE49-F238E27FC236}">
                  <a16:creationId xmlns:a16="http://schemas.microsoft.com/office/drawing/2014/main" id="{A6E8FEA5-3D02-E59D-225E-23F5F1FF6602}"/>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73;p32">
              <a:extLst>
                <a:ext uri="{FF2B5EF4-FFF2-40B4-BE49-F238E27FC236}">
                  <a16:creationId xmlns:a16="http://schemas.microsoft.com/office/drawing/2014/main" id="{E957CC17-1246-B08A-542D-36BD537D6C2D}"/>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74;p32">
              <a:extLst>
                <a:ext uri="{FF2B5EF4-FFF2-40B4-BE49-F238E27FC236}">
                  <a16:creationId xmlns:a16="http://schemas.microsoft.com/office/drawing/2014/main" id="{EBB1D4CD-F975-4F9D-E4E4-CF200E447336}"/>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75;p32">
              <a:extLst>
                <a:ext uri="{FF2B5EF4-FFF2-40B4-BE49-F238E27FC236}">
                  <a16:creationId xmlns:a16="http://schemas.microsoft.com/office/drawing/2014/main" id="{5300BCBB-54A6-F9F8-48FB-AB3E73927A76}"/>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276;p32">
              <a:extLst>
                <a:ext uri="{FF2B5EF4-FFF2-40B4-BE49-F238E27FC236}">
                  <a16:creationId xmlns:a16="http://schemas.microsoft.com/office/drawing/2014/main" id="{A5D9C8CA-3565-C862-47D3-D6D495F97F6D}"/>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277;p32">
              <a:extLst>
                <a:ext uri="{FF2B5EF4-FFF2-40B4-BE49-F238E27FC236}">
                  <a16:creationId xmlns:a16="http://schemas.microsoft.com/office/drawing/2014/main" id="{438A0BED-A883-3384-7B4F-6A9A3489F718}"/>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13092371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3C9DCB12-4B4D-6E4E-4B58-663C603D908A}"/>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77B8177C-270C-B5B4-D325-3697FE029FBA}"/>
              </a:ext>
            </a:extLst>
          </p:cNvPr>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dirty="0"/>
              <a:t>Key Lifecycle Management</a:t>
            </a:r>
            <a:endParaRPr dirty="0">
              <a:solidFill>
                <a:schemeClr val="accent1"/>
              </a:solidFill>
            </a:endParaRPr>
          </a:p>
        </p:txBody>
      </p:sp>
      <p:grpSp>
        <p:nvGrpSpPr>
          <p:cNvPr id="2" name="Google Shape;351;p35">
            <a:extLst>
              <a:ext uri="{FF2B5EF4-FFF2-40B4-BE49-F238E27FC236}">
                <a16:creationId xmlns:a16="http://schemas.microsoft.com/office/drawing/2014/main" id="{19F60478-132C-BD1E-4813-882FBFE96CC7}"/>
              </a:ext>
            </a:extLst>
          </p:cNvPr>
          <p:cNvGrpSpPr/>
          <p:nvPr/>
        </p:nvGrpSpPr>
        <p:grpSpPr>
          <a:xfrm rot="5400000">
            <a:off x="6657806" y="2004329"/>
            <a:ext cx="2029371" cy="4383847"/>
            <a:chOff x="7350442" y="2608992"/>
            <a:chExt cx="777239" cy="1673160"/>
          </a:xfrm>
        </p:grpSpPr>
        <p:sp>
          <p:nvSpPr>
            <p:cNvPr id="3" name="Google Shape;352;p35">
              <a:extLst>
                <a:ext uri="{FF2B5EF4-FFF2-40B4-BE49-F238E27FC236}">
                  <a16:creationId xmlns:a16="http://schemas.microsoft.com/office/drawing/2014/main" id="{D5384B05-5DDC-D270-60BF-E6A7CE3F475A}"/>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 name="Google Shape;353;p35">
              <a:extLst>
                <a:ext uri="{FF2B5EF4-FFF2-40B4-BE49-F238E27FC236}">
                  <a16:creationId xmlns:a16="http://schemas.microsoft.com/office/drawing/2014/main" id="{4ADA142A-4AF4-CDDE-0990-A5D530E7B084}"/>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 name="Google Shape;354;p35">
              <a:extLst>
                <a:ext uri="{FF2B5EF4-FFF2-40B4-BE49-F238E27FC236}">
                  <a16:creationId xmlns:a16="http://schemas.microsoft.com/office/drawing/2014/main" id="{170B7D30-02CE-370F-AB7F-70C8851C7075}"/>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 name="Google Shape;355;p35">
              <a:extLst>
                <a:ext uri="{FF2B5EF4-FFF2-40B4-BE49-F238E27FC236}">
                  <a16:creationId xmlns:a16="http://schemas.microsoft.com/office/drawing/2014/main" id="{6622659F-EC30-D8E2-021B-23798595F690}"/>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 name="Google Shape;356;p35">
              <a:extLst>
                <a:ext uri="{FF2B5EF4-FFF2-40B4-BE49-F238E27FC236}">
                  <a16:creationId xmlns:a16="http://schemas.microsoft.com/office/drawing/2014/main" id="{E0E91FD8-C9DB-779E-4F59-E7C71805F5DA}"/>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357;p35">
              <a:extLst>
                <a:ext uri="{FF2B5EF4-FFF2-40B4-BE49-F238E27FC236}">
                  <a16:creationId xmlns:a16="http://schemas.microsoft.com/office/drawing/2014/main" id="{8A995266-9A33-9810-3088-B87FD546FA76}"/>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358;p35">
              <a:extLst>
                <a:ext uri="{FF2B5EF4-FFF2-40B4-BE49-F238E27FC236}">
                  <a16:creationId xmlns:a16="http://schemas.microsoft.com/office/drawing/2014/main" id="{272D7745-E52F-0722-93E6-62AD1CC41428}"/>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359;p35">
              <a:extLst>
                <a:ext uri="{FF2B5EF4-FFF2-40B4-BE49-F238E27FC236}">
                  <a16:creationId xmlns:a16="http://schemas.microsoft.com/office/drawing/2014/main" id="{7513E74A-79F0-3A53-49C9-4B42DB843F80}"/>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16" name="Picture 15" descr="A diagram of a key management life cycle&#10;&#10;Description automatically generated">
            <a:extLst>
              <a:ext uri="{FF2B5EF4-FFF2-40B4-BE49-F238E27FC236}">
                <a16:creationId xmlns:a16="http://schemas.microsoft.com/office/drawing/2014/main" id="{04A1F7BF-C9BF-22C0-6925-00199409EE86}"/>
              </a:ext>
            </a:extLst>
          </p:cNvPr>
          <p:cNvPicPr>
            <a:picLocks noChangeAspect="1"/>
          </p:cNvPicPr>
          <p:nvPr/>
        </p:nvPicPr>
        <p:blipFill>
          <a:blip r:embed="rId3"/>
          <a:stretch>
            <a:fillRect/>
          </a:stretch>
        </p:blipFill>
        <p:spPr>
          <a:xfrm>
            <a:off x="2760728" y="1183296"/>
            <a:ext cx="3514616" cy="3514616"/>
          </a:xfrm>
          <a:prstGeom prst="rect">
            <a:avLst/>
          </a:prstGeom>
        </p:spPr>
      </p:pic>
    </p:spTree>
    <p:extLst>
      <p:ext uri="{BB962C8B-B14F-4D97-AF65-F5344CB8AC3E}">
        <p14:creationId xmlns:p14="http://schemas.microsoft.com/office/powerpoint/2010/main" val="2575300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84EF4E7E-55BA-8A59-7F46-57ED8C1B09FF}"/>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699818C0-8245-E3DF-1D1F-BDE03AC9A107}"/>
              </a:ext>
            </a:extLst>
          </p:cNvPr>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dirty="0"/>
              <a:t>Key Lifecycle Management</a:t>
            </a:r>
            <a:endParaRPr dirty="0">
              <a:solidFill>
                <a:schemeClr val="accent1"/>
              </a:solidFill>
            </a:endParaRPr>
          </a:p>
        </p:txBody>
      </p:sp>
      <p:sp>
        <p:nvSpPr>
          <p:cNvPr id="237" name="Google Shape;237;p31">
            <a:extLst>
              <a:ext uri="{FF2B5EF4-FFF2-40B4-BE49-F238E27FC236}">
                <a16:creationId xmlns:a16="http://schemas.microsoft.com/office/drawing/2014/main" id="{0BF75BC4-CC43-DBFD-178C-26E08B5E2B18}"/>
              </a:ext>
            </a:extLst>
          </p:cNvPr>
          <p:cNvSpPr txBox="1">
            <a:spLocks noGrp="1"/>
          </p:cNvSpPr>
          <p:nvPr>
            <p:ph type="body" idx="1"/>
          </p:nvPr>
        </p:nvSpPr>
        <p:spPr>
          <a:xfrm>
            <a:off x="720000" y="1112200"/>
            <a:ext cx="7704000" cy="349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1200" dirty="0"/>
          </a:p>
          <a:p>
            <a:pPr marL="457200" lvl="0" indent="-317500" algn="l" rtl="0">
              <a:spcBef>
                <a:spcPts val="0"/>
              </a:spcBef>
              <a:spcAft>
                <a:spcPts val="0"/>
              </a:spcAft>
              <a:buSzPts val="1400"/>
              <a:buChar char="⏣"/>
            </a:pPr>
            <a:r>
              <a:rPr lang="en-US" sz="1400" dirty="0"/>
              <a:t>Key Generation: </a:t>
            </a:r>
            <a:r>
              <a:rPr lang="en-US" sz="1100" dirty="0"/>
              <a:t>Key generation is the initial step in securing IoT communications, creating cryptographic keys within a secure environment to protect against unauthorized access. In IoT SAFE, asymmetric keys, often using elliptic curve cryptography (ECC) like ECDSA and ECDH, are generated for secure public/private key pairs. Symmetric keys, such as AES, are also created using hardware-based true random number generators (TRNGs) to ensure unpredictability. These keys are generated within the secure environment of the IoT SAFE-enabled SIM, protecting them from exposure to potentially insecure host environments. Standards like </a:t>
            </a:r>
            <a:r>
              <a:rPr lang="en-US" sz="1100" b="1" dirty="0"/>
              <a:t>FIPS 140-2 Level 3+</a:t>
            </a:r>
            <a:r>
              <a:rPr lang="en-US" sz="1100" dirty="0"/>
              <a:t>, </a:t>
            </a:r>
            <a:r>
              <a:rPr lang="en-US" sz="1100" b="1" dirty="0"/>
              <a:t>ISO/IEC 19790</a:t>
            </a:r>
            <a:r>
              <a:rPr lang="en-US" sz="1100" dirty="0"/>
              <a:t>, and </a:t>
            </a:r>
            <a:r>
              <a:rPr lang="en-US" sz="1100" b="1" dirty="0"/>
              <a:t>Common Criteria (CC)</a:t>
            </a:r>
            <a:r>
              <a:rPr lang="en-US" sz="1100" dirty="0"/>
              <a:t> ensure that the key generation process meets high security requirements.</a:t>
            </a:r>
          </a:p>
          <a:p>
            <a:pPr marL="139700" lvl="0" indent="0" algn="l" rtl="0">
              <a:spcBef>
                <a:spcPts val="0"/>
              </a:spcBef>
              <a:spcAft>
                <a:spcPts val="0"/>
              </a:spcAft>
              <a:buSzPts val="1400"/>
              <a:buNone/>
            </a:pPr>
            <a:endParaRPr lang="en-US" sz="1100" dirty="0"/>
          </a:p>
          <a:p>
            <a:pPr indent="-317500">
              <a:buSzPts val="1400"/>
              <a:buFont typeface="DM Sans"/>
              <a:buChar char="⏣"/>
            </a:pPr>
            <a:r>
              <a:rPr lang="en-US" sz="1600" dirty="0"/>
              <a:t>Key </a:t>
            </a:r>
            <a:r>
              <a:rPr lang="en-US" sz="1400" dirty="0"/>
              <a:t>Distribution</a:t>
            </a:r>
            <a:r>
              <a:rPr lang="en-US" sz="1600" dirty="0"/>
              <a:t>: </a:t>
            </a:r>
            <a:r>
              <a:rPr lang="en-US" sz="1100" dirty="0"/>
              <a:t>Once keys are generated, they need to be securely distributed to IoT devices and cloud platforms. IoT SAFE uses secure protocols like </a:t>
            </a:r>
            <a:r>
              <a:rPr lang="en-US" sz="1100" b="1" dirty="0"/>
              <a:t>Remote Application Management (RAM)</a:t>
            </a:r>
            <a:r>
              <a:rPr lang="en-US" sz="1100" dirty="0"/>
              <a:t> and </a:t>
            </a:r>
            <a:r>
              <a:rPr lang="en-US" sz="1100" b="1" dirty="0" err="1"/>
              <a:t>GlobalPlatform</a:t>
            </a:r>
            <a:r>
              <a:rPr lang="en-US" sz="1100" b="1" dirty="0"/>
              <a:t> Secure Channel Protocol (SCP)</a:t>
            </a:r>
            <a:r>
              <a:rPr lang="en-US" sz="1100" dirty="0"/>
              <a:t> for OTA key distribution over mobile networks. This process includes the secure transmission of both symmetric and asymmetric keys, where symmetric keys are often wrapped for security using algorithms like AES-KW, and public keys may be encrypted with the recipient’s public key. Efficient distribution protocols are critical for scalability and minimizing security risks, especially when managing keys for millions of IoT devices.</a:t>
            </a:r>
          </a:p>
        </p:txBody>
      </p:sp>
      <p:grpSp>
        <p:nvGrpSpPr>
          <p:cNvPr id="2" name="Google Shape;351;p35">
            <a:extLst>
              <a:ext uri="{FF2B5EF4-FFF2-40B4-BE49-F238E27FC236}">
                <a16:creationId xmlns:a16="http://schemas.microsoft.com/office/drawing/2014/main" id="{BADDAA25-5DFF-43A5-7B2D-77CA85E39DAC}"/>
              </a:ext>
            </a:extLst>
          </p:cNvPr>
          <p:cNvGrpSpPr/>
          <p:nvPr/>
        </p:nvGrpSpPr>
        <p:grpSpPr>
          <a:xfrm rot="5400000">
            <a:off x="6657806" y="2004329"/>
            <a:ext cx="2029371" cy="4383847"/>
            <a:chOff x="7350442" y="2608992"/>
            <a:chExt cx="777239" cy="1673160"/>
          </a:xfrm>
        </p:grpSpPr>
        <p:sp>
          <p:nvSpPr>
            <p:cNvPr id="3" name="Google Shape;352;p35">
              <a:extLst>
                <a:ext uri="{FF2B5EF4-FFF2-40B4-BE49-F238E27FC236}">
                  <a16:creationId xmlns:a16="http://schemas.microsoft.com/office/drawing/2014/main" id="{01CC9E29-99AC-B461-9819-258209DBD138}"/>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 name="Google Shape;353;p35">
              <a:extLst>
                <a:ext uri="{FF2B5EF4-FFF2-40B4-BE49-F238E27FC236}">
                  <a16:creationId xmlns:a16="http://schemas.microsoft.com/office/drawing/2014/main" id="{FC75B4C0-5661-2573-7614-73C2D92E5CEE}"/>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 name="Google Shape;354;p35">
              <a:extLst>
                <a:ext uri="{FF2B5EF4-FFF2-40B4-BE49-F238E27FC236}">
                  <a16:creationId xmlns:a16="http://schemas.microsoft.com/office/drawing/2014/main" id="{D74C4905-774C-14B9-C9BF-0F3CC0FE7981}"/>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 name="Google Shape;355;p35">
              <a:extLst>
                <a:ext uri="{FF2B5EF4-FFF2-40B4-BE49-F238E27FC236}">
                  <a16:creationId xmlns:a16="http://schemas.microsoft.com/office/drawing/2014/main" id="{F83132FE-9D94-F570-86D8-675B6DD354BF}"/>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 name="Google Shape;356;p35">
              <a:extLst>
                <a:ext uri="{FF2B5EF4-FFF2-40B4-BE49-F238E27FC236}">
                  <a16:creationId xmlns:a16="http://schemas.microsoft.com/office/drawing/2014/main" id="{DFABBFFD-E02A-316F-5712-A0BBFF34FD36}"/>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357;p35">
              <a:extLst>
                <a:ext uri="{FF2B5EF4-FFF2-40B4-BE49-F238E27FC236}">
                  <a16:creationId xmlns:a16="http://schemas.microsoft.com/office/drawing/2014/main" id="{57D7C4C7-D370-87EC-0195-D74588CD4740}"/>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358;p35">
              <a:extLst>
                <a:ext uri="{FF2B5EF4-FFF2-40B4-BE49-F238E27FC236}">
                  <a16:creationId xmlns:a16="http://schemas.microsoft.com/office/drawing/2014/main" id="{059ED51F-653C-9EF8-2A8F-D11159A28F09}"/>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359;p35">
              <a:extLst>
                <a:ext uri="{FF2B5EF4-FFF2-40B4-BE49-F238E27FC236}">
                  <a16:creationId xmlns:a16="http://schemas.microsoft.com/office/drawing/2014/main" id="{C47B6CAD-9E9A-CCB0-28E9-4932CCC20B6A}"/>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3826201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411109E9-7B4B-E5C9-814C-5EF34CE4D0C5}"/>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E27EE459-DC2A-90DC-3716-1822B182DA7C}"/>
              </a:ext>
            </a:extLst>
          </p:cNvPr>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dirty="0"/>
              <a:t>Key Lifecycle Management</a:t>
            </a:r>
            <a:endParaRPr dirty="0">
              <a:solidFill>
                <a:schemeClr val="accent1"/>
              </a:solidFill>
            </a:endParaRPr>
          </a:p>
        </p:txBody>
      </p:sp>
      <p:sp>
        <p:nvSpPr>
          <p:cNvPr id="237" name="Google Shape;237;p31">
            <a:extLst>
              <a:ext uri="{FF2B5EF4-FFF2-40B4-BE49-F238E27FC236}">
                <a16:creationId xmlns:a16="http://schemas.microsoft.com/office/drawing/2014/main" id="{01AC7DD2-E258-21A1-FC8A-7E7B2B4D469D}"/>
              </a:ext>
            </a:extLst>
          </p:cNvPr>
          <p:cNvSpPr txBox="1">
            <a:spLocks noGrp="1"/>
          </p:cNvSpPr>
          <p:nvPr>
            <p:ph type="body" idx="1"/>
          </p:nvPr>
        </p:nvSpPr>
        <p:spPr>
          <a:xfrm>
            <a:off x="720000" y="1112200"/>
            <a:ext cx="7704000" cy="349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1200" dirty="0"/>
          </a:p>
          <a:p>
            <a:pPr marL="457200" lvl="0" indent="-317500" algn="l" rtl="0">
              <a:spcBef>
                <a:spcPts val="0"/>
              </a:spcBef>
              <a:spcAft>
                <a:spcPts val="0"/>
              </a:spcAft>
              <a:buSzPts val="1400"/>
              <a:buChar char="⏣"/>
            </a:pPr>
            <a:r>
              <a:rPr lang="en-US" sz="1400" dirty="0"/>
              <a:t>Key Storage: </a:t>
            </a:r>
            <a:r>
              <a:rPr lang="en-US" sz="1100" dirty="0"/>
              <a:t>Key storage involves securing cryptographic keys to prevent unauthorized access or tampering. In IoT SAFE, keys are stored within the tamper-resistant memory of the SIM, ensuring they remain protected from external threats. The SIM uses strict access control policies, allowing only authorized applications to access specific keys, and ensures that keys are encrypted when stored. This secure storage complies with global standards like </a:t>
            </a:r>
            <a:r>
              <a:rPr lang="en-US" sz="1100" b="1" dirty="0" err="1"/>
              <a:t>GlobalPlatform</a:t>
            </a:r>
            <a:r>
              <a:rPr lang="en-US" sz="1100" b="1" dirty="0"/>
              <a:t> Card Specifications</a:t>
            </a:r>
            <a:r>
              <a:rPr lang="en-US" sz="1100" dirty="0"/>
              <a:t> and </a:t>
            </a:r>
            <a:r>
              <a:rPr lang="en-US" sz="1100" b="1" dirty="0"/>
              <a:t>ETSI TS 102 223</a:t>
            </a:r>
            <a:r>
              <a:rPr lang="en-US" sz="1100" dirty="0"/>
              <a:t>, ensuring that the keys remain safe even in the event of physical tampering with the device.</a:t>
            </a:r>
          </a:p>
          <a:p>
            <a:pPr marL="139700" lvl="0" indent="0" algn="l" rtl="0">
              <a:spcBef>
                <a:spcPts val="0"/>
              </a:spcBef>
              <a:spcAft>
                <a:spcPts val="0"/>
              </a:spcAft>
              <a:buSzPts val="1400"/>
              <a:buNone/>
            </a:pPr>
            <a:endParaRPr lang="en-US" sz="1100" dirty="0"/>
          </a:p>
          <a:p>
            <a:pPr indent="-317500">
              <a:buSzPts val="1400"/>
              <a:buFont typeface="DM Sans"/>
              <a:buChar char="⏣"/>
            </a:pPr>
            <a:r>
              <a:rPr lang="en-US" sz="1600" dirty="0"/>
              <a:t>Key </a:t>
            </a:r>
            <a:r>
              <a:rPr lang="en-US" sz="1400" dirty="0"/>
              <a:t>Rotation</a:t>
            </a:r>
            <a:r>
              <a:rPr lang="en-US" sz="1600" dirty="0"/>
              <a:t>: </a:t>
            </a:r>
            <a:r>
              <a:rPr lang="en-US" sz="1100" dirty="0"/>
              <a:t>Key rotation ensures that cryptographic keys are periodically replaced to mitigate the risk of key compromise. IoT SAFE supports automated key rotation, either on a schedule (e.g., every 90 days) or after a certain number of uses. These new keys are distributed securely to devices and synchronized with cloud platforms to maintain consistency. Policy-driven key rotation helps enforce security best practices, minimizing the exposure of keys over time and ensuring compliance with regulations like </a:t>
            </a:r>
            <a:r>
              <a:rPr lang="en-US" sz="1100" b="1" dirty="0"/>
              <a:t>PCI DSS</a:t>
            </a:r>
            <a:r>
              <a:rPr lang="en-US" sz="1100" dirty="0"/>
              <a:t> or </a:t>
            </a:r>
            <a:r>
              <a:rPr lang="en-US" sz="1100" b="1" dirty="0"/>
              <a:t>NIST SP 800-57</a:t>
            </a:r>
            <a:r>
              <a:rPr lang="en-US" sz="1100" dirty="0"/>
              <a:t>.</a:t>
            </a:r>
          </a:p>
        </p:txBody>
      </p:sp>
      <p:grpSp>
        <p:nvGrpSpPr>
          <p:cNvPr id="2" name="Google Shape;351;p35">
            <a:extLst>
              <a:ext uri="{FF2B5EF4-FFF2-40B4-BE49-F238E27FC236}">
                <a16:creationId xmlns:a16="http://schemas.microsoft.com/office/drawing/2014/main" id="{A2C13D2F-AA0B-E95A-6A5D-89F98ECCD7FA}"/>
              </a:ext>
            </a:extLst>
          </p:cNvPr>
          <p:cNvGrpSpPr/>
          <p:nvPr/>
        </p:nvGrpSpPr>
        <p:grpSpPr>
          <a:xfrm rot="5400000">
            <a:off x="6657806" y="2004329"/>
            <a:ext cx="2029371" cy="4383847"/>
            <a:chOff x="7350442" y="2608992"/>
            <a:chExt cx="777239" cy="1673160"/>
          </a:xfrm>
        </p:grpSpPr>
        <p:sp>
          <p:nvSpPr>
            <p:cNvPr id="3" name="Google Shape;352;p35">
              <a:extLst>
                <a:ext uri="{FF2B5EF4-FFF2-40B4-BE49-F238E27FC236}">
                  <a16:creationId xmlns:a16="http://schemas.microsoft.com/office/drawing/2014/main" id="{303B40B9-CE0C-1D01-0B82-5EF0E53761A9}"/>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 name="Google Shape;353;p35">
              <a:extLst>
                <a:ext uri="{FF2B5EF4-FFF2-40B4-BE49-F238E27FC236}">
                  <a16:creationId xmlns:a16="http://schemas.microsoft.com/office/drawing/2014/main" id="{C3E2E2C5-790B-CDF0-E0DD-04C8BDF9C182}"/>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 name="Google Shape;354;p35">
              <a:extLst>
                <a:ext uri="{FF2B5EF4-FFF2-40B4-BE49-F238E27FC236}">
                  <a16:creationId xmlns:a16="http://schemas.microsoft.com/office/drawing/2014/main" id="{B17856B8-91D9-F3E8-7CAB-172AC348776D}"/>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 name="Google Shape;355;p35">
              <a:extLst>
                <a:ext uri="{FF2B5EF4-FFF2-40B4-BE49-F238E27FC236}">
                  <a16:creationId xmlns:a16="http://schemas.microsoft.com/office/drawing/2014/main" id="{092FE816-E092-E274-B993-264F4A438753}"/>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 name="Google Shape;356;p35">
              <a:extLst>
                <a:ext uri="{FF2B5EF4-FFF2-40B4-BE49-F238E27FC236}">
                  <a16:creationId xmlns:a16="http://schemas.microsoft.com/office/drawing/2014/main" id="{4EEACEF1-F2E5-AD9D-1E7E-2B5C4C43542B}"/>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357;p35">
              <a:extLst>
                <a:ext uri="{FF2B5EF4-FFF2-40B4-BE49-F238E27FC236}">
                  <a16:creationId xmlns:a16="http://schemas.microsoft.com/office/drawing/2014/main" id="{B0BEAE5A-A3E3-D865-D240-C030D835385A}"/>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358;p35">
              <a:extLst>
                <a:ext uri="{FF2B5EF4-FFF2-40B4-BE49-F238E27FC236}">
                  <a16:creationId xmlns:a16="http://schemas.microsoft.com/office/drawing/2014/main" id="{0A58BF1C-DC31-AB6E-E908-A0C3AF414D4D}"/>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359;p35">
              <a:extLst>
                <a:ext uri="{FF2B5EF4-FFF2-40B4-BE49-F238E27FC236}">
                  <a16:creationId xmlns:a16="http://schemas.microsoft.com/office/drawing/2014/main" id="{93358BC9-5A6F-4F67-932B-D8BB71166168}"/>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892371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17B49DB8-2557-D0B5-D2B8-EB1CE28B8F84}"/>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2720A66A-5972-3173-153B-B83101E57CF7}"/>
              </a:ext>
            </a:extLst>
          </p:cNvPr>
          <p:cNvSpPr txBox="1">
            <a:spLocks noGrp="1"/>
          </p:cNvSpPr>
          <p:nvPr>
            <p:ph type="title"/>
          </p:nvPr>
        </p:nvSpPr>
        <p:spPr>
          <a:xfrm>
            <a:off x="918120" y="66904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dirty="0"/>
              <a:t>Compare to Non IoT SAFE</a:t>
            </a:r>
            <a:endParaRPr lang="en-US" dirty="0">
              <a:solidFill>
                <a:schemeClr val="accent1"/>
              </a:solidFill>
            </a:endParaRPr>
          </a:p>
        </p:txBody>
      </p:sp>
      <p:sp>
        <p:nvSpPr>
          <p:cNvPr id="237" name="Google Shape;237;p31">
            <a:extLst>
              <a:ext uri="{FF2B5EF4-FFF2-40B4-BE49-F238E27FC236}">
                <a16:creationId xmlns:a16="http://schemas.microsoft.com/office/drawing/2014/main" id="{1493471F-C12E-E835-0952-A4F9048207BD}"/>
              </a:ext>
            </a:extLst>
          </p:cNvPr>
          <p:cNvSpPr txBox="1">
            <a:spLocks noGrp="1"/>
          </p:cNvSpPr>
          <p:nvPr>
            <p:ph type="body" idx="1"/>
          </p:nvPr>
        </p:nvSpPr>
        <p:spPr>
          <a:xfrm>
            <a:off x="918120" y="1569400"/>
            <a:ext cx="7704000" cy="3496500"/>
          </a:xfrm>
          <a:prstGeom prst="rect">
            <a:avLst/>
          </a:prstGeom>
        </p:spPr>
        <p:txBody>
          <a:bodyPr spcFirstLastPara="1" wrap="square" lIns="91425" tIns="91425" rIns="91425" bIns="91425" anchor="t" anchorCtr="0">
            <a:noAutofit/>
          </a:bodyPr>
          <a:lstStyle/>
          <a:p>
            <a:pPr marL="152400" indent="0">
              <a:buNone/>
            </a:pPr>
            <a:r>
              <a:rPr lang="en-US" dirty="0"/>
              <a:t>IoT SAFE enhances security through the integration of hardware-based trusted execution environments (TEEs) and secure elements (SEs), which safeguard cryptographic keys and sensitive data from physical and software-based attacks. This hardware-centric approach provides robust defense against side-channel, tampering, and malware attacks, ensuring data integrity and confidentiality. In contrast, non-IoT SAFE systems typically rely on software-based security mechanisms, making them more prone to vulnerabilities such as privilege escalation and software exploits. Although IoT SAFE introduces additional latency due to hardware interactions, this trade-off is warranted in high-security applications, offering superior resilience to sophisticated threats. Non-IoT SAFE systems, while more performant, are less scalable in terms of security and require ongoing patching to mitigate emerging threats.</a:t>
            </a:r>
            <a:br>
              <a:rPr lang="en-US" dirty="0">
                <a:solidFill>
                  <a:schemeClr val="tx1"/>
                </a:solidFill>
                <a:latin typeface="DM Sans" pitchFamily="2" charset="0"/>
              </a:rPr>
            </a:br>
            <a:endParaRPr lang="en-US" dirty="0">
              <a:solidFill>
                <a:schemeClr val="tx1"/>
              </a:solidFill>
              <a:latin typeface="DM Sans" pitchFamily="2" charset="0"/>
            </a:endParaRPr>
          </a:p>
        </p:txBody>
      </p:sp>
    </p:spTree>
    <p:extLst>
      <p:ext uri="{BB962C8B-B14F-4D97-AF65-F5344CB8AC3E}">
        <p14:creationId xmlns:p14="http://schemas.microsoft.com/office/powerpoint/2010/main" val="3772171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BAC6C04D-B0E6-AD24-5816-1E0757A7F8E8}"/>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339462AA-9AE3-A24C-6C17-74D19B2E7F2E}"/>
              </a:ext>
            </a:extLst>
          </p:cNvPr>
          <p:cNvSpPr txBox="1">
            <a:spLocks noGrp="1"/>
          </p:cNvSpPr>
          <p:nvPr>
            <p:ph type="title"/>
          </p:nvPr>
        </p:nvSpPr>
        <p:spPr>
          <a:xfrm>
            <a:off x="918120" y="66904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dirty="0"/>
              <a:t>Conclusion</a:t>
            </a:r>
            <a:endParaRPr dirty="0">
              <a:solidFill>
                <a:schemeClr val="accent1"/>
              </a:solidFill>
            </a:endParaRPr>
          </a:p>
        </p:txBody>
      </p:sp>
      <p:sp>
        <p:nvSpPr>
          <p:cNvPr id="237" name="Google Shape;237;p31">
            <a:extLst>
              <a:ext uri="{FF2B5EF4-FFF2-40B4-BE49-F238E27FC236}">
                <a16:creationId xmlns:a16="http://schemas.microsoft.com/office/drawing/2014/main" id="{4A019FA1-FC96-2417-0C51-B8299DBE159B}"/>
              </a:ext>
            </a:extLst>
          </p:cNvPr>
          <p:cNvSpPr txBox="1">
            <a:spLocks noGrp="1"/>
          </p:cNvSpPr>
          <p:nvPr>
            <p:ph type="body" idx="1"/>
          </p:nvPr>
        </p:nvSpPr>
        <p:spPr>
          <a:xfrm>
            <a:off x="918120" y="1569400"/>
            <a:ext cx="7704000" cy="3496500"/>
          </a:xfrm>
          <a:prstGeom prst="rect">
            <a:avLst/>
          </a:prstGeom>
        </p:spPr>
        <p:txBody>
          <a:bodyPr spcFirstLastPara="1" wrap="square" lIns="91425" tIns="91425" rIns="91425" bIns="91425" anchor="t" anchorCtr="0">
            <a:noAutofit/>
          </a:bodyPr>
          <a:lstStyle/>
          <a:p>
            <a:pPr marL="6160" indent="0">
              <a:buNone/>
            </a:pPr>
            <a:r>
              <a:rPr lang="en-US" sz="1600" dirty="0"/>
              <a:t>IoT SAFE simplifies IoT security by leveraging SIM technology to ensure scalable and robust protection. Compared to non-IoT SAFE methods, it offers streamlined key management and secure communication, addressing critical IoT challenges. Adopting IoT SAFE is crucial for organizations seeking efficient, standardized, and secure IoT deployments.</a:t>
            </a:r>
            <a:endParaRPr lang="en-US" sz="1100" dirty="0"/>
          </a:p>
        </p:txBody>
      </p:sp>
      <p:grpSp>
        <p:nvGrpSpPr>
          <p:cNvPr id="2" name="Google Shape;351;p35">
            <a:extLst>
              <a:ext uri="{FF2B5EF4-FFF2-40B4-BE49-F238E27FC236}">
                <a16:creationId xmlns:a16="http://schemas.microsoft.com/office/drawing/2014/main" id="{86DABB24-F7BB-FDD4-518B-A232152AB05E}"/>
              </a:ext>
            </a:extLst>
          </p:cNvPr>
          <p:cNvGrpSpPr/>
          <p:nvPr/>
        </p:nvGrpSpPr>
        <p:grpSpPr>
          <a:xfrm rot="5400000">
            <a:off x="6657806" y="2004329"/>
            <a:ext cx="2029371" cy="4383847"/>
            <a:chOff x="7350442" y="2608992"/>
            <a:chExt cx="777239" cy="1673160"/>
          </a:xfrm>
        </p:grpSpPr>
        <p:sp>
          <p:nvSpPr>
            <p:cNvPr id="3" name="Google Shape;352;p35">
              <a:extLst>
                <a:ext uri="{FF2B5EF4-FFF2-40B4-BE49-F238E27FC236}">
                  <a16:creationId xmlns:a16="http://schemas.microsoft.com/office/drawing/2014/main" id="{18794BA6-6704-D8C3-8144-39FFFB1A681F}"/>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 name="Google Shape;353;p35">
              <a:extLst>
                <a:ext uri="{FF2B5EF4-FFF2-40B4-BE49-F238E27FC236}">
                  <a16:creationId xmlns:a16="http://schemas.microsoft.com/office/drawing/2014/main" id="{B7E96F4A-71B0-AFBF-DC8C-D9252550D590}"/>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 name="Google Shape;354;p35">
              <a:extLst>
                <a:ext uri="{FF2B5EF4-FFF2-40B4-BE49-F238E27FC236}">
                  <a16:creationId xmlns:a16="http://schemas.microsoft.com/office/drawing/2014/main" id="{90DA1D41-4AF4-C3CF-F5F7-1F060C9F1CDB}"/>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 name="Google Shape;355;p35">
              <a:extLst>
                <a:ext uri="{FF2B5EF4-FFF2-40B4-BE49-F238E27FC236}">
                  <a16:creationId xmlns:a16="http://schemas.microsoft.com/office/drawing/2014/main" id="{5FE0667C-1E64-891E-6C62-86348301B7F3}"/>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 name="Google Shape;356;p35">
              <a:extLst>
                <a:ext uri="{FF2B5EF4-FFF2-40B4-BE49-F238E27FC236}">
                  <a16:creationId xmlns:a16="http://schemas.microsoft.com/office/drawing/2014/main" id="{B1711BC8-AB56-2B97-192B-DB175D539E0F}"/>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357;p35">
              <a:extLst>
                <a:ext uri="{FF2B5EF4-FFF2-40B4-BE49-F238E27FC236}">
                  <a16:creationId xmlns:a16="http://schemas.microsoft.com/office/drawing/2014/main" id="{807C067A-8210-909F-1B2B-8856B6A282B5}"/>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358;p35">
              <a:extLst>
                <a:ext uri="{FF2B5EF4-FFF2-40B4-BE49-F238E27FC236}">
                  <a16:creationId xmlns:a16="http://schemas.microsoft.com/office/drawing/2014/main" id="{D2A1BB3E-BA0B-124C-3AC2-D338040DB488}"/>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359;p35">
              <a:extLst>
                <a:ext uri="{FF2B5EF4-FFF2-40B4-BE49-F238E27FC236}">
                  <a16:creationId xmlns:a16="http://schemas.microsoft.com/office/drawing/2014/main" id="{9FCC3A7C-8277-CC87-1272-18E92A9725F7}"/>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3761732883"/>
      </p:ext>
    </p:extLst>
  </p:cSld>
  <p:clrMapOvr>
    <a:masterClrMapping/>
  </p:clrMapOvr>
</p:sld>
</file>

<file path=ppt/theme/theme1.xml><?xml version="1.0" encoding="utf-8"?>
<a:theme xmlns:a="http://schemas.openxmlformats.org/drawingml/2006/main" name="Technology Project Proposal Minitheme by Slidesgo">
  <a:themeElements>
    <a:clrScheme name="Simple Light">
      <a:dk1>
        <a:srgbClr val="FFFFFF"/>
      </a:dk1>
      <a:lt1>
        <a:srgbClr val="E0E0E0"/>
      </a:lt1>
      <a:dk2>
        <a:srgbClr val="666666"/>
      </a:dk2>
      <a:lt2>
        <a:srgbClr val="000000"/>
      </a:lt2>
      <a:accent1>
        <a:srgbClr val="96FFF3"/>
      </a:accent1>
      <a:accent2>
        <a:srgbClr val="8F1EA0"/>
      </a:accent2>
      <a:accent3>
        <a:srgbClr val="3DC6FF"/>
      </a:accent3>
      <a:accent4>
        <a:srgbClr val="2619AA"/>
      </a:accent4>
      <a:accent5>
        <a:srgbClr val="190057"/>
      </a:accent5>
      <a:accent6>
        <a:srgbClr val="F139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1998</TotalTime>
  <Words>1186</Words>
  <Application>Microsoft Office PowerPoint</Application>
  <PresentationFormat>On-screen Show (16:9)</PresentationFormat>
  <Paragraphs>58</Paragraphs>
  <Slides>20</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Calibri</vt:lpstr>
      <vt:lpstr>Arial</vt:lpstr>
      <vt:lpstr>DM Sans</vt:lpstr>
      <vt:lpstr>Roboto Condensed Light</vt:lpstr>
      <vt:lpstr>Oswald</vt:lpstr>
      <vt:lpstr>Technology Project Proposal Minitheme by Slidesgo</vt:lpstr>
      <vt:lpstr>IoT SAFE</vt:lpstr>
      <vt:lpstr>Introduction</vt:lpstr>
      <vt:lpstr>Overview of The Solution</vt:lpstr>
      <vt:lpstr>How to access the IoT SAFE applet from the device?  </vt:lpstr>
      <vt:lpstr>AT Commands</vt:lpstr>
      <vt:lpstr>APDU</vt:lpstr>
      <vt:lpstr>APDU Command Structure</vt:lpstr>
      <vt:lpstr>Example of Reading Public Key</vt:lpstr>
      <vt:lpstr> </vt:lpstr>
      <vt:lpstr> </vt:lpstr>
      <vt:lpstr> </vt:lpstr>
      <vt:lpstr> </vt:lpstr>
      <vt:lpstr> </vt:lpstr>
      <vt:lpstr>Applet Services to Run a (D)TLS1.2 Handshake  </vt:lpstr>
      <vt:lpstr>Applet Services to Run a (D)TLS1.3 Handshake  </vt:lpstr>
      <vt:lpstr>Key Lifecycle Management</vt:lpstr>
      <vt:lpstr>Key Lifecycle Management</vt:lpstr>
      <vt:lpstr>Key Lifecycle Management</vt:lpstr>
      <vt:lpstr>Compare to Non IoT SAFE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MohammadHosein Shafiee</cp:lastModifiedBy>
  <cp:revision>106</cp:revision>
  <dcterms:modified xsi:type="dcterms:W3CDTF">2025-01-08T04:52:34Z</dcterms:modified>
</cp:coreProperties>
</file>